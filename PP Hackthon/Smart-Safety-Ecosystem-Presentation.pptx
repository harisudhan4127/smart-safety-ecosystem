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6" r:id="rId18"/>
    <p:sldId id="272" r:id="rId19"/>
    <p:sldId id="271" r:id="rId20"/>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9D26"/>
    <a:srgbClr val="F36D25"/>
    <a:srgbClr val="8F1838"/>
    <a:srgbClr val="4C9F38"/>
    <a:srgbClr val="595F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3C396F-BCFC-4817-AD85-F582D535E4FD}">
  <a:tblStyle styleId="{033C396F-BCFC-4817-AD85-F582D535E4F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Good morning everyone. Our project is the Smart Safety Ecosystem. It brings together two safety functions: a LoRa-based accident alert module for vehicles, where LoRa stands for Long Range radio, and a portable wristband for preliminary alcohol-exposure and temperature screening. The two subsystems work independently, and an optional shared platform can show their events side by side. IoT, the Internet of Things, simply means these small devices can send data to software that others can use. Today I will explain what exists in our source designs, what we propose to add, and what still has to be validated.</a:t>
            </a:r>
            <a:br>
              <a:rPr lang="en-US"/>
            </a:br>
            <a:br>
              <a:rPr lang="en-US"/>
            </a:br>
            <a:r>
              <a:rPr lang="en-US"/>
              <a:t>Transition: Let me first show how the next few minutes are organised.</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roadmap. We begin with the introduction and the problem, then the proposed solution and objectives. After that comes the architecture, the hardware and software, and the working methodology, including the accident-detection flow and the wristband algorithm. We close with applications, benefits, limitations and validation, future scope and the conclusion. Along the way the talk answers five questions: what the system is, why it matters, where it can be used, when each part activates, and how it works.</a:t>
            </a:r>
            <a:br>
              <a:rPr lang="en-US"/>
            </a:br>
            <a:br>
              <a:rPr lang="en-US"/>
            </a:br>
            <a:r>
              <a:rPr lang="en-US"/>
              <a:t>Transition: We start with the problem that motivates the project.</a:t>
            </a:r>
            <a:endParaRPr/>
          </a:p>
        </p:txBody>
      </p:sp>
      <p:sp>
        <p:nvSpPr>
          <p:cNvPr id="46" name="Google Shape;4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Three problems motivate this work. First, accident information and precise location may reach responders late, especially where conventional reporting is slow or communication is unreliable. Second, laboratory-based substance screening involves sample handling, specialist equipment, transport and time. Portable tools may support preliminary field assessment, but the right method depends on the substance and the sample. Third, accident alerts and wearable screening normally work separately, so authorized staff see them in different places. I want to be clear about one point from the reference problem statement on NDPS, the Narcotic Drugs and Psychotropic Substances Act. Our wristband screens for alcohol exposure and monitors temperature. It does not identify narcotic or psychotropic substances. That would need a separately validated sensing method, suitable samples and confirmatory testing where the law requires it.</a:t>
            </a:r>
            <a:br>
              <a:rPr lang="en-US"/>
            </a:br>
            <a:br>
              <a:rPr lang="en-US"/>
            </a:br>
            <a:r>
              <a:rPr lang="en-US"/>
              <a:t>Transition: With the problem defined, here is how our unified solution responds to it.</a:t>
            </a:r>
            <a:endParaRPr/>
          </a:p>
        </p:txBody>
      </p:sp>
      <p:sp>
        <p:nvSpPr>
          <p:cNvPr id="84" name="Google Shape;8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solution has three elements. On the left is the vehicle subsystem, which detects a possible collision or rollover and sends a compact alert over LoRa. On the right is the wearable subsystem, which screens for alcohol exposure and measures non-contact temperature, and classifies the result locally on the wristband. In the middle is a shared monitoring platform that logs events and notifies authorized people. For each block I have separated what already exists in the source designs from what must still be developed for integration. The platform and the optional wristband link are proposals, not finished work. The key design principle is that the two detection methods stay separate, and an alcohol reading never implies that a driver caused an accident.</a:t>
            </a:r>
            <a:br>
              <a:rPr lang="en-US"/>
            </a:br>
            <a:br>
              <a:rPr lang="en-US"/>
            </a:br>
            <a:r>
              <a:rPr lang="en-US"/>
              <a:t>Transition: Next, the specific objectives and the boundaries of our scope.</a:t>
            </a:r>
            <a:endParaRPr/>
          </a:p>
        </p:txBody>
      </p:sp>
      <p:sp>
        <p:nvSpPr>
          <p:cNvPr id="108" name="Google Shape;10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These are the seven objectives. They cover collision and rollover detection, reporting location through a gateway-based architecture, portable preliminary screening, lightweight local classification, a common interface with separate event categories, fewer false alerts through confirmation and cancellation logic, and protection of sensitive data. The scope card on the right is equally important. We do not claim to identify specific narcotics, diagnose intoxication or fever, prove the cause of an accident, or reach a hospital without gateway and routing infrastructure.</a:t>
            </a:r>
            <a:br>
              <a:rPr lang="en-US"/>
            </a:br>
            <a:br>
              <a:rPr lang="en-US"/>
            </a:br>
            <a:r>
              <a:rPr lang="en-US"/>
              <a:t>Transition: Now let us look at what the system is made of, starting with the components.</a:t>
            </a:r>
            <a:endParaRPr/>
          </a:p>
        </p:txBody>
      </p:sp>
      <p:sp>
        <p:nvSpPr>
          <p:cNvPr id="132" name="Google Shape;13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slide answers WHAT. The vehicle subsystem uses an accelerometer and gyroscope, a GPS receiver, a microcontroller and a LoRa transceiver, with an optional GSM module as a fallback. A LoRa gateway and a backend server receive the packet. Facility lookup and notifications are proposed additions. The wearable uses an Arduino Nano, an MQ-3 alcohol sensor, an MLX90614 non-contact infrared temperature sensor, an SSD1306 OLED display, a buzzer, red, yellow and green LEDs, and a battery. The shared platform is entirely proposed. The legend shows how to read the status of each block: solid means specified in our source documents, dashed amber means optional, dashed teal means proposed, and dotted grey means future scope.</a:t>
            </a:r>
            <a:br>
              <a:rPr lang="en-US"/>
            </a:br>
            <a:br>
              <a:rPr lang="en-US"/>
            </a:br>
            <a:r>
              <a:rPr lang="en-US"/>
              <a:t>Transition: Why do these components matter? That brings us to the motivation and benefits.</a:t>
            </a:r>
            <a:endParaRPr/>
          </a:p>
        </p:txBody>
      </p:sp>
      <p:sp>
        <p:nvSpPr>
          <p:cNvPr id="159" name="Google Shape;15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slide answers WHY. Earlier notification matters because an automatic alert reduces dependence on someone manually reporting the crash. GPS coordinates and a timestamp travel with every alert, so responders know where to look. The wristband gives a quick, portable, preliminary indication on site, and because classification runs on the microcontroller it works without cloud connectivity. Modularity means each subsystem works alone and the shared platform is optional. I must stress that these are anticipated benefits from the design. No measured response-time improvement or detection accuracy is reported in our source documents, so we show those fields as to be tested. Also, an alcohol screening reading is not equivalent to confirmed intoxication.</a:t>
            </a:r>
            <a:br>
              <a:rPr lang="en-US"/>
            </a:br>
            <a:br>
              <a:rPr lang="en-US"/>
            </a:br>
            <a:r>
              <a:rPr lang="en-US"/>
              <a:t>Transition: Next, where the system can be used and when each part activates.</a:t>
            </a:r>
            <a:endParaRPr/>
          </a:p>
        </p:txBody>
      </p:sp>
      <p:sp>
        <p:nvSpPr>
          <p:cNvPr id="201" name="Google Shape;20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slide answers WHERE and WHEN. Where: roadways and highways, campuses, fleet operations, industrial workplaces, authorized field-screening environments, and emergency-response networks. All of these are proposed deployments, not tested installations. When: the vehicle subsystem monitors motion continuously. When a threshold is exceeded, it enters a confirmation window, then a manual cancellation period. If the alert is not cancelled, it acquires a GPS fix and transmits a LoRa packet. The wearable runs a periodic measurement cycle: read the sensors, filter with a moving average, compute the AWTRA risk score, and show the status on the OLED, LEDs and buzzer. Two limits apply. LoRa needs suitable gateway coverage and an internet connection at the gateway. Wearable screening needs an appropriate sensing environment, for example sensor warm-up, calibration and limited airflow or gas interference.</a:t>
            </a:r>
            <a:br>
              <a:rPr lang="en-US"/>
            </a:br>
            <a:br>
              <a:rPr lang="en-US"/>
            </a:br>
            <a:r>
              <a:rPr lang="en-US"/>
              <a:t>Transition: Now the core technical view: the system architecture.</a:t>
            </a:r>
            <a:endParaRPr/>
          </a:p>
        </p:txBody>
      </p:sp>
      <p:sp>
        <p:nvSpPr>
          <p:cNvPr id="236" name="Google Shape;23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main architecture. The top lane is the vehicle subsystem. Motion sensors feed the microcontroller, which applies the confirmation and manual cancellation logic, then reads the GPS and sends a compact packet over LoRa to the gateway. The gateway forwards it over the internet to the backend. The important point is that LoRa itself never contacts a hospital. The gateway and backend do the routing: the backend identifies nearby hospitals and fire-rescue facilities and sends notifications. The lower lane is the wearable. The MQ-3 and MLX90614 feed the Arduino Nano, which filters the readings, applies the AWTRA rules, and drives the OLED, LEDs and buzzer. This works entirely on its own. The dashed link to the platform is optional and proposed, and would carry only authorized records. The right-hand column is the shared platform with separate event records. All dashed teal blocks are proposed, not implemented. For a real deployment we would add multiple gateways for coverage, device authentication and encrypted payloads, database maintenance, retry and queueing, and a GSM fallback where available.</a:t>
            </a:r>
            <a:br>
              <a:rPr lang="en-US"/>
            </a:br>
            <a:br>
              <a:rPr lang="en-US"/>
            </a:br>
            <a:r>
              <a:rPr lang="en-US"/>
              <a:t>Transition: Let us now walk through the accident-detection workflow step by step.</a:t>
            </a:r>
            <a:endParaRPr/>
          </a:p>
        </p:txBody>
      </p:sp>
      <p:sp>
        <p:nvSpPr>
          <p:cNvPr id="282" name="Google Shape;28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Here is the accident workflow. The device starts by reading accelerometer and gyroscope data continuously. When the motion pattern suggests a possible impact or rollover, it checks the event against calibrated thresholds over a short confirmation window. If it is confirmed, the device activates a warning and starts a manual cancellation window, so a harmless bump can be cancelled. If nobody cancels, it acquires a GPS fix with a timestamp, builds a compact packet, and transmits it over LoRa. The gateway forwards the packet to the backend, which identifies nearby hospitals and fire-rescue facilities and sends notifications. That last step is a proposed deployment. The panel at the lower right shows alternate paths: if there is no GPS fix we send a flagged packet, with the last known position if available. If there is no gateway coverage, the device retries, and a GSM fallback can be used where implemented. The thresholds in the source are preliminary calibration values, not universal crash-detection standards, and must be calibrated for each vehicle.</a:t>
            </a:r>
            <a:br>
              <a:rPr lang="en-US"/>
            </a:br>
            <a:br>
              <a:rPr lang="en-US"/>
            </a:br>
            <a:r>
              <a:rPr lang="en-US"/>
              <a:t>Transition: Now the second subsystem: the wearable screening flow and the AWTRA algorithm.</a:t>
            </a:r>
            <a:endParaRPr/>
          </a:p>
        </p:txBody>
      </p:sp>
      <p:sp>
        <p:nvSpPr>
          <p:cNvPr id="354" name="Google Shape;35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wearable pipeline. The Arduino Nano reads the MQ-3 alcohol sensor and the MLX90614 non-contact temperature sensor. A moving average smooths noisy readings. The AWTRA, the Adaptive Weighted Threshold Risk Algorithm, evaluates the filtered values: it classifies temperature, evaluates the alcohol-sensor reading, and combines them into a weighted risk score. The documented bands are 0 to 39 Safe, 40 to 79 Medium risk, and 80 or above High risk. The OLED shows the status and the LEDs and buzzer give a local alert. This is rule-based threshold logic running on a microcontroller. It is not a trained machine-learning or deep-learning model. The worked example on the slide uses illustrative numbers only, to show how contributions add up, and they are not measured data. These are prototype rules. They need sensor calibration and validation, and they are not clinically validated thresholds. Temperature from the MLX90614 is not a diagnosis of fever or intoxication, and the MQ-3 can respond to other gases besides alcohol vapour.</a:t>
            </a:r>
            <a:br>
              <a:rPr lang="en-US"/>
            </a:br>
            <a:br>
              <a:rPr lang="en-US"/>
            </a:br>
            <a:r>
              <a:rPr lang="en-US"/>
              <a:t>Transition: Next, the hardware, software and data flow in one table.</a:t>
            </a:r>
            <a:endParaRPr/>
          </a:p>
        </p:txBody>
      </p:sp>
      <p:sp>
        <p:nvSpPr>
          <p:cNvPr id="397" name="Google Shape;39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table summarises every component with its purpose, its subsystem and its implementation status. Existing means the item is specified in our source documents. Optional covers the GSM fallback. Proposed covers the backend stack, the dashboard and notifications, which would be built for integration. For software we use the Arduino IDE and Embedded C and C++. TinyGPS++ parses the GPS data, and we use a LoRa library for the radio and the standard libraries for the MLX90614 and the SSD1306 display. The backend and database stack is a design choice still to be made, and I am not claiming specific component specifications or costs here. In terms of data flow, the vehicle sends a compact packet over LoRa through the gateway to the backend, while the wearable classifies locally and may send an authorized record in an extended version.</a:t>
            </a:r>
            <a:br>
              <a:rPr lang="en-US"/>
            </a:br>
            <a:br>
              <a:rPr lang="en-US"/>
            </a:br>
            <a:r>
              <a:rPr lang="en-US"/>
              <a:t>Transition: With the design explained, here is where it could be applied.</a:t>
            </a:r>
            <a:endParaRPr/>
          </a:p>
        </p:txBody>
      </p:sp>
      <p:sp>
        <p:nvSpPr>
          <p:cNvPr id="432" name="Google Shape;43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These are the application areas we see. Fleet and road-safety monitoring would use the vehicle module with gateways along routes. Campus and industrial vehicle safety suits a site with one or two gateways. Emergency-response coordination depends on an agreed integration with responders. Authorized workplace safety programs and preliminary screening research could use the wristband, with consent. Connected wearable monitoring covers the optional link to the platform. For every card, the status is a plausible future deployment. None has been tested as an installation. The strip at the bottom lists realistic limitations: gateway coverage, sensor calibration, environmental interference, power management, false positives, privacy, and regulatory approval. Any use that affects people, such as screening in a workplace, needs appropriate consent, policy and approval.</a:t>
            </a:r>
            <a:br>
              <a:rPr lang="en-US"/>
            </a:br>
            <a:br>
              <a:rPr lang="en-US"/>
            </a:br>
            <a:r>
              <a:rPr lang="en-US"/>
              <a:t>Transition: That brings us to how we would test and validate the system, and its limitations.</a:t>
            </a:r>
            <a:endParaRPr/>
          </a:p>
        </p:txBody>
      </p:sp>
      <p:sp>
        <p:nvSpPr>
          <p:cNvPr id="443" name="Google Shape;44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our validation plan. The source documents do not report measured results, so every result field says To be tested, and we are deliberately not showing any invented accuracy figures. We plan to test controlled impact detection, GPS acquisition and location accuracy, LoRa packet reception and loss, gateway-to-backend delivery, nearest-facility lookup, false triggers and manual cancellation, wearable sensor repeatability, AWTRA classification consistency, battery endurance, and data access and communication security. Two cautions: emergency use requires appropriate safety validation before anyone relies on it, and any substance screening requires validated methods, with confirmatory testing where legally required. A preliminary positive result is never proof.</a:t>
            </a:r>
            <a:br>
              <a:rPr lang="en-US"/>
            </a:br>
            <a:br>
              <a:rPr lang="en-US"/>
            </a:br>
            <a:r>
              <a:rPr lang="en-US"/>
              <a:t>Transition: Finally, how the project could grow: the future scope.</a:t>
            </a:r>
            <a:endParaRPr/>
          </a:p>
        </p:txBody>
      </p:sp>
      <p:sp>
        <p:nvSpPr>
          <p:cNvPr id="489" name="Google Shape;48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Our future scope has eight items, grouped in an indicative order. First, planning coverage with multiple LoRa gateways, adding secure device authentication and payload protection, and validating the wearable sensors more thoroughly. Next, more reliable emergency-service integration, a mobile application and unified dashboard, and privacy-preserving event storage with access auditing. Over the longer term, we want expanded field trials and performance evaluation, and, only if independently validated, additional substance-specific screening technologies. This last point addresses the NDPS problem honestly: it needs a different validated sensing method, not a reinterpretation of the current sensors.</a:t>
            </a:r>
            <a:br>
              <a:rPr lang="en-US"/>
            </a:br>
            <a:br>
              <a:rPr lang="en-US"/>
            </a:br>
            <a:r>
              <a:rPr lang="en-US"/>
              <a:t>Transition: Let me close with the conclusion.</a:t>
            </a:r>
            <a:endParaRPr/>
          </a:p>
        </p:txBody>
      </p:sp>
      <p:sp>
        <p:nvSpPr>
          <p:cNvPr id="500" name="Google Shape;50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EB129DD8-CF64-36E0-DD9D-2C39B6907112}"/>
            </a:ext>
          </a:extLst>
        </p:cNvPr>
        <p:cNvGrpSpPr/>
        <p:nvPr/>
      </p:nvGrpSpPr>
      <p:grpSpPr>
        <a:xfrm>
          <a:off x="0" y="0"/>
          <a:ext cx="0" cy="0"/>
          <a:chOff x="0" y="0"/>
          <a:chExt cx="0" cy="0"/>
        </a:xfrm>
      </p:grpSpPr>
      <p:sp>
        <p:nvSpPr>
          <p:cNvPr id="498" name="Google Shape;498;p15:notes">
            <a:extLst>
              <a:ext uri="{FF2B5EF4-FFF2-40B4-BE49-F238E27FC236}">
                <a16:creationId xmlns:a16="http://schemas.microsoft.com/office/drawing/2014/main" id="{D6E2920F-90C7-744A-0383-F89280182B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p15:notes">
            <a:extLst>
              <a:ext uri="{FF2B5EF4-FFF2-40B4-BE49-F238E27FC236}">
                <a16:creationId xmlns:a16="http://schemas.microsoft.com/office/drawing/2014/main" id="{08F7D650-F102-A3D6-B6F6-3F2044D6DFB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Our future scope has eight items, grouped in an indicative order. First, planning coverage with multiple LoRa gateways, adding secure device authentication and payload protection, and validating the wearable sensors more thoroughly. Next, more reliable emergency-service integration, a mobile application and unified dashboard, and privacy-preserving event storage with access auditing. Over the longer term, we want expanded field trials and performance evaluation, and, only if independently validated, additional substance-specific screening technologies. This last point addresses the NDPS problem honestly: it needs a different validated sensing method, not a reinterpretation of the current sensors.</a:t>
            </a:r>
            <a:br>
              <a:rPr lang="en-US"/>
            </a:br>
            <a:br>
              <a:rPr lang="en-US"/>
            </a:br>
            <a:r>
              <a:rPr lang="en-US"/>
              <a:t>Transition: Let me close with the conclusion.</a:t>
            </a:r>
            <a:endParaRPr/>
          </a:p>
        </p:txBody>
      </p:sp>
      <p:sp>
        <p:nvSpPr>
          <p:cNvPr id="500" name="Google Shape;500;p15:notes">
            <a:extLst>
              <a:ext uri="{FF2B5EF4-FFF2-40B4-BE49-F238E27FC236}">
                <a16:creationId xmlns:a16="http://schemas.microsoft.com/office/drawing/2014/main" id="{6D1CF453-D136-E6B3-A1BF-51287C71E0B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98066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a:extLst>
            <a:ext uri="{FF2B5EF4-FFF2-40B4-BE49-F238E27FC236}">
              <a16:creationId xmlns:a16="http://schemas.microsoft.com/office/drawing/2014/main" id="{F63CED5A-265C-3F1B-26B6-369AB74A9A7E}"/>
            </a:ext>
          </a:extLst>
        </p:cNvPr>
        <p:cNvGrpSpPr/>
        <p:nvPr/>
      </p:nvGrpSpPr>
      <p:grpSpPr>
        <a:xfrm>
          <a:off x="0" y="0"/>
          <a:ext cx="0" cy="0"/>
          <a:chOff x="0" y="0"/>
          <a:chExt cx="0" cy="0"/>
        </a:xfrm>
      </p:grpSpPr>
      <p:sp>
        <p:nvSpPr>
          <p:cNvPr id="528" name="Google Shape;528;p16:notes">
            <a:extLst>
              <a:ext uri="{FF2B5EF4-FFF2-40B4-BE49-F238E27FC236}">
                <a16:creationId xmlns:a16="http://schemas.microsoft.com/office/drawing/2014/main" id="{19A594B2-D250-62D9-C4DF-4B2EE91756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p16:notes">
            <a:extLst>
              <a:ext uri="{FF2B5EF4-FFF2-40B4-BE49-F238E27FC236}">
                <a16:creationId xmlns:a16="http://schemas.microsoft.com/office/drawing/2014/main" id="{092DE248-803D-4A99-1107-6CB0B35DAD4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To conclude: the Smart Safety Ecosystem combines two complementary safety functions through a modular monitoring approach. One is location-based accident alerting. The other is portable preliminary wearable screening. The gateway and backend make emergency routing possible, because LoRa on its own does not contact a hospital. The wearable uses a separate local classification process, and an alcohol reading never proves that a driver caused an accident. Real-world deployment depends on validation, reliable communication, appropriate screening technology, security, and regulatory compliance. Thank you. I would be happy to take your questions.</a:t>
            </a:r>
            <a:br>
              <a:rPr lang="en-US"/>
            </a:br>
            <a:br>
              <a:rPr lang="en-US"/>
            </a:br>
            <a:r>
              <a:rPr lang="en-US"/>
              <a:t>Transition: Thank you. Questions, please.</a:t>
            </a:r>
            <a:endParaRPr/>
          </a:p>
        </p:txBody>
      </p:sp>
      <p:sp>
        <p:nvSpPr>
          <p:cNvPr id="530" name="Google Shape;530;p16:notes">
            <a:extLst>
              <a:ext uri="{FF2B5EF4-FFF2-40B4-BE49-F238E27FC236}">
                <a16:creationId xmlns:a16="http://schemas.microsoft.com/office/drawing/2014/main" id="{7ACCD1F8-BBE5-3943-08B9-7F54830D38B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744521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5E7AAF1F-18B6-455A-38D4-8A5CD0B79E66}"/>
            </a:ext>
          </a:extLst>
        </p:cNvPr>
        <p:cNvGrpSpPr/>
        <p:nvPr/>
      </p:nvGrpSpPr>
      <p:grpSpPr>
        <a:xfrm>
          <a:off x="0" y="0"/>
          <a:ext cx="0" cy="0"/>
          <a:chOff x="0" y="0"/>
          <a:chExt cx="0" cy="0"/>
        </a:xfrm>
      </p:grpSpPr>
      <p:sp>
        <p:nvSpPr>
          <p:cNvPr id="498" name="Google Shape;498;p15:notes">
            <a:extLst>
              <a:ext uri="{FF2B5EF4-FFF2-40B4-BE49-F238E27FC236}">
                <a16:creationId xmlns:a16="http://schemas.microsoft.com/office/drawing/2014/main" id="{8A4218F3-8166-2799-4B9A-F475896CE7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p15:notes">
            <a:extLst>
              <a:ext uri="{FF2B5EF4-FFF2-40B4-BE49-F238E27FC236}">
                <a16:creationId xmlns:a16="http://schemas.microsoft.com/office/drawing/2014/main" id="{A0C254D1-8248-9255-FD0D-7CACD172EC9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Our future scope has eight items, grouped in an indicative order. First, planning coverage with multiple LoRa gateways, adding secure device authentication and payload protection, and validating the wearable sensors more thoroughly. Next, more reliable emergency-service integration, a mobile application and unified dashboard, and privacy-preserving event storage with access auditing. Over the longer term, we want expanded field trials and performance evaluation, and, only if independently validated, additional substance-specific screening technologies. This last point addresses the NDPS problem honestly: it needs a different validated sensing method, not a reinterpretation of the current sensors.</a:t>
            </a:r>
            <a:br>
              <a:rPr lang="en-US"/>
            </a:br>
            <a:br>
              <a:rPr lang="en-US"/>
            </a:br>
            <a:r>
              <a:rPr lang="en-US"/>
              <a:t>Transition: Let me close with the conclusion.</a:t>
            </a:r>
            <a:endParaRPr/>
          </a:p>
        </p:txBody>
      </p:sp>
      <p:sp>
        <p:nvSpPr>
          <p:cNvPr id="500" name="Google Shape;500;p15:notes">
            <a:extLst>
              <a:ext uri="{FF2B5EF4-FFF2-40B4-BE49-F238E27FC236}">
                <a16:creationId xmlns:a16="http://schemas.microsoft.com/office/drawing/2014/main" id="{1A67A74F-71B4-C882-2988-33E2059F47B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9726973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To conclude: the Smart Safety Ecosystem combines two complementary safety functions through a modular monitoring approach. One is location-based accident alerting. The other is portable preliminary wearable screening. The gateway and backend make emergency routing possible, because LoRa on its own does not contact a hospital. The wearable uses a separate local classification process, and an alcohol reading never proves that a driver caused an accident. Real-world deployment depends on validation, reliable communication, appropriate screening technology, security, and regulatory compliance. Thank you. I would be happy to take your questions.</a:t>
            </a:r>
            <a:br>
              <a:rPr lang="en-US"/>
            </a:br>
            <a:br>
              <a:rPr lang="en-US"/>
            </a:br>
            <a:r>
              <a:rPr lang="en-US"/>
              <a:t>Transition: Thank you. Questions, please.</a:t>
            </a:r>
            <a:endParaRPr/>
          </a:p>
        </p:txBody>
      </p:sp>
      <p:sp>
        <p:nvSpPr>
          <p:cNvPr id="530" name="Google Shape;53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8" Type="http://schemas.openxmlformats.org/officeDocument/2006/relationships/hyperlink" Target="https://unstats.un.org/sdgs/report/2024/goal-11/"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commons.wikimedia.org/wiki/Category:Sustainable_Development_Goal_9" TargetMode="External"/><Relationship Id="rId5" Type="http://schemas.openxmlformats.org/officeDocument/2006/relationships/image" Target="../media/image6.png"/><Relationship Id="rId10" Type="http://schemas.openxmlformats.org/officeDocument/2006/relationships/hyperlink" Target="https://www.gdrc.org/informal/sdg8.html" TargetMode="External"/><Relationship Id="rId4" Type="http://schemas.openxmlformats.org/officeDocument/2006/relationships/hyperlink" Target="https://aroundersenseofpurpose.eu/sdgs/sdg3/" TargetMode="External"/><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
        <p:cNvGrpSpPr/>
        <p:nvPr/>
      </p:nvGrpSpPr>
      <p:grpSpPr>
        <a:xfrm>
          <a:off x="0" y="0"/>
          <a:ext cx="0" cy="0"/>
          <a:chOff x="0" y="0"/>
          <a:chExt cx="0" cy="0"/>
        </a:xfrm>
      </p:grpSpPr>
      <p:sp>
        <p:nvSpPr>
          <p:cNvPr id="16" name="Google Shape;16;p3"/>
          <p:cNvSpPr txBox="1"/>
          <p:nvPr/>
        </p:nvSpPr>
        <p:spPr>
          <a:xfrm>
            <a:off x="457200" y="411480"/>
            <a:ext cx="11274552"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200"/>
              <a:buFont typeface="Times New Roman"/>
              <a:buNone/>
            </a:pPr>
            <a:r>
              <a:rPr lang="en-US" sz="3200" b="1" i="0" u="none" strike="noStrike" cap="none">
                <a:solidFill>
                  <a:srgbClr val="17365D"/>
                </a:solidFill>
                <a:latin typeface="Times New Roman"/>
                <a:ea typeface="Times New Roman"/>
                <a:cs typeface="Times New Roman"/>
                <a:sym typeface="Times New Roman"/>
              </a:rPr>
              <a:t>Smart Safety Ecosystem: LoRa-Based Accident Alert and Portable Wearable Risk Screening System</a:t>
            </a:r>
            <a:endParaRPr sz="3200" b="0" i="0" u="none" strike="noStrike" cap="none">
              <a:solidFill>
                <a:schemeClr val="dk1"/>
              </a:solidFill>
              <a:latin typeface="Times New Roman"/>
              <a:ea typeface="Times New Roman"/>
              <a:cs typeface="Times New Roman"/>
              <a:sym typeface="Times New Roman"/>
            </a:endParaRPr>
          </a:p>
        </p:txBody>
      </p:sp>
      <p:sp>
        <p:nvSpPr>
          <p:cNvPr id="17" name="Google Shape;17;p3"/>
          <p:cNvSpPr txBox="1"/>
          <p:nvPr/>
        </p:nvSpPr>
        <p:spPr>
          <a:xfrm>
            <a:off x="457200" y="1828800"/>
            <a:ext cx="11274552"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8C8C"/>
              </a:buClr>
              <a:buSzPts val="2000"/>
              <a:buFont typeface="Times New Roman"/>
              <a:buNone/>
            </a:pPr>
            <a:r>
              <a:rPr lang="en-US" sz="2000" b="0" i="1" u="none" strike="noStrike" cap="none">
                <a:solidFill>
                  <a:srgbClr val="168C8C"/>
                </a:solidFill>
                <a:latin typeface="Times New Roman"/>
                <a:ea typeface="Times New Roman"/>
                <a:cs typeface="Times New Roman"/>
                <a:sym typeface="Times New Roman"/>
              </a:rPr>
              <a:t>An IoT-Enabled Approach to Road Safety, Emergency Response, and Preliminary Field Screening</a:t>
            </a:r>
            <a:endParaRPr sz="2000" b="0" i="0" u="none" strike="noStrike" cap="none">
              <a:solidFill>
                <a:schemeClr val="dk1"/>
              </a:solidFill>
              <a:latin typeface="Times New Roman"/>
              <a:ea typeface="Times New Roman"/>
              <a:cs typeface="Times New Roman"/>
              <a:sym typeface="Times New Roman"/>
            </a:endParaRPr>
          </a:p>
        </p:txBody>
      </p:sp>
      <p:sp>
        <p:nvSpPr>
          <p:cNvPr id="18" name="Google Shape;18;p3"/>
          <p:cNvSpPr/>
          <p:nvPr/>
        </p:nvSpPr>
        <p:spPr>
          <a:xfrm>
            <a:off x="457200" y="2514600"/>
            <a:ext cx="5486400" cy="1325880"/>
          </a:xfrm>
          <a:prstGeom prst="roundRect">
            <a:avLst>
              <a:gd name="adj" fmla="val 5517"/>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txBox="1"/>
          <p:nvPr/>
        </p:nvSpPr>
        <p:spPr>
          <a:xfrm>
            <a:off x="640080" y="2606040"/>
            <a:ext cx="5212080" cy="1143000"/>
          </a:xfrm>
          <a:prstGeom prst="rect">
            <a:avLst/>
          </a:prstGeom>
          <a:noFill/>
          <a:ln>
            <a:noFill/>
          </a:ln>
        </p:spPr>
        <p:txBody>
          <a:bodyPr spcFirstLastPara="1" wrap="square" lIns="500" tIns="500" rIns="500" bIns="500" anchor="ctr" anchorCtr="0">
            <a:noAutofit/>
          </a:bodyPr>
          <a:lstStyle/>
          <a:p>
            <a:pPr marL="0" marR="0" lvl="0" indent="0" algn="l" rtl="0">
              <a:spcBef>
                <a:spcPts val="0"/>
              </a:spcBef>
              <a:spcAft>
                <a:spcPts val="0"/>
              </a:spcAft>
              <a:buClr>
                <a:srgbClr val="3F4650"/>
              </a:buClr>
              <a:buSzPts val="1400"/>
              <a:buFont typeface="Times New Roman"/>
              <a:buNone/>
            </a:pPr>
            <a:r>
              <a:rPr lang="en-US" sz="1400" b="1" i="0" u="none" strike="noStrike" cap="none">
                <a:solidFill>
                  <a:srgbClr val="3F4650"/>
                </a:solidFill>
                <a:latin typeface="Times New Roman"/>
                <a:ea typeface="Times New Roman"/>
                <a:cs typeface="Times New Roman"/>
                <a:sym typeface="Times New Roman"/>
              </a:rPr>
              <a:t>Team members: </a:t>
            </a:r>
            <a:r>
              <a:rPr lang="en-US" sz="1400" b="0" i="0" u="none" strike="noStrike" cap="none">
                <a:solidFill>
                  <a:srgbClr val="3F4650"/>
                </a:solidFill>
                <a:latin typeface="Times New Roman"/>
                <a:ea typeface="Times New Roman"/>
                <a:cs typeface="Times New Roman"/>
                <a:sym typeface="Times New Roman"/>
              </a:rPr>
              <a:t>[Name 1], [Name 2], [Name 3], [Name 4]</a:t>
            </a: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rgbClr val="3F4650"/>
              </a:buClr>
              <a:buSzPts val="1400"/>
              <a:buFont typeface="Times New Roman"/>
              <a:buNone/>
            </a:pPr>
            <a:r>
              <a:rPr lang="en-US" sz="1400" b="1" i="0" u="none" strike="noStrike" cap="none">
                <a:solidFill>
                  <a:srgbClr val="3F4650"/>
                </a:solidFill>
                <a:latin typeface="Times New Roman"/>
                <a:ea typeface="Times New Roman"/>
                <a:cs typeface="Times New Roman"/>
                <a:sym typeface="Times New Roman"/>
              </a:rPr>
              <a:t>Guide: </a:t>
            </a:r>
            <a:r>
              <a:rPr lang="en-US" sz="1400" b="0" i="0" u="none" strike="noStrike" cap="none">
                <a:solidFill>
                  <a:srgbClr val="3F4650"/>
                </a:solidFill>
                <a:latin typeface="Times New Roman"/>
                <a:ea typeface="Times New Roman"/>
                <a:cs typeface="Times New Roman"/>
                <a:sym typeface="Times New Roman"/>
              </a:rPr>
              <a:t>[Guide name and designation]</a:t>
            </a: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rgbClr val="3F4650"/>
              </a:buClr>
              <a:buSzPts val="1400"/>
              <a:buFont typeface="Times New Roman"/>
              <a:buNone/>
            </a:pPr>
            <a:r>
              <a:rPr lang="en-US" sz="1400" b="1" i="0" u="none" strike="noStrike" cap="none">
                <a:solidFill>
                  <a:srgbClr val="3F4650"/>
                </a:solidFill>
                <a:latin typeface="Times New Roman"/>
                <a:ea typeface="Times New Roman"/>
                <a:cs typeface="Times New Roman"/>
                <a:sym typeface="Times New Roman"/>
              </a:rPr>
              <a:t>Department: </a:t>
            </a:r>
            <a:r>
              <a:rPr lang="en-US" sz="1400" b="0" i="0" u="none" strike="noStrike" cap="none">
                <a:solidFill>
                  <a:srgbClr val="3F4650"/>
                </a:solidFill>
                <a:latin typeface="Times New Roman"/>
                <a:ea typeface="Times New Roman"/>
                <a:cs typeface="Times New Roman"/>
                <a:sym typeface="Times New Roman"/>
              </a:rPr>
              <a:t>[Department]</a:t>
            </a:r>
            <a:endParaRPr sz="1400" b="0" i="0" u="none" strike="noStrike" cap="none">
              <a:solidFill>
                <a:schemeClr val="dk1"/>
              </a:solidFill>
              <a:latin typeface="Times New Roman"/>
              <a:ea typeface="Times New Roman"/>
              <a:cs typeface="Times New Roman"/>
              <a:sym typeface="Times New Roman"/>
            </a:endParaRPr>
          </a:p>
        </p:txBody>
      </p:sp>
      <p:sp>
        <p:nvSpPr>
          <p:cNvPr id="20" name="Google Shape;20;p3"/>
          <p:cNvSpPr/>
          <p:nvPr/>
        </p:nvSpPr>
        <p:spPr>
          <a:xfrm>
            <a:off x="6245352" y="2514600"/>
            <a:ext cx="5486400" cy="1325880"/>
          </a:xfrm>
          <a:prstGeom prst="roundRect">
            <a:avLst>
              <a:gd name="adj" fmla="val 5517"/>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txBox="1"/>
          <p:nvPr/>
        </p:nvSpPr>
        <p:spPr>
          <a:xfrm>
            <a:off x="6428232" y="2606040"/>
            <a:ext cx="5212080" cy="1143000"/>
          </a:xfrm>
          <a:prstGeom prst="rect">
            <a:avLst/>
          </a:prstGeom>
          <a:noFill/>
          <a:ln>
            <a:noFill/>
          </a:ln>
        </p:spPr>
        <p:txBody>
          <a:bodyPr spcFirstLastPara="1" wrap="square" lIns="500" tIns="500" rIns="500" bIns="500" anchor="ctr" anchorCtr="0">
            <a:noAutofit/>
          </a:bodyPr>
          <a:lstStyle/>
          <a:p>
            <a:pPr marL="0" marR="0" lvl="0" indent="0" algn="l" rtl="0">
              <a:spcBef>
                <a:spcPts val="0"/>
              </a:spcBef>
              <a:spcAft>
                <a:spcPts val="0"/>
              </a:spcAft>
              <a:buClr>
                <a:srgbClr val="3F4650"/>
              </a:buClr>
              <a:buSzPts val="1400"/>
              <a:buFont typeface="Times New Roman"/>
              <a:buNone/>
            </a:pPr>
            <a:r>
              <a:rPr lang="en-US" sz="1400" b="1" i="0" u="none" strike="noStrike" cap="none">
                <a:solidFill>
                  <a:srgbClr val="3F4650"/>
                </a:solidFill>
                <a:latin typeface="Times New Roman"/>
                <a:ea typeface="Times New Roman"/>
                <a:cs typeface="Times New Roman"/>
                <a:sym typeface="Times New Roman"/>
              </a:rPr>
              <a:t>Institution: </a:t>
            </a:r>
            <a:r>
              <a:rPr lang="en-US" sz="1400" b="0" i="0" u="none" strike="noStrike" cap="none">
                <a:solidFill>
                  <a:srgbClr val="3F4650"/>
                </a:solidFill>
                <a:latin typeface="Times New Roman"/>
                <a:ea typeface="Times New Roman"/>
                <a:cs typeface="Times New Roman"/>
                <a:sym typeface="Times New Roman"/>
              </a:rPr>
              <a:t>[Institution name]</a:t>
            </a: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rgbClr val="3F4650"/>
              </a:buClr>
              <a:buSzPts val="1400"/>
              <a:buFont typeface="Times New Roman"/>
              <a:buNone/>
            </a:pPr>
            <a:r>
              <a:rPr lang="en-US" sz="1400" b="1" i="0" u="none" strike="noStrike" cap="none">
                <a:solidFill>
                  <a:srgbClr val="3F4650"/>
                </a:solidFill>
                <a:latin typeface="Times New Roman"/>
                <a:ea typeface="Times New Roman"/>
                <a:cs typeface="Times New Roman"/>
                <a:sym typeface="Times New Roman"/>
              </a:rPr>
              <a:t>Academic year: </a:t>
            </a:r>
            <a:r>
              <a:rPr lang="en-US" sz="1400" b="0" i="0" u="none" strike="noStrike" cap="none">
                <a:solidFill>
                  <a:srgbClr val="3F4650"/>
                </a:solidFill>
                <a:latin typeface="Times New Roman"/>
                <a:ea typeface="Times New Roman"/>
                <a:cs typeface="Times New Roman"/>
                <a:sym typeface="Times New Roman"/>
              </a:rPr>
              <a:t>[20XX to 20XX]</a:t>
            </a: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300"/>
              </a:spcBef>
              <a:spcAft>
                <a:spcPts val="0"/>
              </a:spcAft>
              <a:buClr>
                <a:srgbClr val="3F4650"/>
              </a:buClr>
              <a:buSzPts val="1400"/>
              <a:buFont typeface="Times New Roman"/>
              <a:buNone/>
            </a:pPr>
            <a:r>
              <a:rPr lang="en-US" sz="1400" b="1" i="0" u="none" strike="noStrike" cap="none">
                <a:solidFill>
                  <a:srgbClr val="3F4650"/>
                </a:solidFill>
                <a:latin typeface="Times New Roman"/>
                <a:ea typeface="Times New Roman"/>
                <a:cs typeface="Times New Roman"/>
                <a:sym typeface="Times New Roman"/>
              </a:rPr>
              <a:t>Review: </a:t>
            </a:r>
            <a:r>
              <a:rPr lang="en-US" sz="1400" b="0" i="0" u="none" strike="noStrike" cap="none">
                <a:solidFill>
                  <a:srgbClr val="3F4650"/>
                </a:solidFill>
                <a:latin typeface="Times New Roman"/>
                <a:ea typeface="Times New Roman"/>
                <a:cs typeface="Times New Roman"/>
                <a:sym typeface="Times New Roman"/>
              </a:rPr>
              <a:t>[Project review / exhibition / symposium]</a:t>
            </a:r>
            <a:endParaRPr sz="1400" b="0" i="0" u="none" strike="noStrike" cap="none">
              <a:solidFill>
                <a:schemeClr val="dk1"/>
              </a:solidFill>
              <a:latin typeface="Times New Roman"/>
              <a:ea typeface="Times New Roman"/>
              <a:cs typeface="Times New Roman"/>
              <a:sym typeface="Times New Roman"/>
            </a:endParaRPr>
          </a:p>
        </p:txBody>
      </p:sp>
      <p:sp>
        <p:nvSpPr>
          <p:cNvPr id="22" name="Google Shape;22;p3"/>
          <p:cNvSpPr/>
          <p:nvPr/>
        </p:nvSpPr>
        <p:spPr>
          <a:xfrm>
            <a:off x="822960" y="4617720"/>
            <a:ext cx="1554480" cy="457200"/>
          </a:xfrm>
          <a:prstGeom prst="roundRect">
            <a:avLst>
              <a:gd name="adj" fmla="val 16000"/>
            </a:avLst>
          </a:prstGeom>
          <a:solidFill>
            <a:srgbClr val="17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1143000" y="4315968"/>
            <a:ext cx="868680" cy="347472"/>
          </a:xfrm>
          <a:prstGeom prst="roundRect">
            <a:avLst>
              <a:gd name="adj" fmla="val 21053"/>
            </a:avLst>
          </a:prstGeom>
          <a:solidFill>
            <a:srgbClr val="17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1051560" y="4956048"/>
            <a:ext cx="292608" cy="292608"/>
          </a:xfrm>
          <a:prstGeom prst="ellipse">
            <a:avLst/>
          </a:prstGeom>
          <a:solidFill>
            <a:srgbClr val="FFFFFF"/>
          </a:solidFill>
          <a:ln w="31750" cap="flat" cmpd="sng">
            <a:solidFill>
              <a:srgbClr val="1736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1828800" y="4956048"/>
            <a:ext cx="292608" cy="292608"/>
          </a:xfrm>
          <a:prstGeom prst="ellipse">
            <a:avLst/>
          </a:prstGeom>
          <a:solidFill>
            <a:srgbClr val="FFFFFF"/>
          </a:solidFill>
          <a:ln w="31750" cap="flat" cmpd="sng">
            <a:solidFill>
              <a:srgbClr val="1736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txBox="1"/>
          <p:nvPr/>
        </p:nvSpPr>
        <p:spPr>
          <a:xfrm>
            <a:off x="822960" y="5394960"/>
            <a:ext cx="155448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7365D"/>
              </a:buClr>
              <a:buSzPts val="1300"/>
              <a:buFont typeface="Times New Roman"/>
              <a:buNone/>
            </a:pPr>
            <a:r>
              <a:rPr lang="en-US" sz="1300" b="1" i="0" u="none" strike="noStrike" cap="none">
                <a:solidFill>
                  <a:srgbClr val="17365D"/>
                </a:solidFill>
                <a:latin typeface="Times New Roman"/>
                <a:ea typeface="Times New Roman"/>
                <a:cs typeface="Times New Roman"/>
                <a:sym typeface="Times New Roman"/>
              </a:rPr>
              <a:t>Vehicle node</a:t>
            </a:r>
            <a:endParaRPr sz="1300" b="0" i="0" u="none" strike="noStrike" cap="none">
              <a:solidFill>
                <a:schemeClr val="dk1"/>
              </a:solidFill>
              <a:latin typeface="Times New Roman"/>
              <a:ea typeface="Times New Roman"/>
              <a:cs typeface="Times New Roman"/>
              <a:sym typeface="Times New Roman"/>
            </a:endParaRPr>
          </a:p>
        </p:txBody>
      </p:sp>
      <p:cxnSp>
        <p:nvCxnSpPr>
          <p:cNvPr id="27" name="Google Shape;27;p3"/>
          <p:cNvCxnSpPr/>
          <p:nvPr/>
        </p:nvCxnSpPr>
        <p:spPr>
          <a:xfrm>
            <a:off x="2514600" y="4754880"/>
            <a:ext cx="1417320" cy="0"/>
          </a:xfrm>
          <a:prstGeom prst="straightConnector1">
            <a:avLst/>
          </a:prstGeom>
          <a:noFill/>
          <a:ln w="28575" cap="flat" cmpd="sng">
            <a:solidFill>
              <a:srgbClr val="168C8C"/>
            </a:solidFill>
            <a:prstDash val="dash"/>
            <a:round/>
            <a:headEnd type="none" w="sm" len="sm"/>
            <a:tailEnd type="triangle" w="med" len="med"/>
          </a:ln>
        </p:spPr>
      </p:cxnSp>
      <p:sp>
        <p:nvSpPr>
          <p:cNvPr id="28" name="Google Shape;28;p3"/>
          <p:cNvSpPr txBox="1"/>
          <p:nvPr/>
        </p:nvSpPr>
        <p:spPr>
          <a:xfrm>
            <a:off x="2514600" y="4462272"/>
            <a:ext cx="1417320" cy="23774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68C8C"/>
              </a:buClr>
              <a:buSzPts val="1200"/>
              <a:buFont typeface="Times New Roman"/>
              <a:buNone/>
            </a:pPr>
            <a:r>
              <a:rPr lang="en-US" sz="1200" b="0" i="1" u="none" strike="noStrike" cap="none">
                <a:solidFill>
                  <a:srgbClr val="168C8C"/>
                </a:solidFill>
                <a:latin typeface="Times New Roman"/>
                <a:ea typeface="Times New Roman"/>
                <a:cs typeface="Times New Roman"/>
                <a:sym typeface="Times New Roman"/>
              </a:rPr>
              <a:t>LoRa radio</a:t>
            </a:r>
            <a:endParaRPr sz="1200" b="0" i="0" u="none" strike="noStrike" cap="none">
              <a:solidFill>
                <a:schemeClr val="dk1"/>
              </a:solidFill>
              <a:latin typeface="Times New Roman"/>
              <a:ea typeface="Times New Roman"/>
              <a:cs typeface="Times New Roman"/>
              <a:sym typeface="Times New Roman"/>
            </a:endParaRPr>
          </a:p>
        </p:txBody>
      </p:sp>
      <p:sp>
        <p:nvSpPr>
          <p:cNvPr id="29" name="Google Shape;29;p3"/>
          <p:cNvSpPr/>
          <p:nvPr/>
        </p:nvSpPr>
        <p:spPr>
          <a:xfrm>
            <a:off x="4069080" y="4434840"/>
            <a:ext cx="640080" cy="914400"/>
          </a:xfrm>
          <a:prstGeom prst="triangle">
            <a:avLst>
              <a:gd name="adj" fmla="val 50000"/>
            </a:avLst>
          </a:prstGeom>
          <a:solidFill>
            <a:srgbClr val="16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4270248" y="4224528"/>
            <a:ext cx="237744" cy="237744"/>
          </a:xfrm>
          <a:prstGeom prst="ellipse">
            <a:avLst/>
          </a:prstGeom>
          <a:solidFill>
            <a:srgbClr val="FFFFFF"/>
          </a:solidFill>
          <a:ln w="31750" cap="flat" cmpd="sng">
            <a:solidFill>
              <a:srgbClr val="168C8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txBox="1"/>
          <p:nvPr/>
        </p:nvSpPr>
        <p:spPr>
          <a:xfrm>
            <a:off x="3749040" y="5394960"/>
            <a:ext cx="128016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7365D"/>
              </a:buClr>
              <a:buSzPts val="1300"/>
              <a:buFont typeface="Times New Roman"/>
              <a:buNone/>
            </a:pPr>
            <a:r>
              <a:rPr lang="en-US" sz="1300" b="1" i="0" u="none" strike="noStrike" cap="none">
                <a:solidFill>
                  <a:srgbClr val="17365D"/>
                </a:solidFill>
                <a:latin typeface="Times New Roman"/>
                <a:ea typeface="Times New Roman"/>
                <a:cs typeface="Times New Roman"/>
                <a:sym typeface="Times New Roman"/>
              </a:rPr>
              <a:t>LoRa gateway</a:t>
            </a:r>
            <a:endParaRPr sz="1300" b="0" i="0" u="none" strike="noStrike" cap="none">
              <a:solidFill>
                <a:schemeClr val="dk1"/>
              </a:solidFill>
              <a:latin typeface="Times New Roman"/>
              <a:ea typeface="Times New Roman"/>
              <a:cs typeface="Times New Roman"/>
              <a:sym typeface="Times New Roman"/>
            </a:endParaRPr>
          </a:p>
        </p:txBody>
      </p:sp>
      <p:cxnSp>
        <p:nvCxnSpPr>
          <p:cNvPr id="32" name="Google Shape;32;p3"/>
          <p:cNvCxnSpPr/>
          <p:nvPr/>
        </p:nvCxnSpPr>
        <p:spPr>
          <a:xfrm>
            <a:off x="4846320" y="4754880"/>
            <a:ext cx="1143000" cy="0"/>
          </a:xfrm>
          <a:prstGeom prst="straightConnector1">
            <a:avLst/>
          </a:prstGeom>
          <a:noFill/>
          <a:ln w="25400" cap="flat" cmpd="sng">
            <a:solidFill>
              <a:srgbClr val="5B636E"/>
            </a:solidFill>
            <a:prstDash val="solid"/>
            <a:round/>
            <a:headEnd type="none" w="sm" len="sm"/>
            <a:tailEnd type="triangle" w="med" len="med"/>
          </a:ln>
        </p:spPr>
      </p:cxnSp>
      <p:sp>
        <p:nvSpPr>
          <p:cNvPr id="33" name="Google Shape;33;p3"/>
          <p:cNvSpPr txBox="1"/>
          <p:nvPr/>
        </p:nvSpPr>
        <p:spPr>
          <a:xfrm>
            <a:off x="4846320" y="4462272"/>
            <a:ext cx="1143000" cy="23774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B636E"/>
              </a:buClr>
              <a:buSzPts val="1200"/>
              <a:buFont typeface="Times New Roman"/>
              <a:buNone/>
            </a:pPr>
            <a:r>
              <a:rPr lang="en-US" sz="1200" b="0" i="1" u="none" strike="noStrike" cap="none">
                <a:solidFill>
                  <a:srgbClr val="5B636E"/>
                </a:solidFill>
                <a:latin typeface="Times New Roman"/>
                <a:ea typeface="Times New Roman"/>
                <a:cs typeface="Times New Roman"/>
                <a:sym typeface="Times New Roman"/>
              </a:rPr>
              <a:t>Internet</a:t>
            </a:r>
            <a:endParaRPr sz="1200" b="0" i="0" u="none" strike="noStrike" cap="none">
              <a:solidFill>
                <a:schemeClr val="dk1"/>
              </a:solidFill>
              <a:latin typeface="Times New Roman"/>
              <a:ea typeface="Times New Roman"/>
              <a:cs typeface="Times New Roman"/>
              <a:sym typeface="Times New Roman"/>
            </a:endParaRPr>
          </a:p>
        </p:txBody>
      </p:sp>
      <p:sp>
        <p:nvSpPr>
          <p:cNvPr id="34" name="Google Shape;34;p3"/>
          <p:cNvSpPr/>
          <p:nvPr/>
        </p:nvSpPr>
        <p:spPr>
          <a:xfrm>
            <a:off x="6080760" y="4114800"/>
            <a:ext cx="2103120" cy="1188720"/>
          </a:xfrm>
          <a:prstGeom prst="cloud">
            <a:avLst/>
          </a:prstGeom>
          <a:solidFill>
            <a:srgbClr val="F1F5F9"/>
          </a:solidFill>
          <a:ln w="25400" cap="flat" cmpd="sng">
            <a:solidFill>
              <a:srgbClr val="168C8C"/>
            </a:solidFill>
            <a:prstDash val="solid"/>
            <a:round/>
            <a:headEnd type="none" w="sm" len="sm"/>
            <a:tailEnd type="none" w="sm" len="sm"/>
          </a:ln>
        </p:spPr>
        <p:txBody>
          <a:bodyPr spcFirstLastPara="1" wrap="square" lIns="1250" tIns="1250" rIns="1250" bIns="1250" anchor="ctr" anchorCtr="0">
            <a:noAutofit/>
          </a:bodyPr>
          <a:lstStyle/>
          <a:p>
            <a:pPr marL="0" marR="0" lvl="0" indent="0" algn="ctr" rtl="0">
              <a:spcBef>
                <a:spcPts val="0"/>
              </a:spcBef>
              <a:spcAft>
                <a:spcPts val="0"/>
              </a:spcAft>
              <a:buClr>
                <a:srgbClr val="17365D"/>
              </a:buClr>
              <a:buSzPts val="1200"/>
              <a:buFont typeface="Times New Roman"/>
              <a:buNone/>
            </a:pPr>
            <a:r>
              <a:rPr lang="en-US" sz="1200" b="1" i="0" u="none" strike="noStrike" cap="none">
                <a:solidFill>
                  <a:srgbClr val="17365D"/>
                </a:solidFill>
                <a:latin typeface="Times New Roman"/>
                <a:ea typeface="Times New Roman"/>
                <a:cs typeface="Times New Roman"/>
                <a:sym typeface="Times New Roman"/>
              </a:rPr>
              <a:t>Backend and dashboard</a:t>
            </a:r>
            <a:endParaRPr sz="1200" b="0" i="0" u="none" strike="noStrike" cap="none">
              <a:solidFill>
                <a:schemeClr val="dk1"/>
              </a:solidFill>
              <a:latin typeface="Times New Roman"/>
              <a:ea typeface="Times New Roman"/>
              <a:cs typeface="Times New Roman"/>
              <a:sym typeface="Times New Roman"/>
            </a:endParaRPr>
          </a:p>
        </p:txBody>
      </p:sp>
      <p:cxnSp>
        <p:nvCxnSpPr>
          <p:cNvPr id="35" name="Google Shape;35;p3"/>
          <p:cNvCxnSpPr/>
          <p:nvPr/>
        </p:nvCxnSpPr>
        <p:spPr>
          <a:xfrm>
            <a:off x="8275320" y="4754880"/>
            <a:ext cx="1097280" cy="0"/>
          </a:xfrm>
          <a:prstGeom prst="straightConnector1">
            <a:avLst/>
          </a:prstGeom>
          <a:noFill/>
          <a:ln w="25400" cap="flat" cmpd="sng">
            <a:solidFill>
              <a:srgbClr val="C84646"/>
            </a:solidFill>
            <a:prstDash val="solid"/>
            <a:round/>
            <a:headEnd type="none" w="sm" len="sm"/>
            <a:tailEnd type="triangle" w="med" len="med"/>
          </a:ln>
        </p:spPr>
      </p:cxnSp>
      <p:sp>
        <p:nvSpPr>
          <p:cNvPr id="36" name="Google Shape;36;p3"/>
          <p:cNvSpPr txBox="1"/>
          <p:nvPr/>
        </p:nvSpPr>
        <p:spPr>
          <a:xfrm>
            <a:off x="8275320" y="4462272"/>
            <a:ext cx="1097280" cy="23774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C84646"/>
              </a:buClr>
              <a:buSzPts val="1200"/>
              <a:buFont typeface="Times New Roman"/>
              <a:buNone/>
            </a:pPr>
            <a:r>
              <a:rPr lang="en-US" sz="1200" b="0" i="1" u="none" strike="noStrike" cap="none">
                <a:solidFill>
                  <a:srgbClr val="C84646"/>
                </a:solidFill>
                <a:latin typeface="Times New Roman"/>
                <a:ea typeface="Times New Roman"/>
                <a:cs typeface="Times New Roman"/>
                <a:sym typeface="Times New Roman"/>
              </a:rPr>
              <a:t>Alert</a:t>
            </a:r>
            <a:endParaRPr sz="1200" b="0" i="0" u="none" strike="noStrike" cap="none">
              <a:solidFill>
                <a:schemeClr val="dk1"/>
              </a:solidFill>
              <a:latin typeface="Times New Roman"/>
              <a:ea typeface="Times New Roman"/>
              <a:cs typeface="Times New Roman"/>
              <a:sym typeface="Times New Roman"/>
            </a:endParaRPr>
          </a:p>
        </p:txBody>
      </p:sp>
      <p:sp>
        <p:nvSpPr>
          <p:cNvPr id="37" name="Google Shape;37;p3"/>
          <p:cNvSpPr/>
          <p:nvPr/>
        </p:nvSpPr>
        <p:spPr>
          <a:xfrm>
            <a:off x="9418320" y="4297680"/>
            <a:ext cx="2286000" cy="914400"/>
          </a:xfrm>
          <a:prstGeom prst="roundRect">
            <a:avLst>
              <a:gd name="adj" fmla="val 8000"/>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00"/>
              <a:buFont typeface="Times New Roman"/>
              <a:buNone/>
            </a:pPr>
            <a:r>
              <a:rPr lang="en-US" sz="1200" b="1" i="0" u="none" strike="noStrike" cap="none">
                <a:solidFill>
                  <a:srgbClr val="3F4650"/>
                </a:solidFill>
                <a:latin typeface="Times New Roman"/>
                <a:ea typeface="Times New Roman"/>
                <a:cs typeface="Times New Roman"/>
                <a:sym typeface="Times New Roman"/>
              </a:rPr>
              <a:t>Hospital / fire-rescue and authorized users (proposed)</a:t>
            </a:r>
            <a:endParaRPr sz="1200" b="0" i="0" u="none" strike="noStrike" cap="none">
              <a:solidFill>
                <a:schemeClr val="dk1"/>
              </a:solidFill>
              <a:latin typeface="Times New Roman"/>
              <a:ea typeface="Times New Roman"/>
              <a:cs typeface="Times New Roman"/>
              <a:sym typeface="Times New Roman"/>
            </a:endParaRPr>
          </a:p>
        </p:txBody>
      </p:sp>
      <p:sp>
        <p:nvSpPr>
          <p:cNvPr id="38" name="Google Shape;38;p3"/>
          <p:cNvSpPr/>
          <p:nvPr/>
        </p:nvSpPr>
        <p:spPr>
          <a:xfrm>
            <a:off x="6309360" y="5742432"/>
            <a:ext cx="1737360" cy="384048"/>
          </a:xfrm>
          <a:prstGeom prst="roundRect">
            <a:avLst>
              <a:gd name="adj" fmla="val 19048"/>
            </a:avLst>
          </a:prstGeom>
          <a:solidFill>
            <a:srgbClr val="3F46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6903720" y="5797296"/>
            <a:ext cx="548640" cy="27432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3"/>
          <p:cNvCxnSpPr/>
          <p:nvPr/>
        </p:nvCxnSpPr>
        <p:spPr>
          <a:xfrm rot="10800000">
            <a:off x="7178040" y="5349240"/>
            <a:ext cx="0" cy="365760"/>
          </a:xfrm>
          <a:prstGeom prst="straightConnector1">
            <a:avLst/>
          </a:prstGeom>
          <a:noFill/>
          <a:ln w="22225" cap="flat" cmpd="sng">
            <a:solidFill>
              <a:srgbClr val="168C8C"/>
            </a:solidFill>
            <a:prstDash val="dash"/>
            <a:round/>
            <a:headEnd type="none" w="sm" len="sm"/>
            <a:tailEnd type="triangle" w="med" len="med"/>
          </a:ln>
        </p:spPr>
      </p:cxnSp>
      <p:sp>
        <p:nvSpPr>
          <p:cNvPr id="41" name="Google Shape;41;p3"/>
          <p:cNvSpPr txBox="1"/>
          <p:nvPr/>
        </p:nvSpPr>
        <p:spPr>
          <a:xfrm>
            <a:off x="8183880" y="5669280"/>
            <a:ext cx="3566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200"/>
              <a:buFont typeface="Times New Roman"/>
              <a:buNone/>
            </a:pPr>
            <a:r>
              <a:rPr lang="en-US" sz="1200" b="0" i="1" u="none" strike="noStrike" cap="none">
                <a:solidFill>
                  <a:srgbClr val="5B636E"/>
                </a:solidFill>
                <a:latin typeface="Times New Roman"/>
                <a:ea typeface="Times New Roman"/>
                <a:cs typeface="Times New Roman"/>
                <a:sym typeface="Times New Roman"/>
              </a:rPr>
              <a:t>Wristband: works standalone; optional authorized link (proposed)</a:t>
            </a:r>
            <a:endParaRPr sz="1200" b="0" i="0" u="none" strike="noStrike" cap="none">
              <a:solidFill>
                <a:schemeClr val="dk1"/>
              </a:solidFill>
              <a:latin typeface="Times New Roman"/>
              <a:ea typeface="Times New Roman"/>
              <a:cs typeface="Times New Roman"/>
              <a:sym typeface="Times New Roman"/>
            </a:endParaRPr>
          </a:p>
        </p:txBody>
      </p:sp>
      <p:pic>
        <p:nvPicPr>
          <p:cNvPr id="42" name="Google Shape;42;p3"/>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
        <p:cNvGrpSpPr/>
        <p:nvPr/>
      </p:nvGrpSpPr>
      <p:grpSpPr>
        <a:xfrm>
          <a:off x="0" y="0"/>
          <a:ext cx="0" cy="0"/>
          <a:chOff x="0" y="0"/>
          <a:chExt cx="0" cy="0"/>
        </a:xfrm>
      </p:grpSpPr>
      <p:sp>
        <p:nvSpPr>
          <p:cNvPr id="48" name="Google Shape;48;p4"/>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Agenda</a:t>
            </a:r>
            <a:endParaRPr sz="3000" b="0" i="0" u="none" strike="noStrike" cap="none">
              <a:solidFill>
                <a:schemeClr val="dk1"/>
              </a:solidFill>
              <a:latin typeface="Times New Roman"/>
              <a:ea typeface="Times New Roman"/>
              <a:cs typeface="Times New Roman"/>
              <a:sym typeface="Times New Roman"/>
            </a:endParaRPr>
          </a:p>
        </p:txBody>
      </p:sp>
      <p:sp>
        <p:nvSpPr>
          <p:cNvPr id="49" name="Google Shape;49;p4"/>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50" name="Google Shape;50;p4"/>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2</a:t>
            </a:r>
            <a:endParaRPr sz="1100" b="0" i="0" u="none" strike="noStrike" cap="none">
              <a:solidFill>
                <a:schemeClr val="dk1"/>
              </a:solidFill>
              <a:latin typeface="Times New Roman"/>
              <a:ea typeface="Times New Roman"/>
              <a:cs typeface="Times New Roman"/>
              <a:sym typeface="Times New Roman"/>
            </a:endParaRPr>
          </a:p>
        </p:txBody>
      </p:sp>
      <p:sp>
        <p:nvSpPr>
          <p:cNvPr id="51" name="Google Shape;51;p4"/>
          <p:cNvSpPr/>
          <p:nvPr/>
        </p:nvSpPr>
        <p:spPr>
          <a:xfrm>
            <a:off x="640080" y="1234440"/>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1</a:t>
            </a:r>
            <a:endParaRPr sz="1700" b="0" i="0" u="none" strike="noStrike" cap="none">
              <a:solidFill>
                <a:schemeClr val="dk1"/>
              </a:solidFill>
              <a:latin typeface="Times New Roman"/>
              <a:ea typeface="Times New Roman"/>
              <a:cs typeface="Times New Roman"/>
              <a:sym typeface="Times New Roman"/>
            </a:endParaRPr>
          </a:p>
        </p:txBody>
      </p:sp>
      <p:sp>
        <p:nvSpPr>
          <p:cNvPr id="52" name="Google Shape;52;p4"/>
          <p:cNvSpPr txBox="1"/>
          <p:nvPr/>
        </p:nvSpPr>
        <p:spPr>
          <a:xfrm>
            <a:off x="1325880" y="123444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Introduction</a:t>
            </a:r>
            <a:endParaRPr sz="2000" b="0" i="0" u="none" strike="noStrike" cap="none">
              <a:solidFill>
                <a:schemeClr val="dk1"/>
              </a:solidFill>
              <a:latin typeface="Times New Roman"/>
              <a:ea typeface="Times New Roman"/>
              <a:cs typeface="Times New Roman"/>
              <a:sym typeface="Times New Roman"/>
            </a:endParaRPr>
          </a:p>
        </p:txBody>
      </p:sp>
      <p:sp>
        <p:nvSpPr>
          <p:cNvPr id="53" name="Google Shape;53;p4"/>
          <p:cNvSpPr/>
          <p:nvPr/>
        </p:nvSpPr>
        <p:spPr>
          <a:xfrm>
            <a:off x="640080" y="1965960"/>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2</a:t>
            </a:r>
            <a:endParaRPr sz="1700" b="0" i="0" u="none" strike="noStrike" cap="none">
              <a:solidFill>
                <a:schemeClr val="dk1"/>
              </a:solidFill>
              <a:latin typeface="Times New Roman"/>
              <a:ea typeface="Times New Roman"/>
              <a:cs typeface="Times New Roman"/>
              <a:sym typeface="Times New Roman"/>
            </a:endParaRPr>
          </a:p>
        </p:txBody>
      </p:sp>
      <p:sp>
        <p:nvSpPr>
          <p:cNvPr id="54" name="Google Shape;54;p4"/>
          <p:cNvSpPr txBox="1"/>
          <p:nvPr/>
        </p:nvSpPr>
        <p:spPr>
          <a:xfrm>
            <a:off x="1325880" y="196596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Problem statement</a:t>
            </a:r>
            <a:endParaRPr sz="2000" b="0" i="0" u="none" strike="noStrike" cap="none">
              <a:solidFill>
                <a:schemeClr val="dk1"/>
              </a:solidFill>
              <a:latin typeface="Times New Roman"/>
              <a:ea typeface="Times New Roman"/>
              <a:cs typeface="Times New Roman"/>
              <a:sym typeface="Times New Roman"/>
            </a:endParaRPr>
          </a:p>
        </p:txBody>
      </p:sp>
      <p:sp>
        <p:nvSpPr>
          <p:cNvPr id="55" name="Google Shape;55;p4"/>
          <p:cNvSpPr/>
          <p:nvPr/>
        </p:nvSpPr>
        <p:spPr>
          <a:xfrm>
            <a:off x="640080" y="2697480"/>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3</a:t>
            </a:r>
            <a:endParaRPr sz="1700" b="0" i="0" u="none" strike="noStrike" cap="none">
              <a:solidFill>
                <a:schemeClr val="dk1"/>
              </a:solidFill>
              <a:latin typeface="Times New Roman"/>
              <a:ea typeface="Times New Roman"/>
              <a:cs typeface="Times New Roman"/>
              <a:sym typeface="Times New Roman"/>
            </a:endParaRPr>
          </a:p>
        </p:txBody>
      </p:sp>
      <p:sp>
        <p:nvSpPr>
          <p:cNvPr id="56" name="Google Shape;56;p4"/>
          <p:cNvSpPr txBox="1"/>
          <p:nvPr/>
        </p:nvSpPr>
        <p:spPr>
          <a:xfrm>
            <a:off x="1325880" y="269748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Proposed solution</a:t>
            </a:r>
            <a:endParaRPr sz="2000" b="0" i="0" u="none" strike="noStrike" cap="none">
              <a:solidFill>
                <a:schemeClr val="dk1"/>
              </a:solidFill>
              <a:latin typeface="Times New Roman"/>
              <a:ea typeface="Times New Roman"/>
              <a:cs typeface="Times New Roman"/>
              <a:sym typeface="Times New Roman"/>
            </a:endParaRPr>
          </a:p>
        </p:txBody>
      </p:sp>
      <p:sp>
        <p:nvSpPr>
          <p:cNvPr id="57" name="Google Shape;57;p4"/>
          <p:cNvSpPr/>
          <p:nvPr/>
        </p:nvSpPr>
        <p:spPr>
          <a:xfrm>
            <a:off x="640080" y="3429000"/>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4</a:t>
            </a:r>
            <a:endParaRPr sz="1700" b="0" i="0" u="none" strike="noStrike" cap="none">
              <a:solidFill>
                <a:schemeClr val="dk1"/>
              </a:solidFill>
              <a:latin typeface="Times New Roman"/>
              <a:ea typeface="Times New Roman"/>
              <a:cs typeface="Times New Roman"/>
              <a:sym typeface="Times New Roman"/>
            </a:endParaRPr>
          </a:p>
        </p:txBody>
      </p:sp>
      <p:sp>
        <p:nvSpPr>
          <p:cNvPr id="58" name="Google Shape;58;p4"/>
          <p:cNvSpPr txBox="1"/>
          <p:nvPr/>
        </p:nvSpPr>
        <p:spPr>
          <a:xfrm>
            <a:off x="1325880" y="342900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Objectives</a:t>
            </a:r>
            <a:endParaRPr sz="2000" b="0" i="0" u="none" strike="noStrike" cap="none">
              <a:solidFill>
                <a:schemeClr val="dk1"/>
              </a:solidFill>
              <a:latin typeface="Times New Roman"/>
              <a:ea typeface="Times New Roman"/>
              <a:cs typeface="Times New Roman"/>
              <a:sym typeface="Times New Roman"/>
            </a:endParaRPr>
          </a:p>
        </p:txBody>
      </p:sp>
      <p:sp>
        <p:nvSpPr>
          <p:cNvPr id="59" name="Google Shape;59;p4"/>
          <p:cNvSpPr/>
          <p:nvPr/>
        </p:nvSpPr>
        <p:spPr>
          <a:xfrm>
            <a:off x="640080" y="4160520"/>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5</a:t>
            </a:r>
            <a:endParaRPr sz="1700" b="0" i="0" u="none" strike="noStrike" cap="none">
              <a:solidFill>
                <a:schemeClr val="dk1"/>
              </a:solidFill>
              <a:latin typeface="Times New Roman"/>
              <a:ea typeface="Times New Roman"/>
              <a:cs typeface="Times New Roman"/>
              <a:sym typeface="Times New Roman"/>
            </a:endParaRPr>
          </a:p>
        </p:txBody>
      </p:sp>
      <p:sp>
        <p:nvSpPr>
          <p:cNvPr id="60" name="Google Shape;60;p4"/>
          <p:cNvSpPr txBox="1"/>
          <p:nvPr/>
        </p:nvSpPr>
        <p:spPr>
          <a:xfrm>
            <a:off x="1325880" y="416052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System architecture</a:t>
            </a:r>
            <a:endParaRPr sz="2000" b="0" i="0" u="none" strike="noStrike" cap="none">
              <a:solidFill>
                <a:schemeClr val="dk1"/>
              </a:solidFill>
              <a:latin typeface="Times New Roman"/>
              <a:ea typeface="Times New Roman"/>
              <a:cs typeface="Times New Roman"/>
              <a:sym typeface="Times New Roman"/>
            </a:endParaRPr>
          </a:p>
        </p:txBody>
      </p:sp>
      <p:sp>
        <p:nvSpPr>
          <p:cNvPr id="61" name="Google Shape;61;p4"/>
          <p:cNvSpPr/>
          <p:nvPr/>
        </p:nvSpPr>
        <p:spPr>
          <a:xfrm>
            <a:off x="640080" y="4892040"/>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6</a:t>
            </a:r>
            <a:endParaRPr sz="1700" b="0" i="0" u="none" strike="noStrike" cap="none">
              <a:solidFill>
                <a:schemeClr val="dk1"/>
              </a:solidFill>
              <a:latin typeface="Times New Roman"/>
              <a:ea typeface="Times New Roman"/>
              <a:cs typeface="Times New Roman"/>
              <a:sym typeface="Times New Roman"/>
            </a:endParaRPr>
          </a:p>
        </p:txBody>
      </p:sp>
      <p:sp>
        <p:nvSpPr>
          <p:cNvPr id="62" name="Google Shape;62;p4"/>
          <p:cNvSpPr txBox="1"/>
          <p:nvPr/>
        </p:nvSpPr>
        <p:spPr>
          <a:xfrm>
            <a:off x="1325880" y="489204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Hardware and software</a:t>
            </a:r>
            <a:endParaRPr sz="2000" b="0" i="0" u="none" strike="noStrike" cap="none">
              <a:solidFill>
                <a:schemeClr val="dk1"/>
              </a:solidFill>
              <a:latin typeface="Times New Roman"/>
              <a:ea typeface="Times New Roman"/>
              <a:cs typeface="Times New Roman"/>
              <a:sym typeface="Times New Roman"/>
            </a:endParaRPr>
          </a:p>
        </p:txBody>
      </p:sp>
      <p:sp>
        <p:nvSpPr>
          <p:cNvPr id="63" name="Google Shape;63;p4"/>
          <p:cNvSpPr/>
          <p:nvPr/>
        </p:nvSpPr>
        <p:spPr>
          <a:xfrm>
            <a:off x="6309360" y="1234440"/>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7</a:t>
            </a:r>
            <a:endParaRPr sz="1700" b="0" i="0" u="none" strike="noStrike" cap="none">
              <a:solidFill>
                <a:schemeClr val="dk1"/>
              </a:solidFill>
              <a:latin typeface="Times New Roman"/>
              <a:ea typeface="Times New Roman"/>
              <a:cs typeface="Times New Roman"/>
              <a:sym typeface="Times New Roman"/>
            </a:endParaRPr>
          </a:p>
        </p:txBody>
      </p:sp>
      <p:sp>
        <p:nvSpPr>
          <p:cNvPr id="64" name="Google Shape;64;p4"/>
          <p:cNvSpPr txBox="1"/>
          <p:nvPr/>
        </p:nvSpPr>
        <p:spPr>
          <a:xfrm>
            <a:off x="6995160" y="123444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Working methodology</a:t>
            </a:r>
            <a:endParaRPr sz="2000" b="0" i="0" u="none" strike="noStrike" cap="none">
              <a:solidFill>
                <a:schemeClr val="dk1"/>
              </a:solidFill>
              <a:latin typeface="Times New Roman"/>
              <a:ea typeface="Times New Roman"/>
              <a:cs typeface="Times New Roman"/>
              <a:sym typeface="Times New Roman"/>
            </a:endParaRPr>
          </a:p>
        </p:txBody>
      </p:sp>
      <p:sp>
        <p:nvSpPr>
          <p:cNvPr id="65" name="Google Shape;65;p4"/>
          <p:cNvSpPr/>
          <p:nvPr/>
        </p:nvSpPr>
        <p:spPr>
          <a:xfrm>
            <a:off x="6309360" y="1965960"/>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8</a:t>
            </a:r>
            <a:endParaRPr sz="1700" b="0" i="0" u="none" strike="noStrike" cap="none">
              <a:solidFill>
                <a:schemeClr val="dk1"/>
              </a:solidFill>
              <a:latin typeface="Times New Roman"/>
              <a:ea typeface="Times New Roman"/>
              <a:cs typeface="Times New Roman"/>
              <a:sym typeface="Times New Roman"/>
            </a:endParaRPr>
          </a:p>
        </p:txBody>
      </p:sp>
      <p:sp>
        <p:nvSpPr>
          <p:cNvPr id="66" name="Google Shape;66;p4"/>
          <p:cNvSpPr txBox="1"/>
          <p:nvPr/>
        </p:nvSpPr>
        <p:spPr>
          <a:xfrm>
            <a:off x="6995160" y="196596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Algorithm and alert logic</a:t>
            </a:r>
            <a:endParaRPr sz="2000" b="0" i="0" u="none" strike="noStrike" cap="none">
              <a:solidFill>
                <a:schemeClr val="dk1"/>
              </a:solidFill>
              <a:latin typeface="Times New Roman"/>
              <a:ea typeface="Times New Roman"/>
              <a:cs typeface="Times New Roman"/>
              <a:sym typeface="Times New Roman"/>
            </a:endParaRPr>
          </a:p>
        </p:txBody>
      </p:sp>
      <p:sp>
        <p:nvSpPr>
          <p:cNvPr id="67" name="Google Shape;67;p4"/>
          <p:cNvSpPr/>
          <p:nvPr/>
        </p:nvSpPr>
        <p:spPr>
          <a:xfrm>
            <a:off x="6309360" y="2697480"/>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9</a:t>
            </a:r>
            <a:endParaRPr sz="1700" b="0" i="0" u="none" strike="noStrike" cap="none">
              <a:solidFill>
                <a:schemeClr val="dk1"/>
              </a:solidFill>
              <a:latin typeface="Times New Roman"/>
              <a:ea typeface="Times New Roman"/>
              <a:cs typeface="Times New Roman"/>
              <a:sym typeface="Times New Roman"/>
            </a:endParaRPr>
          </a:p>
        </p:txBody>
      </p:sp>
      <p:sp>
        <p:nvSpPr>
          <p:cNvPr id="68" name="Google Shape;68;p4"/>
          <p:cNvSpPr txBox="1"/>
          <p:nvPr/>
        </p:nvSpPr>
        <p:spPr>
          <a:xfrm>
            <a:off x="6995160" y="269748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Real-world applications</a:t>
            </a:r>
            <a:endParaRPr sz="2000" b="0" i="0" u="none" strike="noStrike" cap="none">
              <a:solidFill>
                <a:schemeClr val="dk1"/>
              </a:solidFill>
              <a:latin typeface="Times New Roman"/>
              <a:ea typeface="Times New Roman"/>
              <a:cs typeface="Times New Roman"/>
              <a:sym typeface="Times New Roman"/>
            </a:endParaRPr>
          </a:p>
        </p:txBody>
      </p:sp>
      <p:sp>
        <p:nvSpPr>
          <p:cNvPr id="69" name="Google Shape;69;p4"/>
          <p:cNvSpPr/>
          <p:nvPr/>
        </p:nvSpPr>
        <p:spPr>
          <a:xfrm>
            <a:off x="6309360" y="3429000"/>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10</a:t>
            </a:r>
            <a:endParaRPr sz="1700" b="0" i="0" u="none" strike="noStrike" cap="none">
              <a:solidFill>
                <a:schemeClr val="dk1"/>
              </a:solidFill>
              <a:latin typeface="Times New Roman"/>
              <a:ea typeface="Times New Roman"/>
              <a:cs typeface="Times New Roman"/>
              <a:sym typeface="Times New Roman"/>
            </a:endParaRPr>
          </a:p>
        </p:txBody>
      </p:sp>
      <p:sp>
        <p:nvSpPr>
          <p:cNvPr id="70" name="Google Shape;70;p4"/>
          <p:cNvSpPr txBox="1"/>
          <p:nvPr/>
        </p:nvSpPr>
        <p:spPr>
          <a:xfrm>
            <a:off x="6995160" y="342900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Benefits, limitations, and validation</a:t>
            </a:r>
            <a:endParaRPr sz="2000" b="0" i="0" u="none" strike="noStrike" cap="none">
              <a:solidFill>
                <a:schemeClr val="dk1"/>
              </a:solidFill>
              <a:latin typeface="Times New Roman"/>
              <a:ea typeface="Times New Roman"/>
              <a:cs typeface="Times New Roman"/>
              <a:sym typeface="Times New Roman"/>
            </a:endParaRPr>
          </a:p>
        </p:txBody>
      </p:sp>
      <p:sp>
        <p:nvSpPr>
          <p:cNvPr id="71" name="Google Shape;71;p4"/>
          <p:cNvSpPr/>
          <p:nvPr/>
        </p:nvSpPr>
        <p:spPr>
          <a:xfrm>
            <a:off x="6309360" y="4160520"/>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11</a:t>
            </a:r>
            <a:endParaRPr sz="1700" b="0" i="0" u="none" strike="noStrike" cap="none">
              <a:solidFill>
                <a:schemeClr val="dk1"/>
              </a:solidFill>
              <a:latin typeface="Times New Roman"/>
              <a:ea typeface="Times New Roman"/>
              <a:cs typeface="Times New Roman"/>
              <a:sym typeface="Times New Roman"/>
            </a:endParaRPr>
          </a:p>
        </p:txBody>
      </p:sp>
      <p:sp>
        <p:nvSpPr>
          <p:cNvPr id="72" name="Google Shape;72;p4"/>
          <p:cNvSpPr txBox="1"/>
          <p:nvPr/>
        </p:nvSpPr>
        <p:spPr>
          <a:xfrm>
            <a:off x="6995160" y="416052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Future scope</a:t>
            </a: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4"/>
          <p:cNvSpPr/>
          <p:nvPr/>
        </p:nvSpPr>
        <p:spPr>
          <a:xfrm>
            <a:off x="6309360" y="4892040"/>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12</a:t>
            </a:r>
            <a:endParaRPr sz="1700" b="0" i="0" u="none" strike="noStrike" cap="none">
              <a:solidFill>
                <a:schemeClr val="dk1"/>
              </a:solidFill>
              <a:latin typeface="Times New Roman"/>
              <a:ea typeface="Times New Roman"/>
              <a:cs typeface="Times New Roman"/>
              <a:sym typeface="Times New Roman"/>
            </a:endParaRPr>
          </a:p>
        </p:txBody>
      </p:sp>
      <p:sp>
        <p:nvSpPr>
          <p:cNvPr id="74" name="Google Shape;74;p4"/>
          <p:cNvSpPr txBox="1"/>
          <p:nvPr/>
        </p:nvSpPr>
        <p:spPr>
          <a:xfrm>
            <a:off x="6995160" y="4892040"/>
            <a:ext cx="45720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000"/>
              <a:buFont typeface="Times New Roman"/>
              <a:buNone/>
            </a:pPr>
            <a:r>
              <a:rPr lang="en-US" sz="2000" b="0" i="0" u="none" strike="noStrike" cap="none">
                <a:solidFill>
                  <a:srgbClr val="3F4650"/>
                </a:solidFill>
                <a:latin typeface="Times New Roman"/>
                <a:ea typeface="Times New Roman"/>
                <a:cs typeface="Times New Roman"/>
                <a:sym typeface="Times New Roman"/>
              </a:rPr>
              <a:t>Conclusion</a:t>
            </a:r>
            <a:endParaRPr sz="2000" b="0" i="0" u="none" strike="noStrike" cap="none">
              <a:solidFill>
                <a:schemeClr val="dk1"/>
              </a:solidFill>
              <a:latin typeface="Times New Roman"/>
              <a:ea typeface="Times New Roman"/>
              <a:cs typeface="Times New Roman"/>
              <a:sym typeface="Times New Roman"/>
            </a:endParaRPr>
          </a:p>
        </p:txBody>
      </p:sp>
      <p:sp>
        <p:nvSpPr>
          <p:cNvPr id="75" name="Google Shape;75;p4"/>
          <p:cNvSpPr txBox="1"/>
          <p:nvPr/>
        </p:nvSpPr>
        <p:spPr>
          <a:xfrm>
            <a:off x="640080" y="5742432"/>
            <a:ext cx="20116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500"/>
              <a:buFont typeface="Times New Roman"/>
              <a:buNone/>
            </a:pPr>
            <a:r>
              <a:rPr lang="en-US" sz="1500" b="0" i="1" u="none" strike="noStrike" cap="none">
                <a:solidFill>
                  <a:srgbClr val="5B636E"/>
                </a:solidFill>
                <a:latin typeface="Times New Roman"/>
                <a:ea typeface="Times New Roman"/>
                <a:cs typeface="Times New Roman"/>
                <a:sym typeface="Times New Roman"/>
              </a:rPr>
              <a:t>This talk answers:</a:t>
            </a:r>
            <a:endParaRPr sz="1500" b="0" i="0" u="none" strike="noStrike" cap="none">
              <a:solidFill>
                <a:schemeClr val="dk1"/>
              </a:solidFill>
              <a:latin typeface="Times New Roman"/>
              <a:ea typeface="Times New Roman"/>
              <a:cs typeface="Times New Roman"/>
              <a:sym typeface="Times New Roman"/>
            </a:endParaRPr>
          </a:p>
        </p:txBody>
      </p:sp>
      <p:sp>
        <p:nvSpPr>
          <p:cNvPr id="76" name="Google Shape;76;p4"/>
          <p:cNvSpPr/>
          <p:nvPr/>
        </p:nvSpPr>
        <p:spPr>
          <a:xfrm>
            <a:off x="2743200" y="5742432"/>
            <a:ext cx="1417320" cy="457200"/>
          </a:xfrm>
          <a:prstGeom prst="roundRect">
            <a:avLst>
              <a:gd name="adj" fmla="val 16000"/>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WHAT</a:t>
            </a:r>
            <a:endParaRPr sz="1500" b="0" i="0" u="none" strike="noStrike" cap="none">
              <a:solidFill>
                <a:schemeClr val="dk1"/>
              </a:solidFill>
              <a:latin typeface="Times New Roman"/>
              <a:ea typeface="Times New Roman"/>
              <a:cs typeface="Times New Roman"/>
              <a:sym typeface="Times New Roman"/>
            </a:endParaRPr>
          </a:p>
        </p:txBody>
      </p:sp>
      <p:sp>
        <p:nvSpPr>
          <p:cNvPr id="77" name="Google Shape;77;p4"/>
          <p:cNvSpPr/>
          <p:nvPr/>
        </p:nvSpPr>
        <p:spPr>
          <a:xfrm>
            <a:off x="4343400" y="5742432"/>
            <a:ext cx="1417320" cy="457200"/>
          </a:xfrm>
          <a:prstGeom prst="roundRect">
            <a:avLst>
              <a:gd name="adj" fmla="val 16000"/>
            </a:avLst>
          </a:prstGeom>
          <a:solidFill>
            <a:srgbClr val="168C8C"/>
          </a:solidFill>
          <a:ln w="12700" cap="flat" cmpd="sng">
            <a:solidFill>
              <a:srgbClr val="168C8C"/>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WHY</a:t>
            </a:r>
            <a:endParaRPr sz="1500" b="0" i="0" u="none" strike="noStrike" cap="none">
              <a:solidFill>
                <a:schemeClr val="dk1"/>
              </a:solidFill>
              <a:latin typeface="Times New Roman"/>
              <a:ea typeface="Times New Roman"/>
              <a:cs typeface="Times New Roman"/>
              <a:sym typeface="Times New Roman"/>
            </a:endParaRPr>
          </a:p>
        </p:txBody>
      </p:sp>
      <p:sp>
        <p:nvSpPr>
          <p:cNvPr id="78" name="Google Shape;78;p4"/>
          <p:cNvSpPr/>
          <p:nvPr/>
        </p:nvSpPr>
        <p:spPr>
          <a:xfrm>
            <a:off x="5943600" y="5742432"/>
            <a:ext cx="1417320" cy="457200"/>
          </a:xfrm>
          <a:prstGeom prst="roundRect">
            <a:avLst>
              <a:gd name="adj" fmla="val 16000"/>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WHERE</a:t>
            </a:r>
            <a:endParaRPr sz="1500" b="0" i="0" u="none" strike="noStrike" cap="none">
              <a:solidFill>
                <a:schemeClr val="dk1"/>
              </a:solidFill>
              <a:latin typeface="Times New Roman"/>
              <a:ea typeface="Times New Roman"/>
              <a:cs typeface="Times New Roman"/>
              <a:sym typeface="Times New Roman"/>
            </a:endParaRPr>
          </a:p>
        </p:txBody>
      </p:sp>
      <p:sp>
        <p:nvSpPr>
          <p:cNvPr id="79" name="Google Shape;79;p4"/>
          <p:cNvSpPr/>
          <p:nvPr/>
        </p:nvSpPr>
        <p:spPr>
          <a:xfrm>
            <a:off x="7543800" y="5742432"/>
            <a:ext cx="1417320" cy="457200"/>
          </a:xfrm>
          <a:prstGeom prst="roundRect">
            <a:avLst>
              <a:gd name="adj" fmla="val 16000"/>
            </a:avLst>
          </a:prstGeom>
          <a:solidFill>
            <a:srgbClr val="168C8C"/>
          </a:solidFill>
          <a:ln w="12700" cap="flat" cmpd="sng">
            <a:solidFill>
              <a:srgbClr val="168C8C"/>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WHEN</a:t>
            </a:r>
            <a:endParaRPr sz="1500" b="0" i="0" u="none" strike="noStrike" cap="none">
              <a:solidFill>
                <a:schemeClr val="dk1"/>
              </a:solidFill>
              <a:latin typeface="Times New Roman"/>
              <a:ea typeface="Times New Roman"/>
              <a:cs typeface="Times New Roman"/>
              <a:sym typeface="Times New Roman"/>
            </a:endParaRPr>
          </a:p>
        </p:txBody>
      </p:sp>
      <p:sp>
        <p:nvSpPr>
          <p:cNvPr id="80" name="Google Shape;80;p4"/>
          <p:cNvSpPr/>
          <p:nvPr/>
        </p:nvSpPr>
        <p:spPr>
          <a:xfrm>
            <a:off x="9144000" y="5742432"/>
            <a:ext cx="1417320" cy="457200"/>
          </a:xfrm>
          <a:prstGeom prst="roundRect">
            <a:avLst>
              <a:gd name="adj" fmla="val 16000"/>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HOW</a:t>
            </a:r>
            <a:endParaRPr sz="15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
        <p:cNvGrpSpPr/>
        <p:nvPr/>
      </p:nvGrpSpPr>
      <p:grpSpPr>
        <a:xfrm>
          <a:off x="0" y="0"/>
          <a:ext cx="0" cy="0"/>
          <a:chOff x="0" y="0"/>
          <a:chExt cx="0" cy="0"/>
        </a:xfrm>
      </p:grpSpPr>
      <p:sp>
        <p:nvSpPr>
          <p:cNvPr id="86" name="Google Shape;86;p5"/>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Problem statement</a:t>
            </a:r>
            <a:endParaRPr sz="3000" b="0" i="0" u="none" strike="noStrike" cap="none">
              <a:solidFill>
                <a:schemeClr val="dk1"/>
              </a:solidFill>
              <a:latin typeface="Times New Roman"/>
              <a:ea typeface="Times New Roman"/>
              <a:cs typeface="Times New Roman"/>
              <a:sym typeface="Times New Roman"/>
            </a:endParaRPr>
          </a:p>
        </p:txBody>
      </p:sp>
      <p:sp>
        <p:nvSpPr>
          <p:cNvPr id="87" name="Google Shape;87;p5"/>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88" name="Google Shape;88;p5"/>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3</a:t>
            </a:r>
            <a:endParaRPr sz="1100" b="0" i="0" u="none" strike="noStrike" cap="none">
              <a:solidFill>
                <a:schemeClr val="dk1"/>
              </a:solidFill>
              <a:latin typeface="Times New Roman"/>
              <a:ea typeface="Times New Roman"/>
              <a:cs typeface="Times New Roman"/>
              <a:sym typeface="Times New Roman"/>
            </a:endParaRPr>
          </a:p>
        </p:txBody>
      </p:sp>
      <p:sp>
        <p:nvSpPr>
          <p:cNvPr id="89" name="Google Shape;89;p5"/>
          <p:cNvSpPr/>
          <p:nvPr/>
        </p:nvSpPr>
        <p:spPr>
          <a:xfrm>
            <a:off x="457200" y="1143000"/>
            <a:ext cx="3566160" cy="3063240"/>
          </a:xfrm>
          <a:prstGeom prst="roundRect">
            <a:avLst>
              <a:gd name="adj" fmla="val 2388"/>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640080" y="1280160"/>
            <a:ext cx="502920" cy="502920"/>
          </a:xfrm>
          <a:prstGeom prst="ellipse">
            <a:avLst/>
          </a:prstGeom>
          <a:solidFill>
            <a:srgbClr val="C84646"/>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000"/>
              <a:buFont typeface="Times New Roman"/>
              <a:buNone/>
            </a:pPr>
            <a:r>
              <a:rPr lang="en-US" sz="2000" b="1" i="0" u="none" strike="noStrike" cap="none" dirty="0">
                <a:solidFill>
                  <a:srgbClr val="FFFFFF"/>
                </a:solidFill>
                <a:latin typeface="Times New Roman"/>
                <a:ea typeface="Times New Roman"/>
                <a:cs typeface="Times New Roman"/>
                <a:sym typeface="Times New Roman"/>
              </a:rPr>
              <a:t>A</a:t>
            </a:r>
            <a:endParaRPr sz="2000" b="0" i="0" u="none" strike="noStrike" cap="none" dirty="0">
              <a:solidFill>
                <a:schemeClr val="dk1"/>
              </a:solidFill>
              <a:latin typeface="Times New Roman"/>
              <a:ea typeface="Times New Roman"/>
              <a:cs typeface="Times New Roman"/>
              <a:sym typeface="Times New Roman"/>
            </a:endParaRPr>
          </a:p>
        </p:txBody>
      </p:sp>
      <p:sp>
        <p:nvSpPr>
          <p:cNvPr id="91" name="Google Shape;91;p5"/>
          <p:cNvSpPr txBox="1"/>
          <p:nvPr/>
        </p:nvSpPr>
        <p:spPr>
          <a:xfrm>
            <a:off x="1280160" y="1234440"/>
            <a:ext cx="265176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700"/>
              <a:buFont typeface="Times New Roman"/>
              <a:buNone/>
            </a:pPr>
            <a:r>
              <a:rPr lang="en-US" sz="1700" b="1" i="0" u="none" strike="noStrike" cap="none">
                <a:solidFill>
                  <a:srgbClr val="17365D"/>
                </a:solidFill>
                <a:latin typeface="Times New Roman"/>
                <a:ea typeface="Times New Roman"/>
                <a:cs typeface="Times New Roman"/>
                <a:sym typeface="Times New Roman"/>
              </a:rPr>
              <a:t>Delayed accident response</a:t>
            </a:r>
            <a:endParaRPr sz="1700" b="0" i="0" u="none" strike="noStrike" cap="none">
              <a:solidFill>
                <a:schemeClr val="dk1"/>
              </a:solidFill>
              <a:latin typeface="Times New Roman"/>
              <a:ea typeface="Times New Roman"/>
              <a:cs typeface="Times New Roman"/>
              <a:sym typeface="Times New Roman"/>
            </a:endParaRPr>
          </a:p>
        </p:txBody>
      </p:sp>
      <p:sp>
        <p:nvSpPr>
          <p:cNvPr id="92" name="Google Shape;92;p5"/>
          <p:cNvSpPr txBox="1"/>
          <p:nvPr/>
        </p:nvSpPr>
        <p:spPr>
          <a:xfrm>
            <a:off x="640080" y="2011680"/>
            <a:ext cx="3200400" cy="21031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Accident details and precise location may reach responders late where conventional reporting is slow or communication is unreliable.</a:t>
            </a:r>
            <a:endParaRPr sz="1600" b="0" i="0" u="none" strike="noStrike" cap="none">
              <a:solidFill>
                <a:schemeClr val="dk1"/>
              </a:solidFill>
              <a:latin typeface="Times New Roman"/>
              <a:ea typeface="Times New Roman"/>
              <a:cs typeface="Times New Roman"/>
              <a:sym typeface="Times New Roman"/>
            </a:endParaRPr>
          </a:p>
        </p:txBody>
      </p:sp>
      <p:sp>
        <p:nvSpPr>
          <p:cNvPr id="93" name="Google Shape;93;p5"/>
          <p:cNvSpPr/>
          <p:nvPr/>
        </p:nvSpPr>
        <p:spPr>
          <a:xfrm>
            <a:off x="4311396" y="1143000"/>
            <a:ext cx="3566160" cy="3063240"/>
          </a:xfrm>
          <a:prstGeom prst="roundRect">
            <a:avLst>
              <a:gd name="adj" fmla="val 2388"/>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4494276" y="1280160"/>
            <a:ext cx="502920" cy="502920"/>
          </a:xfrm>
          <a:prstGeom prst="ellipse">
            <a:avLst/>
          </a:prstGeom>
          <a:solidFill>
            <a:srgbClr val="B8892B"/>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000"/>
              <a:buFont typeface="Times New Roman"/>
              <a:buNone/>
            </a:pPr>
            <a:r>
              <a:rPr lang="en-US" sz="2000" b="1" i="0" u="none" strike="noStrike" cap="none">
                <a:solidFill>
                  <a:srgbClr val="FFFFFF"/>
                </a:solidFill>
                <a:latin typeface="Times New Roman"/>
                <a:ea typeface="Times New Roman"/>
                <a:cs typeface="Times New Roman"/>
                <a:sym typeface="Times New Roman"/>
              </a:rPr>
              <a:t>B</a:t>
            </a:r>
            <a:endParaRPr sz="2000" b="0" i="0" u="none" strike="noStrike" cap="none">
              <a:solidFill>
                <a:schemeClr val="dk1"/>
              </a:solidFill>
              <a:latin typeface="Times New Roman"/>
              <a:ea typeface="Times New Roman"/>
              <a:cs typeface="Times New Roman"/>
              <a:sym typeface="Times New Roman"/>
            </a:endParaRPr>
          </a:p>
        </p:txBody>
      </p:sp>
      <p:sp>
        <p:nvSpPr>
          <p:cNvPr id="95" name="Google Shape;95;p5"/>
          <p:cNvSpPr txBox="1"/>
          <p:nvPr/>
        </p:nvSpPr>
        <p:spPr>
          <a:xfrm>
            <a:off x="5134356" y="1234440"/>
            <a:ext cx="265176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700"/>
              <a:buFont typeface="Times New Roman"/>
              <a:buNone/>
            </a:pPr>
            <a:r>
              <a:rPr lang="en-US" sz="1700" b="1" i="0" u="none" strike="noStrike" cap="none">
                <a:solidFill>
                  <a:srgbClr val="17365D"/>
                </a:solidFill>
                <a:latin typeface="Times New Roman"/>
                <a:ea typeface="Times New Roman"/>
                <a:cs typeface="Times New Roman"/>
                <a:sym typeface="Times New Roman"/>
              </a:rPr>
              <a:t>Limited portable preliminary screening</a:t>
            </a:r>
            <a:endParaRPr sz="1700" b="0" i="0" u="none" strike="noStrike" cap="none">
              <a:solidFill>
                <a:schemeClr val="dk1"/>
              </a:solidFill>
              <a:latin typeface="Times New Roman"/>
              <a:ea typeface="Times New Roman"/>
              <a:cs typeface="Times New Roman"/>
              <a:sym typeface="Times New Roman"/>
            </a:endParaRPr>
          </a:p>
        </p:txBody>
      </p:sp>
      <p:sp>
        <p:nvSpPr>
          <p:cNvPr id="96" name="Google Shape;96;p5"/>
          <p:cNvSpPr txBox="1"/>
          <p:nvPr/>
        </p:nvSpPr>
        <p:spPr>
          <a:xfrm>
            <a:off x="4494276" y="2011680"/>
            <a:ext cx="3200400" cy="21031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Laboratory screening involves sample handling, specialist equipment, transport and time. Portable tools may support preliminary field assessment, but the method depends on the substance and sample.</a:t>
            </a:r>
            <a:endParaRPr sz="1600" b="0" i="0" u="none" strike="noStrike" cap="none">
              <a:solidFill>
                <a:schemeClr val="dk1"/>
              </a:solidFill>
              <a:latin typeface="Times New Roman"/>
              <a:ea typeface="Times New Roman"/>
              <a:cs typeface="Times New Roman"/>
              <a:sym typeface="Times New Roman"/>
            </a:endParaRPr>
          </a:p>
        </p:txBody>
      </p:sp>
      <p:sp>
        <p:nvSpPr>
          <p:cNvPr id="97" name="Google Shape;97;p5"/>
          <p:cNvSpPr/>
          <p:nvPr/>
        </p:nvSpPr>
        <p:spPr>
          <a:xfrm>
            <a:off x="8165592" y="1143000"/>
            <a:ext cx="3566160" cy="3063240"/>
          </a:xfrm>
          <a:prstGeom prst="roundRect">
            <a:avLst>
              <a:gd name="adj" fmla="val 2388"/>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8348472" y="1280160"/>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000"/>
              <a:buFont typeface="Times New Roman"/>
              <a:buNone/>
            </a:pPr>
            <a:r>
              <a:rPr lang="en-US" sz="2000" b="1" i="0" u="none" strike="noStrike" cap="none">
                <a:solidFill>
                  <a:srgbClr val="FFFFFF"/>
                </a:solidFill>
                <a:latin typeface="Times New Roman"/>
                <a:ea typeface="Times New Roman"/>
                <a:cs typeface="Times New Roman"/>
                <a:sym typeface="Times New Roman"/>
              </a:rPr>
              <a:t>C</a:t>
            </a:r>
            <a:endParaRPr sz="2000" b="0" i="0" u="none" strike="noStrike" cap="none">
              <a:solidFill>
                <a:schemeClr val="dk1"/>
              </a:solidFill>
              <a:latin typeface="Times New Roman"/>
              <a:ea typeface="Times New Roman"/>
              <a:cs typeface="Times New Roman"/>
              <a:sym typeface="Times New Roman"/>
            </a:endParaRPr>
          </a:p>
        </p:txBody>
      </p:sp>
      <p:sp>
        <p:nvSpPr>
          <p:cNvPr id="99" name="Google Shape;99;p5"/>
          <p:cNvSpPr txBox="1"/>
          <p:nvPr/>
        </p:nvSpPr>
        <p:spPr>
          <a:xfrm>
            <a:off x="8988552" y="1234440"/>
            <a:ext cx="265176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700"/>
              <a:buFont typeface="Times New Roman"/>
              <a:buNone/>
            </a:pPr>
            <a:r>
              <a:rPr lang="en-US" sz="1700" b="1" i="0" u="none" strike="noStrike" cap="none">
                <a:solidFill>
                  <a:srgbClr val="17365D"/>
                </a:solidFill>
                <a:latin typeface="Times New Roman"/>
                <a:ea typeface="Times New Roman"/>
                <a:cs typeface="Times New Roman"/>
                <a:sym typeface="Times New Roman"/>
              </a:rPr>
              <a:t>Disconnected safety information</a:t>
            </a:r>
            <a:endParaRPr sz="1700" b="0" i="0" u="none" strike="noStrike" cap="none">
              <a:solidFill>
                <a:schemeClr val="dk1"/>
              </a:solidFill>
              <a:latin typeface="Times New Roman"/>
              <a:ea typeface="Times New Roman"/>
              <a:cs typeface="Times New Roman"/>
              <a:sym typeface="Times New Roman"/>
            </a:endParaRPr>
          </a:p>
        </p:txBody>
      </p:sp>
      <p:sp>
        <p:nvSpPr>
          <p:cNvPr id="100" name="Google Shape;100;p5"/>
          <p:cNvSpPr txBox="1"/>
          <p:nvPr/>
        </p:nvSpPr>
        <p:spPr>
          <a:xfrm>
            <a:off x="8348472" y="2011680"/>
            <a:ext cx="3200400" cy="21031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Accident alerts and wearable screening usually work separately. A shared platform could show different safety events to authorized staff in one consistent interface.</a:t>
            </a:r>
            <a:endParaRPr sz="1600" b="0" i="0" u="none" strike="noStrike" cap="none">
              <a:solidFill>
                <a:schemeClr val="dk1"/>
              </a:solidFill>
              <a:latin typeface="Times New Roman"/>
              <a:ea typeface="Times New Roman"/>
              <a:cs typeface="Times New Roman"/>
              <a:sym typeface="Times New Roman"/>
            </a:endParaRPr>
          </a:p>
        </p:txBody>
      </p:sp>
      <p:sp>
        <p:nvSpPr>
          <p:cNvPr id="101" name="Google Shape;101;p5"/>
          <p:cNvSpPr/>
          <p:nvPr/>
        </p:nvSpPr>
        <p:spPr>
          <a:xfrm>
            <a:off x="457200" y="4370832"/>
            <a:ext cx="11274552" cy="777240"/>
          </a:xfrm>
          <a:prstGeom prst="roundRect">
            <a:avLst>
              <a:gd name="adj" fmla="val 9412"/>
            </a:avLst>
          </a:prstGeom>
          <a:solidFill>
            <a:srgbClr val="FBF3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txBox="1"/>
          <p:nvPr/>
        </p:nvSpPr>
        <p:spPr>
          <a:xfrm>
            <a:off x="640080" y="4407408"/>
            <a:ext cx="1092708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400"/>
              <a:buFont typeface="Times New Roman"/>
              <a:buNone/>
            </a:pPr>
            <a:r>
              <a:rPr lang="en-US" sz="1400" b="1" i="0" u="none" strike="noStrike" cap="none">
                <a:solidFill>
                  <a:srgbClr val="3F4650"/>
                </a:solidFill>
                <a:latin typeface="Times New Roman"/>
                <a:ea typeface="Times New Roman"/>
                <a:cs typeface="Times New Roman"/>
                <a:sym typeface="Times New Roman"/>
              </a:rPr>
              <a:t>Honest scope: </a:t>
            </a:r>
            <a:r>
              <a:rPr lang="en-US" sz="1400" b="0" i="0" u="none" strike="noStrike" cap="none">
                <a:solidFill>
                  <a:srgbClr val="3F4650"/>
                </a:solidFill>
                <a:latin typeface="Times New Roman"/>
                <a:ea typeface="Times New Roman"/>
                <a:cs typeface="Times New Roman"/>
                <a:sym typeface="Times New Roman"/>
              </a:rPr>
              <a:t>the wristband screens for alcohol exposure and monitors temperature. It does not detect NDPS (Narcotic Drugs and Psychotropic Substances). Those need a separately validated method, suitable samples and confirmatory testing.</a:t>
            </a:r>
            <a:endParaRPr sz="1400" b="0" i="0" u="none" strike="noStrike" cap="none">
              <a:solidFill>
                <a:schemeClr val="dk1"/>
              </a:solidFill>
              <a:latin typeface="Times New Roman"/>
              <a:ea typeface="Times New Roman"/>
              <a:cs typeface="Times New Roman"/>
              <a:sym typeface="Times New Roman"/>
            </a:endParaRPr>
          </a:p>
        </p:txBody>
      </p:sp>
      <p:sp>
        <p:nvSpPr>
          <p:cNvPr id="103" name="Google Shape;103;p5"/>
          <p:cNvSpPr/>
          <p:nvPr/>
        </p:nvSpPr>
        <p:spPr>
          <a:xfrm>
            <a:off x="457200" y="5303520"/>
            <a:ext cx="11274552" cy="1005840"/>
          </a:xfrm>
          <a:prstGeom prst="roundRect">
            <a:avLst>
              <a:gd name="adj" fmla="val 7273"/>
            </a:avLst>
          </a:prstGeom>
          <a:solidFill>
            <a:srgbClr val="17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txBox="1"/>
          <p:nvPr/>
        </p:nvSpPr>
        <p:spPr>
          <a:xfrm>
            <a:off x="731520" y="5349240"/>
            <a:ext cx="107442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Times New Roman"/>
              <a:buNone/>
            </a:pPr>
            <a:r>
              <a:rPr lang="en-US" sz="1800" b="1" i="0" u="none" strike="noStrike" cap="none">
                <a:solidFill>
                  <a:srgbClr val="FFFFFF"/>
                </a:solidFill>
                <a:latin typeface="Times New Roman"/>
                <a:ea typeface="Times New Roman"/>
                <a:cs typeface="Times New Roman"/>
                <a:sym typeface="Times New Roman"/>
              </a:rPr>
              <a:t>There is a need for a portable, modular, cost-conscious system that supports rapid accident alerts and preliminary wearable screening, while keeping the two detection methods separate.</a:t>
            </a:r>
            <a:endParaRPr sz="1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9"/>
        <p:cNvGrpSpPr/>
        <p:nvPr/>
      </p:nvGrpSpPr>
      <p:grpSpPr>
        <a:xfrm>
          <a:off x="0" y="0"/>
          <a:ext cx="0" cy="0"/>
          <a:chOff x="0" y="0"/>
          <a:chExt cx="0" cy="0"/>
        </a:xfrm>
      </p:grpSpPr>
      <p:sp>
        <p:nvSpPr>
          <p:cNvPr id="110" name="Google Shape;110;p6"/>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Proposed unified solution</a:t>
            </a:r>
            <a:endParaRPr sz="3000" b="0" i="0" u="none" strike="noStrike" cap="none">
              <a:solidFill>
                <a:schemeClr val="dk1"/>
              </a:solidFill>
              <a:latin typeface="Times New Roman"/>
              <a:ea typeface="Times New Roman"/>
              <a:cs typeface="Times New Roman"/>
              <a:sym typeface="Times New Roman"/>
            </a:endParaRPr>
          </a:p>
        </p:txBody>
      </p:sp>
      <p:sp>
        <p:nvSpPr>
          <p:cNvPr id="111" name="Google Shape;111;p6"/>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112" name="Google Shape;112;p6"/>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4</a:t>
            </a:r>
            <a:endParaRPr sz="1100" b="0" i="0" u="none" strike="noStrike" cap="none">
              <a:solidFill>
                <a:schemeClr val="dk1"/>
              </a:solidFill>
              <a:latin typeface="Times New Roman"/>
              <a:ea typeface="Times New Roman"/>
              <a:cs typeface="Times New Roman"/>
              <a:sym typeface="Times New Roman"/>
            </a:endParaRPr>
          </a:p>
        </p:txBody>
      </p:sp>
      <p:sp>
        <p:nvSpPr>
          <p:cNvPr id="113" name="Google Shape;113;p6"/>
          <p:cNvSpPr/>
          <p:nvPr/>
        </p:nvSpPr>
        <p:spPr>
          <a:xfrm>
            <a:off x="457200" y="1143000"/>
            <a:ext cx="3383280" cy="4297680"/>
          </a:xfrm>
          <a:prstGeom prst="roundRect">
            <a:avLst>
              <a:gd name="adj" fmla="val 2162"/>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6"/>
          <p:cNvSpPr/>
          <p:nvPr/>
        </p:nvSpPr>
        <p:spPr>
          <a:xfrm>
            <a:off x="594360" y="1261872"/>
            <a:ext cx="457200" cy="45720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Times New Roman"/>
              <a:buNone/>
            </a:pPr>
            <a:r>
              <a:rPr lang="en-US" sz="1800" b="1" i="0" u="none" strike="noStrike" cap="none">
                <a:solidFill>
                  <a:srgbClr val="FFFFFF"/>
                </a:solidFill>
                <a:latin typeface="Times New Roman"/>
                <a:ea typeface="Times New Roman"/>
                <a:cs typeface="Times New Roman"/>
                <a:sym typeface="Times New Roman"/>
              </a:rPr>
              <a:t>A</a:t>
            </a:r>
            <a:endParaRPr sz="1800" b="0" i="0" u="none" strike="noStrike" cap="none">
              <a:solidFill>
                <a:schemeClr val="dk1"/>
              </a:solidFill>
              <a:latin typeface="Times New Roman"/>
              <a:ea typeface="Times New Roman"/>
              <a:cs typeface="Times New Roman"/>
              <a:sym typeface="Times New Roman"/>
            </a:endParaRPr>
          </a:p>
        </p:txBody>
      </p:sp>
      <p:sp>
        <p:nvSpPr>
          <p:cNvPr id="115" name="Google Shape;115;p6"/>
          <p:cNvSpPr txBox="1"/>
          <p:nvPr/>
        </p:nvSpPr>
        <p:spPr>
          <a:xfrm>
            <a:off x="1143000" y="1188720"/>
            <a:ext cx="260604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500"/>
              <a:buFont typeface="Times New Roman"/>
              <a:buNone/>
            </a:pPr>
            <a:r>
              <a:rPr lang="en-US" sz="1500" b="1" i="0" u="none" strike="noStrike" cap="none">
                <a:solidFill>
                  <a:srgbClr val="17365D"/>
                </a:solidFill>
                <a:latin typeface="Times New Roman"/>
                <a:ea typeface="Times New Roman"/>
                <a:cs typeface="Times New Roman"/>
                <a:sym typeface="Times New Roman"/>
              </a:rPr>
              <a:t>Vehicle accident detection and LoRa emergency alert</a:t>
            </a:r>
            <a:endParaRPr sz="1500" b="0" i="0" u="none" strike="noStrike" cap="none">
              <a:solidFill>
                <a:schemeClr val="dk1"/>
              </a:solidFill>
              <a:latin typeface="Times New Roman"/>
              <a:ea typeface="Times New Roman"/>
              <a:cs typeface="Times New Roman"/>
              <a:sym typeface="Times New Roman"/>
            </a:endParaRPr>
          </a:p>
        </p:txBody>
      </p:sp>
      <p:sp>
        <p:nvSpPr>
          <p:cNvPr id="116" name="Google Shape;116;p6"/>
          <p:cNvSpPr txBox="1"/>
          <p:nvPr/>
        </p:nvSpPr>
        <p:spPr>
          <a:xfrm>
            <a:off x="594360" y="1874520"/>
            <a:ext cx="3108960" cy="3474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F8A62"/>
              </a:buClr>
              <a:buSzPts val="1400"/>
              <a:buFont typeface="Times New Roman"/>
              <a:buNone/>
            </a:pPr>
            <a:r>
              <a:rPr lang="en-US" sz="1400" b="1" i="0" u="none" strike="noStrike" cap="none">
                <a:solidFill>
                  <a:srgbClr val="4F8A62"/>
                </a:solidFill>
                <a:latin typeface="Times New Roman"/>
                <a:ea typeface="Times New Roman"/>
                <a:cs typeface="Times New Roman"/>
                <a:sym typeface="Times New Roman"/>
              </a:rPr>
              <a:t>In source design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3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Accelerometer and gyroscope detection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GPS location and timestamp</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LoRa (Long Range) radio link to a gateway</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Confirmation and manual cancellation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Optional GSM fallback</a:t>
            </a: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400"/>
              </a:spcBef>
              <a:spcAft>
                <a:spcPts val="0"/>
              </a:spcAft>
              <a:buClr>
                <a:srgbClr val="168C8C"/>
              </a:buClr>
              <a:buSzPts val="1400"/>
              <a:buFont typeface="Times New Roman"/>
              <a:buNone/>
            </a:pPr>
            <a:r>
              <a:rPr lang="en-US" sz="1400" b="1" i="0" u="none" strike="noStrike" cap="none">
                <a:solidFill>
                  <a:srgbClr val="168C8C"/>
                </a:solidFill>
                <a:latin typeface="Times New Roman"/>
                <a:ea typeface="Times New Roman"/>
                <a:cs typeface="Times New Roman"/>
                <a:sym typeface="Times New Roman"/>
              </a:rPr>
              <a:t>To develop for integration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3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Nearest-facility lookup service</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Notification interfaces</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Field calibration of thresholds</a:t>
            </a:r>
            <a:endParaRPr sz="1400" b="0" i="0" u="none" strike="noStrike" cap="none">
              <a:solidFill>
                <a:schemeClr val="dk1"/>
              </a:solidFill>
              <a:latin typeface="Times New Roman"/>
              <a:ea typeface="Times New Roman"/>
              <a:cs typeface="Times New Roman"/>
              <a:sym typeface="Times New Roman"/>
            </a:endParaRPr>
          </a:p>
        </p:txBody>
      </p:sp>
      <p:sp>
        <p:nvSpPr>
          <p:cNvPr id="117" name="Google Shape;117;p6"/>
          <p:cNvSpPr/>
          <p:nvPr/>
        </p:nvSpPr>
        <p:spPr>
          <a:xfrm>
            <a:off x="4402836" y="1143000"/>
            <a:ext cx="3383280" cy="4297680"/>
          </a:xfrm>
          <a:prstGeom prst="roundRect">
            <a:avLst>
              <a:gd name="adj" fmla="val 2162"/>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6"/>
          <p:cNvSpPr/>
          <p:nvPr/>
        </p:nvSpPr>
        <p:spPr>
          <a:xfrm>
            <a:off x="4539996" y="1261872"/>
            <a:ext cx="457200" cy="45720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Times New Roman"/>
              <a:buNone/>
            </a:pPr>
            <a:r>
              <a:rPr lang="en-US" sz="1800" b="1" i="0" u="none" strike="noStrike" cap="none">
                <a:solidFill>
                  <a:srgbClr val="FFFFFF"/>
                </a:solidFill>
                <a:latin typeface="Times New Roman"/>
                <a:ea typeface="Times New Roman"/>
                <a:cs typeface="Times New Roman"/>
                <a:sym typeface="Times New Roman"/>
              </a:rPr>
              <a:t>C</a:t>
            </a:r>
            <a:endParaRPr sz="1800" b="0" i="0" u="none" strike="noStrike" cap="none">
              <a:solidFill>
                <a:schemeClr val="dk1"/>
              </a:solidFill>
              <a:latin typeface="Times New Roman"/>
              <a:ea typeface="Times New Roman"/>
              <a:cs typeface="Times New Roman"/>
              <a:sym typeface="Times New Roman"/>
            </a:endParaRPr>
          </a:p>
        </p:txBody>
      </p:sp>
      <p:sp>
        <p:nvSpPr>
          <p:cNvPr id="119" name="Google Shape;119;p6"/>
          <p:cNvSpPr txBox="1"/>
          <p:nvPr/>
        </p:nvSpPr>
        <p:spPr>
          <a:xfrm>
            <a:off x="5088636" y="1188720"/>
            <a:ext cx="260604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500"/>
              <a:buFont typeface="Times New Roman"/>
              <a:buNone/>
            </a:pPr>
            <a:r>
              <a:rPr lang="en-US" sz="1500" b="1" i="0" u="none" strike="noStrike" cap="none">
                <a:solidFill>
                  <a:srgbClr val="17365D"/>
                </a:solidFill>
                <a:latin typeface="Times New Roman"/>
                <a:ea typeface="Times New Roman"/>
                <a:cs typeface="Times New Roman"/>
                <a:sym typeface="Times New Roman"/>
              </a:rPr>
              <a:t>Shared monitoring, logging, and notification platform</a:t>
            </a:r>
            <a:endParaRPr sz="1500" b="0" i="0" u="none" strike="noStrike" cap="none">
              <a:solidFill>
                <a:schemeClr val="dk1"/>
              </a:solidFill>
              <a:latin typeface="Times New Roman"/>
              <a:ea typeface="Times New Roman"/>
              <a:cs typeface="Times New Roman"/>
              <a:sym typeface="Times New Roman"/>
            </a:endParaRPr>
          </a:p>
        </p:txBody>
      </p:sp>
      <p:sp>
        <p:nvSpPr>
          <p:cNvPr id="120" name="Google Shape;120;p6"/>
          <p:cNvSpPr txBox="1"/>
          <p:nvPr/>
        </p:nvSpPr>
        <p:spPr>
          <a:xfrm>
            <a:off x="4539996" y="1874520"/>
            <a:ext cx="3108960" cy="3474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F8A62"/>
              </a:buClr>
              <a:buSzPts val="1400"/>
              <a:buFont typeface="Times New Roman"/>
              <a:buNone/>
            </a:pPr>
            <a:r>
              <a:rPr lang="en-US" sz="1400" b="1" i="0" u="none" strike="noStrike" cap="none">
                <a:solidFill>
                  <a:srgbClr val="4F8A62"/>
                </a:solidFill>
                <a:latin typeface="Times New Roman"/>
                <a:ea typeface="Times New Roman"/>
                <a:cs typeface="Times New Roman"/>
                <a:sym typeface="Times New Roman"/>
              </a:rPr>
              <a:t>In source design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3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Nothing implemented yet; this block is proposed</a:t>
            </a: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400"/>
              </a:spcBef>
              <a:spcAft>
                <a:spcPts val="0"/>
              </a:spcAft>
              <a:buClr>
                <a:srgbClr val="168C8C"/>
              </a:buClr>
              <a:buSzPts val="1400"/>
              <a:buFont typeface="Times New Roman"/>
              <a:buNone/>
            </a:pPr>
            <a:r>
              <a:rPr lang="en-US" sz="1400" b="1" i="0" u="none" strike="noStrike" cap="none">
                <a:solidFill>
                  <a:srgbClr val="168C8C"/>
                </a:solidFill>
                <a:latin typeface="Times New Roman"/>
                <a:ea typeface="Times New Roman"/>
                <a:cs typeface="Times New Roman"/>
                <a:sym typeface="Times New Roman"/>
              </a:rPr>
              <a:t>To develop for integration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3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Event database and dashboard</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Separate incident categories</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Device IDs, timestamps, event logs</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Access control, secure communication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Rule-based notifications</a:t>
            </a:r>
            <a:endParaRPr sz="1400" b="0" i="0" u="none" strike="noStrike" cap="none">
              <a:solidFill>
                <a:schemeClr val="dk1"/>
              </a:solidFill>
              <a:latin typeface="Times New Roman"/>
              <a:ea typeface="Times New Roman"/>
              <a:cs typeface="Times New Roman"/>
              <a:sym typeface="Times New Roman"/>
            </a:endParaRPr>
          </a:p>
        </p:txBody>
      </p:sp>
      <p:sp>
        <p:nvSpPr>
          <p:cNvPr id="121" name="Google Shape;121;p6"/>
          <p:cNvSpPr/>
          <p:nvPr/>
        </p:nvSpPr>
        <p:spPr>
          <a:xfrm>
            <a:off x="8348472" y="1143000"/>
            <a:ext cx="3383280" cy="4297680"/>
          </a:xfrm>
          <a:prstGeom prst="roundRect">
            <a:avLst>
              <a:gd name="adj" fmla="val 2162"/>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6"/>
          <p:cNvSpPr/>
          <p:nvPr/>
        </p:nvSpPr>
        <p:spPr>
          <a:xfrm>
            <a:off x="8485632" y="1261872"/>
            <a:ext cx="457200" cy="457200"/>
          </a:xfrm>
          <a:prstGeom prst="ellipse">
            <a:avLst/>
          </a:prstGeom>
          <a:solidFill>
            <a:srgbClr val="3F4650"/>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Times New Roman"/>
              <a:buNone/>
            </a:pPr>
            <a:r>
              <a:rPr lang="en-US" sz="1800" b="1" i="0" u="none" strike="noStrike" cap="none">
                <a:solidFill>
                  <a:srgbClr val="FFFFFF"/>
                </a:solidFill>
                <a:latin typeface="Times New Roman"/>
                <a:ea typeface="Times New Roman"/>
                <a:cs typeface="Times New Roman"/>
                <a:sym typeface="Times New Roman"/>
              </a:rPr>
              <a:t>B</a:t>
            </a:r>
            <a:endParaRPr sz="1800" b="0" i="0" u="none" strike="noStrike" cap="none">
              <a:solidFill>
                <a:schemeClr val="dk1"/>
              </a:solidFill>
              <a:latin typeface="Times New Roman"/>
              <a:ea typeface="Times New Roman"/>
              <a:cs typeface="Times New Roman"/>
              <a:sym typeface="Times New Roman"/>
            </a:endParaRPr>
          </a:p>
        </p:txBody>
      </p:sp>
      <p:sp>
        <p:nvSpPr>
          <p:cNvPr id="123" name="Google Shape;123;p6"/>
          <p:cNvSpPr txBox="1"/>
          <p:nvPr/>
        </p:nvSpPr>
        <p:spPr>
          <a:xfrm>
            <a:off x="9034272" y="1188720"/>
            <a:ext cx="260604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500"/>
              <a:buFont typeface="Times New Roman"/>
              <a:buNone/>
            </a:pPr>
            <a:r>
              <a:rPr lang="en-US" sz="1500" b="1" i="0" u="none" strike="noStrike" cap="none">
                <a:solidFill>
                  <a:srgbClr val="17365D"/>
                </a:solidFill>
                <a:latin typeface="Times New Roman"/>
                <a:ea typeface="Times New Roman"/>
                <a:cs typeface="Times New Roman"/>
                <a:sym typeface="Times New Roman"/>
              </a:rPr>
              <a:t>Wearable alcohol-exposure and temperature screening</a:t>
            </a:r>
            <a:endParaRPr sz="1500" b="0" i="0" u="none" strike="noStrike" cap="none">
              <a:solidFill>
                <a:schemeClr val="dk1"/>
              </a:solidFill>
              <a:latin typeface="Times New Roman"/>
              <a:ea typeface="Times New Roman"/>
              <a:cs typeface="Times New Roman"/>
              <a:sym typeface="Times New Roman"/>
            </a:endParaRPr>
          </a:p>
        </p:txBody>
      </p:sp>
      <p:sp>
        <p:nvSpPr>
          <p:cNvPr id="124" name="Google Shape;124;p6"/>
          <p:cNvSpPr txBox="1"/>
          <p:nvPr/>
        </p:nvSpPr>
        <p:spPr>
          <a:xfrm>
            <a:off x="8485632" y="1874520"/>
            <a:ext cx="3108960" cy="3474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F8A62"/>
              </a:buClr>
              <a:buSzPts val="1400"/>
              <a:buFont typeface="Times New Roman"/>
              <a:buNone/>
            </a:pPr>
            <a:r>
              <a:rPr lang="en-US" sz="1400" b="1" i="0" u="none" strike="noStrike" cap="none">
                <a:solidFill>
                  <a:srgbClr val="4F8A62"/>
                </a:solidFill>
                <a:latin typeface="Times New Roman"/>
                <a:ea typeface="Times New Roman"/>
                <a:cs typeface="Times New Roman"/>
                <a:sym typeface="Times New Roman"/>
              </a:rPr>
              <a:t>In source design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3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Arduino Nano with MQ-3 and MLX90614</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OLED, LEDs and buzzer</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Moving-average filtering</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AWTRA rule-based risk score</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Runs locally on the device</a:t>
            </a:r>
            <a:endParaRPr sz="1400" b="0" i="0" u="none" strike="noStrike" cap="none">
              <a:solidFill>
                <a:schemeClr val="dk1"/>
              </a:solidFill>
              <a:latin typeface="Times New Roman"/>
              <a:ea typeface="Times New Roman"/>
              <a:cs typeface="Times New Roman"/>
              <a:sym typeface="Times New Roman"/>
            </a:endParaRPr>
          </a:p>
          <a:p>
            <a:pPr marL="0" marR="0" lvl="0" indent="0" algn="l" rtl="0">
              <a:spcBef>
                <a:spcPts val="400"/>
              </a:spcBef>
              <a:spcAft>
                <a:spcPts val="0"/>
              </a:spcAft>
              <a:buClr>
                <a:srgbClr val="168C8C"/>
              </a:buClr>
              <a:buSzPts val="1400"/>
              <a:buFont typeface="Times New Roman"/>
              <a:buNone/>
            </a:pPr>
            <a:r>
              <a:rPr lang="en-US" sz="1400" b="1" i="0" u="none" strike="noStrike" cap="none">
                <a:solidFill>
                  <a:srgbClr val="168C8C"/>
                </a:solidFill>
                <a:latin typeface="Times New Roman"/>
                <a:ea typeface="Times New Roman"/>
                <a:cs typeface="Times New Roman"/>
                <a:sym typeface="Times New Roman"/>
              </a:rPr>
              <a:t>To develop for integration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3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Optional authorized data link</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Sensor calibration and validation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400"/>
              <a:buFont typeface="Times New Roman"/>
              <a:buChar char="•"/>
            </a:pPr>
            <a:r>
              <a:rPr lang="en-US" sz="1400" b="0" i="0" u="none" strike="noStrike" cap="none">
                <a:solidFill>
                  <a:srgbClr val="3F4650"/>
                </a:solidFill>
                <a:latin typeface="Times New Roman"/>
                <a:ea typeface="Times New Roman"/>
                <a:cs typeface="Times New Roman"/>
                <a:sym typeface="Times New Roman"/>
              </a:rPr>
              <a:t>Consent and privacy controls</a:t>
            </a:r>
            <a:endParaRPr sz="1400" b="0" i="0" u="none" strike="noStrike" cap="none">
              <a:solidFill>
                <a:schemeClr val="dk1"/>
              </a:solidFill>
              <a:latin typeface="Times New Roman"/>
              <a:ea typeface="Times New Roman"/>
              <a:cs typeface="Times New Roman"/>
              <a:sym typeface="Times New Roman"/>
            </a:endParaRPr>
          </a:p>
        </p:txBody>
      </p:sp>
      <p:cxnSp>
        <p:nvCxnSpPr>
          <p:cNvPr id="125" name="Google Shape;125;p6"/>
          <p:cNvCxnSpPr/>
          <p:nvPr/>
        </p:nvCxnSpPr>
        <p:spPr>
          <a:xfrm>
            <a:off x="3840480" y="3291840"/>
            <a:ext cx="562356" cy="0"/>
          </a:xfrm>
          <a:prstGeom prst="straightConnector1">
            <a:avLst/>
          </a:prstGeom>
          <a:noFill/>
          <a:ln w="28575" cap="flat" cmpd="sng">
            <a:solidFill>
              <a:srgbClr val="5B636E"/>
            </a:solidFill>
            <a:prstDash val="solid"/>
            <a:round/>
            <a:headEnd type="none" w="sm" len="sm"/>
            <a:tailEnd type="triangle" w="med" len="med"/>
          </a:ln>
        </p:spPr>
      </p:cxnSp>
      <p:cxnSp>
        <p:nvCxnSpPr>
          <p:cNvPr id="126" name="Google Shape;126;p6"/>
          <p:cNvCxnSpPr/>
          <p:nvPr/>
        </p:nvCxnSpPr>
        <p:spPr>
          <a:xfrm rot="10800000">
            <a:off x="7786116" y="3291840"/>
            <a:ext cx="562356" cy="0"/>
          </a:xfrm>
          <a:prstGeom prst="straightConnector1">
            <a:avLst/>
          </a:prstGeom>
          <a:noFill/>
          <a:ln w="28575" cap="flat" cmpd="sng">
            <a:solidFill>
              <a:srgbClr val="168C8C"/>
            </a:solidFill>
            <a:prstDash val="dash"/>
            <a:round/>
            <a:headEnd type="none" w="sm" len="sm"/>
            <a:tailEnd type="triangle" w="med" len="med"/>
          </a:ln>
        </p:spPr>
      </p:cxnSp>
      <p:sp>
        <p:nvSpPr>
          <p:cNvPr id="127" name="Google Shape;127;p6"/>
          <p:cNvSpPr/>
          <p:nvPr/>
        </p:nvSpPr>
        <p:spPr>
          <a:xfrm>
            <a:off x="457200" y="5623560"/>
            <a:ext cx="11274552" cy="685800"/>
          </a:xfrm>
          <a:prstGeom prst="roundRect">
            <a:avLst>
              <a:gd name="adj" fmla="val 10667"/>
            </a:avLst>
          </a:prstGeom>
          <a:solidFill>
            <a:srgbClr val="E3F1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6"/>
          <p:cNvSpPr txBox="1"/>
          <p:nvPr/>
        </p:nvSpPr>
        <p:spPr>
          <a:xfrm>
            <a:off x="640080" y="5650992"/>
            <a:ext cx="1092708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600"/>
              <a:buFont typeface="Times New Roman"/>
              <a:buNone/>
            </a:pPr>
            <a:r>
              <a:rPr lang="en-US" sz="1600" b="1" i="0" u="none" strike="noStrike" cap="none">
                <a:solidFill>
                  <a:srgbClr val="17365D"/>
                </a:solidFill>
                <a:latin typeface="Times New Roman"/>
                <a:ea typeface="Times New Roman"/>
                <a:cs typeface="Times New Roman"/>
                <a:sym typeface="Times New Roman"/>
              </a:rPr>
              <a:t>Design principle: two independent detection methods, one optional shared platform. The wristband never depends on the vehicle module.</a:t>
            </a:r>
            <a:endParaRPr sz="16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sp>
        <p:nvSpPr>
          <p:cNvPr id="134" name="Google Shape;134;p7"/>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Objectives and scope</a:t>
            </a:r>
            <a:endParaRPr sz="3000" b="0" i="0" u="none" strike="noStrike" cap="none">
              <a:solidFill>
                <a:schemeClr val="dk1"/>
              </a:solidFill>
              <a:latin typeface="Times New Roman"/>
              <a:ea typeface="Times New Roman"/>
              <a:cs typeface="Times New Roman"/>
              <a:sym typeface="Times New Roman"/>
            </a:endParaRPr>
          </a:p>
        </p:txBody>
      </p:sp>
      <p:sp>
        <p:nvSpPr>
          <p:cNvPr id="135" name="Google Shape;135;p7"/>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136" name="Google Shape;136;p7"/>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5</a:t>
            </a:r>
            <a:endParaRPr sz="1100" b="0" i="0" u="none" strike="noStrike" cap="none">
              <a:solidFill>
                <a:schemeClr val="dk1"/>
              </a:solidFill>
              <a:latin typeface="Times New Roman"/>
              <a:ea typeface="Times New Roman"/>
              <a:cs typeface="Times New Roman"/>
              <a:sym typeface="Times New Roman"/>
            </a:endParaRPr>
          </a:p>
        </p:txBody>
      </p:sp>
      <p:sp>
        <p:nvSpPr>
          <p:cNvPr id="137" name="Google Shape;137;p7"/>
          <p:cNvSpPr/>
          <p:nvPr/>
        </p:nvSpPr>
        <p:spPr>
          <a:xfrm>
            <a:off x="457200" y="1234440"/>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1</a:t>
            </a:r>
            <a:endParaRPr sz="1700" b="0" i="0" u="none" strike="noStrike" cap="none">
              <a:solidFill>
                <a:schemeClr val="dk1"/>
              </a:solidFill>
              <a:latin typeface="Times New Roman"/>
              <a:ea typeface="Times New Roman"/>
              <a:cs typeface="Times New Roman"/>
              <a:sym typeface="Times New Roman"/>
            </a:endParaRPr>
          </a:p>
        </p:txBody>
      </p:sp>
      <p:sp>
        <p:nvSpPr>
          <p:cNvPr id="138" name="Google Shape;138;p7"/>
          <p:cNvSpPr txBox="1"/>
          <p:nvPr/>
        </p:nvSpPr>
        <p:spPr>
          <a:xfrm>
            <a:off x="1188720" y="1188720"/>
            <a:ext cx="576072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700"/>
              <a:buFont typeface="Times New Roman"/>
              <a:buNone/>
            </a:pPr>
            <a:r>
              <a:rPr lang="en-US" sz="1700" b="0" i="0" u="none" strike="noStrike" cap="none">
                <a:solidFill>
                  <a:srgbClr val="3F4650"/>
                </a:solidFill>
                <a:latin typeface="Times New Roman"/>
                <a:ea typeface="Times New Roman"/>
                <a:cs typeface="Times New Roman"/>
                <a:sym typeface="Times New Roman"/>
              </a:rPr>
              <a:t>Detect potential vehicle collisions and rollovers</a:t>
            </a:r>
            <a:endParaRPr sz="1700" b="0" i="0" u="none" strike="noStrike" cap="none">
              <a:solidFill>
                <a:schemeClr val="dk1"/>
              </a:solidFill>
              <a:latin typeface="Times New Roman"/>
              <a:ea typeface="Times New Roman"/>
              <a:cs typeface="Times New Roman"/>
              <a:sym typeface="Times New Roman"/>
            </a:endParaRPr>
          </a:p>
        </p:txBody>
      </p:sp>
      <p:sp>
        <p:nvSpPr>
          <p:cNvPr id="139" name="Google Shape;139;p7"/>
          <p:cNvSpPr/>
          <p:nvPr/>
        </p:nvSpPr>
        <p:spPr>
          <a:xfrm>
            <a:off x="457200" y="1947672"/>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2</a:t>
            </a:r>
            <a:endParaRPr sz="1700" b="0" i="0" u="none" strike="noStrike" cap="none">
              <a:solidFill>
                <a:schemeClr val="dk1"/>
              </a:solidFill>
              <a:latin typeface="Times New Roman"/>
              <a:ea typeface="Times New Roman"/>
              <a:cs typeface="Times New Roman"/>
              <a:sym typeface="Times New Roman"/>
            </a:endParaRPr>
          </a:p>
        </p:txBody>
      </p:sp>
      <p:sp>
        <p:nvSpPr>
          <p:cNvPr id="140" name="Google Shape;140;p7"/>
          <p:cNvSpPr txBox="1"/>
          <p:nvPr/>
        </p:nvSpPr>
        <p:spPr>
          <a:xfrm>
            <a:off x="1188720" y="1901952"/>
            <a:ext cx="576072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700"/>
              <a:buFont typeface="Times New Roman"/>
              <a:buNone/>
            </a:pPr>
            <a:r>
              <a:rPr lang="en-US" sz="1700" b="0" i="0" u="none" strike="noStrike" cap="none">
                <a:solidFill>
                  <a:srgbClr val="3F4650"/>
                </a:solidFill>
                <a:latin typeface="Times New Roman"/>
                <a:ea typeface="Times New Roman"/>
                <a:cs typeface="Times New Roman"/>
                <a:sym typeface="Times New Roman"/>
              </a:rPr>
              <a:t>Report location through a LoRa gateway architecture</a:t>
            </a:r>
            <a:endParaRPr sz="1700" b="0" i="0" u="none" strike="noStrike" cap="none">
              <a:solidFill>
                <a:schemeClr val="dk1"/>
              </a:solidFill>
              <a:latin typeface="Times New Roman"/>
              <a:ea typeface="Times New Roman"/>
              <a:cs typeface="Times New Roman"/>
              <a:sym typeface="Times New Roman"/>
            </a:endParaRPr>
          </a:p>
        </p:txBody>
      </p:sp>
      <p:sp>
        <p:nvSpPr>
          <p:cNvPr id="141" name="Google Shape;141;p7"/>
          <p:cNvSpPr/>
          <p:nvPr/>
        </p:nvSpPr>
        <p:spPr>
          <a:xfrm>
            <a:off x="457200" y="2660904"/>
            <a:ext cx="502920" cy="502920"/>
          </a:xfrm>
          <a:prstGeom prst="ellipse">
            <a:avLst/>
          </a:prstGeom>
          <a:solidFill>
            <a:srgbClr val="3F4650"/>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3</a:t>
            </a:r>
            <a:endParaRPr sz="1700" b="0" i="0" u="none" strike="noStrike" cap="none">
              <a:solidFill>
                <a:schemeClr val="dk1"/>
              </a:solidFill>
              <a:latin typeface="Times New Roman"/>
              <a:ea typeface="Times New Roman"/>
              <a:cs typeface="Times New Roman"/>
              <a:sym typeface="Times New Roman"/>
            </a:endParaRPr>
          </a:p>
        </p:txBody>
      </p:sp>
      <p:sp>
        <p:nvSpPr>
          <p:cNvPr id="142" name="Google Shape;142;p7"/>
          <p:cNvSpPr txBox="1"/>
          <p:nvPr/>
        </p:nvSpPr>
        <p:spPr>
          <a:xfrm>
            <a:off x="1188720" y="2615184"/>
            <a:ext cx="576072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700"/>
              <a:buFont typeface="Times New Roman"/>
              <a:buNone/>
            </a:pPr>
            <a:r>
              <a:rPr lang="en-US" sz="1700" b="0" i="0" u="none" strike="noStrike" cap="none">
                <a:solidFill>
                  <a:srgbClr val="3F4650"/>
                </a:solidFill>
                <a:latin typeface="Times New Roman"/>
                <a:ea typeface="Times New Roman"/>
                <a:cs typeface="Times New Roman"/>
                <a:sym typeface="Times New Roman"/>
              </a:rPr>
              <a:t>Provide portable preliminary wearable screening</a:t>
            </a:r>
            <a:endParaRPr sz="1700" b="0" i="0" u="none" strike="noStrike" cap="none">
              <a:solidFill>
                <a:schemeClr val="dk1"/>
              </a:solidFill>
              <a:latin typeface="Times New Roman"/>
              <a:ea typeface="Times New Roman"/>
              <a:cs typeface="Times New Roman"/>
              <a:sym typeface="Times New Roman"/>
            </a:endParaRPr>
          </a:p>
        </p:txBody>
      </p:sp>
      <p:sp>
        <p:nvSpPr>
          <p:cNvPr id="143" name="Google Shape;143;p7"/>
          <p:cNvSpPr/>
          <p:nvPr/>
        </p:nvSpPr>
        <p:spPr>
          <a:xfrm>
            <a:off x="457200" y="3374136"/>
            <a:ext cx="502920" cy="502920"/>
          </a:xfrm>
          <a:prstGeom prst="ellipse">
            <a:avLst/>
          </a:prstGeom>
          <a:solidFill>
            <a:srgbClr val="3F4650"/>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4</a:t>
            </a:r>
            <a:endParaRPr sz="1700" b="0" i="0" u="none" strike="noStrike" cap="none">
              <a:solidFill>
                <a:schemeClr val="dk1"/>
              </a:solidFill>
              <a:latin typeface="Times New Roman"/>
              <a:ea typeface="Times New Roman"/>
              <a:cs typeface="Times New Roman"/>
              <a:sym typeface="Times New Roman"/>
            </a:endParaRPr>
          </a:p>
        </p:txBody>
      </p:sp>
      <p:sp>
        <p:nvSpPr>
          <p:cNvPr id="144" name="Google Shape;144;p7"/>
          <p:cNvSpPr txBox="1"/>
          <p:nvPr/>
        </p:nvSpPr>
        <p:spPr>
          <a:xfrm>
            <a:off x="1188720" y="3328416"/>
            <a:ext cx="576072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700"/>
              <a:buFont typeface="Times New Roman"/>
              <a:buNone/>
            </a:pPr>
            <a:r>
              <a:rPr lang="en-US" sz="1700" b="0" i="0" u="none" strike="noStrike" cap="none">
                <a:solidFill>
                  <a:srgbClr val="3F4650"/>
                </a:solidFill>
                <a:latin typeface="Times New Roman"/>
                <a:ea typeface="Times New Roman"/>
                <a:cs typeface="Times New Roman"/>
                <a:sym typeface="Times New Roman"/>
              </a:rPr>
              <a:t>Apply lightweight on-device risk classification</a:t>
            </a:r>
            <a:endParaRPr sz="1700" b="0" i="0" u="none" strike="noStrike" cap="none">
              <a:solidFill>
                <a:schemeClr val="dk1"/>
              </a:solidFill>
              <a:latin typeface="Times New Roman"/>
              <a:ea typeface="Times New Roman"/>
              <a:cs typeface="Times New Roman"/>
              <a:sym typeface="Times New Roman"/>
            </a:endParaRPr>
          </a:p>
        </p:txBody>
      </p:sp>
      <p:sp>
        <p:nvSpPr>
          <p:cNvPr id="145" name="Google Shape;145;p7"/>
          <p:cNvSpPr/>
          <p:nvPr/>
        </p:nvSpPr>
        <p:spPr>
          <a:xfrm>
            <a:off x="457200" y="4087368"/>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5</a:t>
            </a:r>
            <a:endParaRPr sz="1700" b="0" i="0" u="none" strike="noStrike" cap="none">
              <a:solidFill>
                <a:schemeClr val="dk1"/>
              </a:solidFill>
              <a:latin typeface="Times New Roman"/>
              <a:ea typeface="Times New Roman"/>
              <a:cs typeface="Times New Roman"/>
              <a:sym typeface="Times New Roman"/>
            </a:endParaRPr>
          </a:p>
        </p:txBody>
      </p:sp>
      <p:sp>
        <p:nvSpPr>
          <p:cNvPr id="146" name="Google Shape;146;p7"/>
          <p:cNvSpPr txBox="1"/>
          <p:nvPr/>
        </p:nvSpPr>
        <p:spPr>
          <a:xfrm>
            <a:off x="1188720" y="4041648"/>
            <a:ext cx="576072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700"/>
              <a:buFont typeface="Times New Roman"/>
              <a:buNone/>
            </a:pPr>
            <a:r>
              <a:rPr lang="en-US" sz="1700" b="0" i="0" u="none" strike="noStrike" cap="none">
                <a:solidFill>
                  <a:srgbClr val="3F4650"/>
                </a:solidFill>
                <a:latin typeface="Times New Roman"/>
                <a:ea typeface="Times New Roman"/>
                <a:cs typeface="Times New Roman"/>
                <a:sym typeface="Times New Roman"/>
              </a:rPr>
              <a:t>Present separate event categories in one interface</a:t>
            </a:r>
            <a:endParaRPr sz="1700" b="0" i="0" u="none" strike="noStrike" cap="none">
              <a:solidFill>
                <a:schemeClr val="dk1"/>
              </a:solidFill>
              <a:latin typeface="Times New Roman"/>
              <a:ea typeface="Times New Roman"/>
              <a:cs typeface="Times New Roman"/>
              <a:sym typeface="Times New Roman"/>
            </a:endParaRPr>
          </a:p>
        </p:txBody>
      </p:sp>
      <p:sp>
        <p:nvSpPr>
          <p:cNvPr id="147" name="Google Shape;147;p7"/>
          <p:cNvSpPr/>
          <p:nvPr/>
        </p:nvSpPr>
        <p:spPr>
          <a:xfrm>
            <a:off x="457200" y="4800600"/>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6</a:t>
            </a:r>
            <a:endParaRPr sz="1700" b="0" i="0" u="none" strike="noStrike" cap="none">
              <a:solidFill>
                <a:schemeClr val="dk1"/>
              </a:solidFill>
              <a:latin typeface="Times New Roman"/>
              <a:ea typeface="Times New Roman"/>
              <a:cs typeface="Times New Roman"/>
              <a:sym typeface="Times New Roman"/>
            </a:endParaRPr>
          </a:p>
        </p:txBody>
      </p:sp>
      <p:sp>
        <p:nvSpPr>
          <p:cNvPr id="148" name="Google Shape;148;p7"/>
          <p:cNvSpPr txBox="1"/>
          <p:nvPr/>
        </p:nvSpPr>
        <p:spPr>
          <a:xfrm>
            <a:off x="1188720" y="4754880"/>
            <a:ext cx="576072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700"/>
              <a:buFont typeface="Times New Roman"/>
              <a:buNone/>
            </a:pPr>
            <a:r>
              <a:rPr lang="en-US" sz="1700" b="0" i="0" u="none" strike="noStrike" cap="none">
                <a:solidFill>
                  <a:srgbClr val="3F4650"/>
                </a:solidFill>
                <a:latin typeface="Times New Roman"/>
                <a:ea typeface="Times New Roman"/>
                <a:cs typeface="Times New Roman"/>
                <a:sym typeface="Times New Roman"/>
              </a:rPr>
              <a:t>Reduce avoidable false alerts with validation logic</a:t>
            </a:r>
            <a:endParaRPr sz="1700" b="0" i="0" u="none" strike="noStrike" cap="none">
              <a:solidFill>
                <a:schemeClr val="dk1"/>
              </a:solidFill>
              <a:latin typeface="Times New Roman"/>
              <a:ea typeface="Times New Roman"/>
              <a:cs typeface="Times New Roman"/>
              <a:sym typeface="Times New Roman"/>
            </a:endParaRPr>
          </a:p>
        </p:txBody>
      </p:sp>
      <p:sp>
        <p:nvSpPr>
          <p:cNvPr id="149" name="Google Shape;149;p7"/>
          <p:cNvSpPr/>
          <p:nvPr/>
        </p:nvSpPr>
        <p:spPr>
          <a:xfrm>
            <a:off x="457200" y="5513832"/>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7</a:t>
            </a:r>
            <a:endParaRPr sz="1700" b="0" i="0" u="none" strike="noStrike" cap="none">
              <a:solidFill>
                <a:schemeClr val="dk1"/>
              </a:solidFill>
              <a:latin typeface="Times New Roman"/>
              <a:ea typeface="Times New Roman"/>
              <a:cs typeface="Times New Roman"/>
              <a:sym typeface="Times New Roman"/>
            </a:endParaRPr>
          </a:p>
        </p:txBody>
      </p:sp>
      <p:sp>
        <p:nvSpPr>
          <p:cNvPr id="150" name="Google Shape;150;p7"/>
          <p:cNvSpPr txBox="1"/>
          <p:nvPr/>
        </p:nvSpPr>
        <p:spPr>
          <a:xfrm>
            <a:off x="1188720" y="5468112"/>
            <a:ext cx="576072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700"/>
              <a:buFont typeface="Times New Roman"/>
              <a:buNone/>
            </a:pPr>
            <a:r>
              <a:rPr lang="en-US" sz="1700" b="0" i="0" u="none" strike="noStrike" cap="none">
                <a:solidFill>
                  <a:srgbClr val="3F4650"/>
                </a:solidFill>
                <a:latin typeface="Times New Roman"/>
                <a:ea typeface="Times New Roman"/>
                <a:cs typeface="Times New Roman"/>
                <a:sym typeface="Times New Roman"/>
              </a:rPr>
              <a:t>Protect sensitive data and state technical limitations</a:t>
            </a:r>
            <a:endParaRPr sz="1700" b="0" i="0" u="none" strike="noStrike" cap="none">
              <a:solidFill>
                <a:schemeClr val="dk1"/>
              </a:solidFill>
              <a:latin typeface="Times New Roman"/>
              <a:ea typeface="Times New Roman"/>
              <a:cs typeface="Times New Roman"/>
              <a:sym typeface="Times New Roman"/>
            </a:endParaRPr>
          </a:p>
        </p:txBody>
      </p:sp>
      <p:sp>
        <p:nvSpPr>
          <p:cNvPr id="151" name="Google Shape;151;p7"/>
          <p:cNvSpPr/>
          <p:nvPr/>
        </p:nvSpPr>
        <p:spPr>
          <a:xfrm>
            <a:off x="7315200" y="1143000"/>
            <a:ext cx="4416552" cy="5074920"/>
          </a:xfrm>
          <a:prstGeom prst="roundRect">
            <a:avLst>
              <a:gd name="adj" fmla="val 1656"/>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7"/>
          <p:cNvSpPr txBox="1"/>
          <p:nvPr/>
        </p:nvSpPr>
        <p:spPr>
          <a:xfrm>
            <a:off x="7498080" y="1234440"/>
            <a:ext cx="40233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F8A62"/>
              </a:buClr>
              <a:buSzPts val="1800"/>
              <a:buFont typeface="Times New Roman"/>
              <a:buNone/>
            </a:pPr>
            <a:r>
              <a:rPr lang="en-US" sz="1800" b="1" i="0" u="none" strike="noStrike" cap="none">
                <a:solidFill>
                  <a:srgbClr val="4F8A62"/>
                </a:solidFill>
                <a:latin typeface="Times New Roman"/>
                <a:ea typeface="Times New Roman"/>
                <a:cs typeface="Times New Roman"/>
                <a:sym typeface="Times New Roman"/>
              </a:rPr>
              <a:t>In scope</a:t>
            </a:r>
            <a:endParaRPr sz="1800" b="0" i="0" u="none" strike="noStrike" cap="none">
              <a:solidFill>
                <a:schemeClr val="dk1"/>
              </a:solidFill>
              <a:latin typeface="Times New Roman"/>
              <a:ea typeface="Times New Roman"/>
              <a:cs typeface="Times New Roman"/>
              <a:sym typeface="Times New Roman"/>
            </a:endParaRPr>
          </a:p>
        </p:txBody>
      </p:sp>
      <p:sp>
        <p:nvSpPr>
          <p:cNvPr id="153" name="Google Shape;153;p7"/>
          <p:cNvSpPr txBox="1"/>
          <p:nvPr/>
        </p:nvSpPr>
        <p:spPr>
          <a:xfrm>
            <a:off x="7498080" y="1645920"/>
            <a:ext cx="4069080" cy="173736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rgbClr val="3F4650"/>
              </a:buClr>
              <a:buSzPts val="1600"/>
              <a:buFont typeface="Times New Roman"/>
              <a:buChar char="•"/>
            </a:pPr>
            <a:r>
              <a:rPr lang="en-US" sz="1600" b="0" i="0" u="none" strike="noStrike" cap="none">
                <a:solidFill>
                  <a:srgbClr val="3F4650"/>
                </a:solidFill>
                <a:latin typeface="Times New Roman"/>
                <a:ea typeface="Times New Roman"/>
                <a:cs typeface="Times New Roman"/>
                <a:sym typeface="Times New Roman"/>
              </a:rPr>
              <a:t>Collision and rollover alerting with GPS</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600"/>
              <a:buFont typeface="Times New Roman"/>
              <a:buChar char="•"/>
            </a:pPr>
            <a:r>
              <a:rPr lang="en-US" sz="1600" b="0" i="0" u="none" strike="noStrike" cap="none">
                <a:solidFill>
                  <a:srgbClr val="3F4650"/>
                </a:solidFill>
                <a:latin typeface="Times New Roman"/>
                <a:ea typeface="Times New Roman"/>
                <a:cs typeface="Times New Roman"/>
                <a:sym typeface="Times New Roman"/>
              </a:rPr>
              <a:t>Alcohol-exposure screening and temperature monitoring</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600"/>
              <a:buFont typeface="Times New Roman"/>
              <a:buChar char="•"/>
            </a:pPr>
            <a:r>
              <a:rPr lang="en-US" sz="1600" b="0" i="0" u="none" strike="noStrike" cap="none">
                <a:solidFill>
                  <a:srgbClr val="3F4650"/>
                </a:solidFill>
                <a:latin typeface="Times New Roman"/>
                <a:ea typeface="Times New Roman"/>
                <a:cs typeface="Times New Roman"/>
                <a:sym typeface="Times New Roman"/>
              </a:rPr>
              <a:t>Shared event view (proposed)</a:t>
            </a:r>
            <a:endParaRPr sz="1400" b="0" i="0" u="none" strike="noStrike" cap="none">
              <a:solidFill>
                <a:schemeClr val="dk1"/>
              </a:solidFill>
              <a:latin typeface="Times New Roman"/>
              <a:ea typeface="Times New Roman"/>
              <a:cs typeface="Times New Roman"/>
              <a:sym typeface="Times New Roman"/>
            </a:endParaRPr>
          </a:p>
        </p:txBody>
      </p:sp>
      <p:sp>
        <p:nvSpPr>
          <p:cNvPr id="154" name="Google Shape;154;p7"/>
          <p:cNvSpPr txBox="1"/>
          <p:nvPr/>
        </p:nvSpPr>
        <p:spPr>
          <a:xfrm>
            <a:off x="7498080" y="3429000"/>
            <a:ext cx="402336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4646"/>
              </a:buClr>
              <a:buSzPts val="1800"/>
              <a:buFont typeface="Times New Roman"/>
              <a:buNone/>
            </a:pPr>
            <a:r>
              <a:rPr lang="en-US" sz="1800" b="1" i="0" u="none" strike="noStrike" cap="none">
                <a:solidFill>
                  <a:srgbClr val="C84646"/>
                </a:solidFill>
                <a:latin typeface="Times New Roman"/>
                <a:ea typeface="Times New Roman"/>
                <a:cs typeface="Times New Roman"/>
                <a:sym typeface="Times New Roman"/>
              </a:rPr>
              <a:t>Not claimed</a:t>
            </a:r>
            <a:endParaRPr sz="1800" b="0" i="0" u="none" strike="noStrike" cap="none">
              <a:solidFill>
                <a:schemeClr val="dk1"/>
              </a:solidFill>
              <a:latin typeface="Times New Roman"/>
              <a:ea typeface="Times New Roman"/>
              <a:cs typeface="Times New Roman"/>
              <a:sym typeface="Times New Roman"/>
            </a:endParaRPr>
          </a:p>
        </p:txBody>
      </p:sp>
      <p:sp>
        <p:nvSpPr>
          <p:cNvPr id="155" name="Google Shape;155;p7"/>
          <p:cNvSpPr txBox="1"/>
          <p:nvPr/>
        </p:nvSpPr>
        <p:spPr>
          <a:xfrm>
            <a:off x="7498080" y="3840480"/>
            <a:ext cx="4069080" cy="22860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rgbClr val="3F4650"/>
              </a:buClr>
              <a:buSzPts val="1600"/>
              <a:buFont typeface="Times New Roman"/>
              <a:buChar char="•"/>
            </a:pPr>
            <a:r>
              <a:rPr lang="en-US" sz="1600" b="0" i="0" u="none" strike="noStrike" cap="none">
                <a:solidFill>
                  <a:srgbClr val="3F4650"/>
                </a:solidFill>
                <a:latin typeface="Times New Roman"/>
                <a:ea typeface="Times New Roman"/>
                <a:cs typeface="Times New Roman"/>
                <a:sym typeface="Times New Roman"/>
              </a:rPr>
              <a:t>Identifying specific narcotics or metabolites</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600"/>
              <a:buFont typeface="Times New Roman"/>
              <a:buChar char="•"/>
            </a:pPr>
            <a:r>
              <a:rPr lang="en-US" sz="1600" b="0" i="0" u="none" strike="noStrike" cap="none">
                <a:solidFill>
                  <a:srgbClr val="3F4650"/>
                </a:solidFill>
                <a:latin typeface="Times New Roman"/>
                <a:ea typeface="Times New Roman"/>
                <a:cs typeface="Times New Roman"/>
                <a:sym typeface="Times New Roman"/>
              </a:rPr>
              <a:t>Diagnosing intoxication or fever</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600"/>
              <a:buFont typeface="Times New Roman"/>
              <a:buChar char="•"/>
            </a:pPr>
            <a:r>
              <a:rPr lang="en-US" sz="1600" b="0" i="0" u="none" strike="noStrike" cap="none">
                <a:solidFill>
                  <a:srgbClr val="3F4650"/>
                </a:solidFill>
                <a:latin typeface="Times New Roman"/>
                <a:ea typeface="Times New Roman"/>
                <a:cs typeface="Times New Roman"/>
                <a:sym typeface="Times New Roman"/>
              </a:rPr>
              <a:t>Proving who caused an accident</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600"/>
              <a:buFont typeface="Times New Roman"/>
              <a:buChar char="•"/>
            </a:pPr>
            <a:r>
              <a:rPr lang="en-US" sz="1600" b="0" i="0" u="none" strike="noStrike" cap="none">
                <a:solidFill>
                  <a:srgbClr val="3F4650"/>
                </a:solidFill>
                <a:latin typeface="Times New Roman"/>
                <a:ea typeface="Times New Roman"/>
                <a:cs typeface="Times New Roman"/>
                <a:sym typeface="Times New Roman"/>
              </a:rPr>
              <a:t>Reaching a hospital without gateway and backend</a:t>
            </a:r>
            <a:endParaRPr sz="1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0"/>
        <p:cNvGrpSpPr/>
        <p:nvPr/>
      </p:nvGrpSpPr>
      <p:grpSpPr>
        <a:xfrm>
          <a:off x="0" y="0"/>
          <a:ext cx="0" cy="0"/>
          <a:chOff x="0" y="0"/>
          <a:chExt cx="0" cy="0"/>
        </a:xfrm>
      </p:grpSpPr>
      <p:sp>
        <p:nvSpPr>
          <p:cNvPr id="161" name="Google Shape;161;p8"/>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WHAT: Components and technologies</a:t>
            </a:r>
            <a:endParaRPr sz="3000" b="0" i="0" u="none" strike="noStrike" cap="none">
              <a:solidFill>
                <a:schemeClr val="dk1"/>
              </a:solidFill>
              <a:latin typeface="Times New Roman"/>
              <a:ea typeface="Times New Roman"/>
              <a:cs typeface="Times New Roman"/>
              <a:sym typeface="Times New Roman"/>
            </a:endParaRPr>
          </a:p>
        </p:txBody>
      </p:sp>
      <p:sp>
        <p:nvSpPr>
          <p:cNvPr id="162" name="Google Shape;162;p8"/>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163" name="Google Shape;163;p8"/>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6</a:t>
            </a:r>
            <a:endParaRPr sz="1100" b="0" i="0" u="none" strike="noStrike" cap="none">
              <a:solidFill>
                <a:schemeClr val="dk1"/>
              </a:solidFill>
              <a:latin typeface="Times New Roman"/>
              <a:ea typeface="Times New Roman"/>
              <a:cs typeface="Times New Roman"/>
              <a:sym typeface="Times New Roman"/>
            </a:endParaRPr>
          </a:p>
        </p:txBody>
      </p:sp>
      <p:sp>
        <p:nvSpPr>
          <p:cNvPr id="164" name="Google Shape;164;p8"/>
          <p:cNvSpPr/>
          <p:nvPr/>
        </p:nvSpPr>
        <p:spPr>
          <a:xfrm>
            <a:off x="457200" y="1097280"/>
            <a:ext cx="5486400" cy="3383280"/>
          </a:xfrm>
          <a:prstGeom prst="roundRect">
            <a:avLst>
              <a:gd name="adj" fmla="val 2162"/>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txBox="1"/>
          <p:nvPr/>
        </p:nvSpPr>
        <p:spPr>
          <a:xfrm>
            <a:off x="640080" y="1161288"/>
            <a:ext cx="51206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700"/>
              <a:buFont typeface="Times New Roman"/>
              <a:buNone/>
            </a:pPr>
            <a:r>
              <a:rPr lang="en-US" sz="1700" b="1" i="0" u="none" strike="noStrike" cap="none">
                <a:solidFill>
                  <a:srgbClr val="17365D"/>
                </a:solidFill>
                <a:latin typeface="Times New Roman"/>
                <a:ea typeface="Times New Roman"/>
                <a:cs typeface="Times New Roman"/>
                <a:sym typeface="Times New Roman"/>
              </a:rPr>
              <a:t>VEHICLE SUBSYSTEM</a:t>
            </a:r>
            <a:endParaRPr sz="1700" b="0" i="0" u="none" strike="noStrike" cap="none">
              <a:solidFill>
                <a:schemeClr val="dk1"/>
              </a:solidFill>
              <a:latin typeface="Times New Roman"/>
              <a:ea typeface="Times New Roman"/>
              <a:cs typeface="Times New Roman"/>
              <a:sym typeface="Times New Roman"/>
            </a:endParaRPr>
          </a:p>
        </p:txBody>
      </p:sp>
      <p:sp>
        <p:nvSpPr>
          <p:cNvPr id="166" name="Google Shape;166;p8"/>
          <p:cNvSpPr/>
          <p:nvPr/>
        </p:nvSpPr>
        <p:spPr>
          <a:xfrm>
            <a:off x="6245352" y="1097280"/>
            <a:ext cx="5486400" cy="3383280"/>
          </a:xfrm>
          <a:prstGeom prst="roundRect">
            <a:avLst>
              <a:gd name="adj" fmla="val 2162"/>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8"/>
          <p:cNvSpPr txBox="1"/>
          <p:nvPr/>
        </p:nvSpPr>
        <p:spPr>
          <a:xfrm>
            <a:off x="6428232" y="1161288"/>
            <a:ext cx="51206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700"/>
              <a:buFont typeface="Times New Roman"/>
              <a:buNone/>
            </a:pPr>
            <a:r>
              <a:rPr lang="en-US" sz="1700" b="1" i="0" u="none" strike="noStrike" cap="none">
                <a:solidFill>
                  <a:srgbClr val="3F4650"/>
                </a:solidFill>
                <a:latin typeface="Times New Roman"/>
                <a:ea typeface="Times New Roman"/>
                <a:cs typeface="Times New Roman"/>
                <a:sym typeface="Times New Roman"/>
              </a:rPr>
              <a:t>WEARABLE SUBSYSTEM</a:t>
            </a:r>
            <a:endParaRPr sz="1700" b="0" i="0" u="none" strike="noStrike" cap="none">
              <a:solidFill>
                <a:schemeClr val="dk1"/>
              </a:solidFill>
              <a:latin typeface="Times New Roman"/>
              <a:ea typeface="Times New Roman"/>
              <a:cs typeface="Times New Roman"/>
              <a:sym typeface="Times New Roman"/>
            </a:endParaRPr>
          </a:p>
        </p:txBody>
      </p:sp>
      <p:sp>
        <p:nvSpPr>
          <p:cNvPr id="168" name="Google Shape;168;p8"/>
          <p:cNvSpPr/>
          <p:nvPr/>
        </p:nvSpPr>
        <p:spPr>
          <a:xfrm>
            <a:off x="640080" y="1645920"/>
            <a:ext cx="2468880" cy="566928"/>
          </a:xfrm>
          <a:prstGeom prst="roundRect">
            <a:avLst>
              <a:gd name="adj" fmla="val 12903"/>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Accelerometer and gyroscope (IMU)</a:t>
            </a:r>
            <a:endParaRPr sz="1250" b="0" i="0" u="none" strike="noStrike" cap="none">
              <a:solidFill>
                <a:schemeClr val="dk1"/>
              </a:solidFill>
              <a:latin typeface="Times New Roman"/>
              <a:ea typeface="Times New Roman"/>
              <a:cs typeface="Times New Roman"/>
              <a:sym typeface="Times New Roman"/>
            </a:endParaRPr>
          </a:p>
        </p:txBody>
      </p:sp>
      <p:sp>
        <p:nvSpPr>
          <p:cNvPr id="169" name="Google Shape;169;p8"/>
          <p:cNvSpPr/>
          <p:nvPr/>
        </p:nvSpPr>
        <p:spPr>
          <a:xfrm>
            <a:off x="3246120" y="1645920"/>
            <a:ext cx="2468880" cy="566928"/>
          </a:xfrm>
          <a:prstGeom prst="roundRect">
            <a:avLst>
              <a:gd name="adj" fmla="val 12903"/>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GPS receiver</a:t>
            </a:r>
            <a:endParaRPr sz="1250" b="0" i="0" u="none" strike="noStrike" cap="none">
              <a:solidFill>
                <a:schemeClr val="dk1"/>
              </a:solidFill>
              <a:latin typeface="Times New Roman"/>
              <a:ea typeface="Times New Roman"/>
              <a:cs typeface="Times New Roman"/>
              <a:sym typeface="Times New Roman"/>
            </a:endParaRPr>
          </a:p>
        </p:txBody>
      </p:sp>
      <p:sp>
        <p:nvSpPr>
          <p:cNvPr id="170" name="Google Shape;170;p8"/>
          <p:cNvSpPr/>
          <p:nvPr/>
        </p:nvSpPr>
        <p:spPr>
          <a:xfrm>
            <a:off x="640080" y="2331720"/>
            <a:ext cx="2468880" cy="566928"/>
          </a:xfrm>
          <a:prstGeom prst="roundRect">
            <a:avLst>
              <a:gd name="adj" fmla="val 12903"/>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Microcontroller</a:t>
            </a:r>
            <a:endParaRPr sz="1250" b="0" i="0" u="none" strike="noStrike" cap="none">
              <a:solidFill>
                <a:schemeClr val="dk1"/>
              </a:solidFill>
              <a:latin typeface="Times New Roman"/>
              <a:ea typeface="Times New Roman"/>
              <a:cs typeface="Times New Roman"/>
              <a:sym typeface="Times New Roman"/>
            </a:endParaRPr>
          </a:p>
        </p:txBody>
      </p:sp>
      <p:sp>
        <p:nvSpPr>
          <p:cNvPr id="171" name="Google Shape;171;p8"/>
          <p:cNvSpPr/>
          <p:nvPr/>
        </p:nvSpPr>
        <p:spPr>
          <a:xfrm>
            <a:off x="3246120" y="2331720"/>
            <a:ext cx="2468880" cy="566928"/>
          </a:xfrm>
          <a:prstGeom prst="roundRect">
            <a:avLst>
              <a:gd name="adj" fmla="val 12903"/>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LoRa transceiver</a:t>
            </a:r>
            <a:endParaRPr sz="1250" b="0" i="0" u="none" strike="noStrike" cap="none">
              <a:solidFill>
                <a:schemeClr val="dk1"/>
              </a:solidFill>
              <a:latin typeface="Times New Roman"/>
              <a:ea typeface="Times New Roman"/>
              <a:cs typeface="Times New Roman"/>
              <a:sym typeface="Times New Roman"/>
            </a:endParaRPr>
          </a:p>
        </p:txBody>
      </p:sp>
      <p:sp>
        <p:nvSpPr>
          <p:cNvPr id="172" name="Google Shape;172;p8"/>
          <p:cNvSpPr/>
          <p:nvPr/>
        </p:nvSpPr>
        <p:spPr>
          <a:xfrm>
            <a:off x="640080" y="3017520"/>
            <a:ext cx="2468880" cy="566928"/>
          </a:xfrm>
          <a:prstGeom prst="roundRect">
            <a:avLst>
              <a:gd name="adj" fmla="val 12903"/>
            </a:avLst>
          </a:prstGeom>
          <a:solidFill>
            <a:srgbClr val="FFFFFF"/>
          </a:solidFill>
          <a:ln w="19050" cap="flat" cmpd="sng">
            <a:solidFill>
              <a:srgbClr val="8A6A00"/>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1" i="0" u="none" strike="noStrike" cap="none">
                <a:solidFill>
                  <a:srgbClr val="3F4650"/>
                </a:solidFill>
                <a:latin typeface="Times New Roman"/>
                <a:ea typeface="Times New Roman"/>
                <a:cs typeface="Times New Roman"/>
                <a:sym typeface="Times New Roman"/>
              </a:rPr>
              <a:t>GSM module (fallback)</a:t>
            </a:r>
            <a:endParaRPr sz="1250" b="0" i="0" u="none" strike="noStrike" cap="none">
              <a:solidFill>
                <a:schemeClr val="dk1"/>
              </a:solidFill>
              <a:latin typeface="Times New Roman"/>
              <a:ea typeface="Times New Roman"/>
              <a:cs typeface="Times New Roman"/>
              <a:sym typeface="Times New Roman"/>
            </a:endParaRPr>
          </a:p>
        </p:txBody>
      </p:sp>
      <p:sp>
        <p:nvSpPr>
          <p:cNvPr id="173" name="Google Shape;173;p8"/>
          <p:cNvSpPr/>
          <p:nvPr/>
        </p:nvSpPr>
        <p:spPr>
          <a:xfrm>
            <a:off x="3246120" y="3017520"/>
            <a:ext cx="2468880" cy="566928"/>
          </a:xfrm>
          <a:prstGeom prst="roundRect">
            <a:avLst>
              <a:gd name="adj" fmla="val 12903"/>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LoRa gateway</a:t>
            </a:r>
            <a:endParaRPr sz="1250" b="0" i="0" u="none" strike="noStrike" cap="none">
              <a:solidFill>
                <a:schemeClr val="dk1"/>
              </a:solidFill>
              <a:latin typeface="Times New Roman"/>
              <a:ea typeface="Times New Roman"/>
              <a:cs typeface="Times New Roman"/>
              <a:sym typeface="Times New Roman"/>
            </a:endParaRPr>
          </a:p>
        </p:txBody>
      </p:sp>
      <p:sp>
        <p:nvSpPr>
          <p:cNvPr id="174" name="Google Shape;174;p8"/>
          <p:cNvSpPr/>
          <p:nvPr/>
        </p:nvSpPr>
        <p:spPr>
          <a:xfrm>
            <a:off x="640080" y="3703320"/>
            <a:ext cx="2468880" cy="566928"/>
          </a:xfrm>
          <a:prstGeom prst="roundRect">
            <a:avLst>
              <a:gd name="adj" fmla="val 12903"/>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Backend server</a:t>
            </a:r>
            <a:endParaRPr sz="1250" b="0" i="0" u="none" strike="noStrike" cap="none">
              <a:solidFill>
                <a:schemeClr val="dk1"/>
              </a:solidFill>
              <a:latin typeface="Times New Roman"/>
              <a:ea typeface="Times New Roman"/>
              <a:cs typeface="Times New Roman"/>
              <a:sym typeface="Times New Roman"/>
            </a:endParaRPr>
          </a:p>
        </p:txBody>
      </p:sp>
      <p:sp>
        <p:nvSpPr>
          <p:cNvPr id="175" name="Google Shape;175;p8"/>
          <p:cNvSpPr/>
          <p:nvPr/>
        </p:nvSpPr>
        <p:spPr>
          <a:xfrm>
            <a:off x="3246120" y="3703320"/>
            <a:ext cx="2468880" cy="566928"/>
          </a:xfrm>
          <a:prstGeom prst="roundRect">
            <a:avLst>
              <a:gd name="adj" fmla="val 12903"/>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1" i="0" u="none" strike="noStrike" cap="none">
                <a:solidFill>
                  <a:srgbClr val="3F4650"/>
                </a:solidFill>
                <a:latin typeface="Times New Roman"/>
                <a:ea typeface="Times New Roman"/>
                <a:cs typeface="Times New Roman"/>
                <a:sym typeface="Times New Roman"/>
              </a:rPr>
              <a:t>Facility lookup and alerts</a:t>
            </a:r>
            <a:endParaRPr sz="1250" b="0" i="0" u="none" strike="noStrike" cap="none">
              <a:solidFill>
                <a:schemeClr val="dk1"/>
              </a:solidFill>
              <a:latin typeface="Times New Roman"/>
              <a:ea typeface="Times New Roman"/>
              <a:cs typeface="Times New Roman"/>
              <a:sym typeface="Times New Roman"/>
            </a:endParaRPr>
          </a:p>
        </p:txBody>
      </p:sp>
      <p:sp>
        <p:nvSpPr>
          <p:cNvPr id="176" name="Google Shape;176;p8"/>
          <p:cNvSpPr/>
          <p:nvPr/>
        </p:nvSpPr>
        <p:spPr>
          <a:xfrm>
            <a:off x="6428232" y="1645920"/>
            <a:ext cx="2468880" cy="566928"/>
          </a:xfrm>
          <a:prstGeom prst="roundRect">
            <a:avLst>
              <a:gd name="adj" fmla="val 12903"/>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Arduino Nano</a:t>
            </a:r>
            <a:endParaRPr sz="1250" b="0" i="0" u="none" strike="noStrike" cap="none">
              <a:solidFill>
                <a:schemeClr val="dk1"/>
              </a:solidFill>
              <a:latin typeface="Times New Roman"/>
              <a:ea typeface="Times New Roman"/>
              <a:cs typeface="Times New Roman"/>
              <a:sym typeface="Times New Roman"/>
            </a:endParaRPr>
          </a:p>
        </p:txBody>
      </p:sp>
      <p:sp>
        <p:nvSpPr>
          <p:cNvPr id="177" name="Google Shape;177;p8"/>
          <p:cNvSpPr/>
          <p:nvPr/>
        </p:nvSpPr>
        <p:spPr>
          <a:xfrm>
            <a:off x="9034272" y="1645920"/>
            <a:ext cx="2468880" cy="566928"/>
          </a:xfrm>
          <a:prstGeom prst="roundRect">
            <a:avLst>
              <a:gd name="adj" fmla="val 12903"/>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MQ-3 alcohol sensor</a:t>
            </a:r>
            <a:endParaRPr sz="1250" b="0" i="0" u="none" strike="noStrike" cap="none">
              <a:solidFill>
                <a:schemeClr val="dk1"/>
              </a:solidFill>
              <a:latin typeface="Times New Roman"/>
              <a:ea typeface="Times New Roman"/>
              <a:cs typeface="Times New Roman"/>
              <a:sym typeface="Times New Roman"/>
            </a:endParaRPr>
          </a:p>
        </p:txBody>
      </p:sp>
      <p:sp>
        <p:nvSpPr>
          <p:cNvPr id="178" name="Google Shape;178;p8"/>
          <p:cNvSpPr/>
          <p:nvPr/>
        </p:nvSpPr>
        <p:spPr>
          <a:xfrm>
            <a:off x="6428232" y="2331720"/>
            <a:ext cx="2468880" cy="566928"/>
          </a:xfrm>
          <a:prstGeom prst="roundRect">
            <a:avLst>
              <a:gd name="adj" fmla="val 12903"/>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MLX90614 temperature sensor</a:t>
            </a:r>
            <a:endParaRPr sz="1250" b="0" i="0" u="none" strike="noStrike" cap="none">
              <a:solidFill>
                <a:schemeClr val="dk1"/>
              </a:solidFill>
              <a:latin typeface="Times New Roman"/>
              <a:ea typeface="Times New Roman"/>
              <a:cs typeface="Times New Roman"/>
              <a:sym typeface="Times New Roman"/>
            </a:endParaRPr>
          </a:p>
        </p:txBody>
      </p:sp>
      <p:sp>
        <p:nvSpPr>
          <p:cNvPr id="179" name="Google Shape;179;p8"/>
          <p:cNvSpPr/>
          <p:nvPr/>
        </p:nvSpPr>
        <p:spPr>
          <a:xfrm>
            <a:off x="9034272" y="2331720"/>
            <a:ext cx="2468880" cy="566928"/>
          </a:xfrm>
          <a:prstGeom prst="roundRect">
            <a:avLst>
              <a:gd name="adj" fmla="val 12903"/>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SSD1306 OLED display</a:t>
            </a:r>
            <a:endParaRPr sz="1250" b="0" i="0" u="none" strike="noStrike" cap="none">
              <a:solidFill>
                <a:schemeClr val="dk1"/>
              </a:solidFill>
              <a:latin typeface="Times New Roman"/>
              <a:ea typeface="Times New Roman"/>
              <a:cs typeface="Times New Roman"/>
              <a:sym typeface="Times New Roman"/>
            </a:endParaRPr>
          </a:p>
        </p:txBody>
      </p:sp>
      <p:sp>
        <p:nvSpPr>
          <p:cNvPr id="180" name="Google Shape;180;p8"/>
          <p:cNvSpPr/>
          <p:nvPr/>
        </p:nvSpPr>
        <p:spPr>
          <a:xfrm>
            <a:off x="6428232" y="3017520"/>
            <a:ext cx="2468880" cy="566928"/>
          </a:xfrm>
          <a:prstGeom prst="roundRect">
            <a:avLst>
              <a:gd name="adj" fmla="val 12903"/>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Buzzer</a:t>
            </a:r>
            <a:endParaRPr sz="1250" b="0" i="0" u="none" strike="noStrike" cap="none">
              <a:solidFill>
                <a:schemeClr val="dk1"/>
              </a:solidFill>
              <a:latin typeface="Times New Roman"/>
              <a:ea typeface="Times New Roman"/>
              <a:cs typeface="Times New Roman"/>
              <a:sym typeface="Times New Roman"/>
            </a:endParaRPr>
          </a:p>
        </p:txBody>
      </p:sp>
      <p:sp>
        <p:nvSpPr>
          <p:cNvPr id="181" name="Google Shape;181;p8"/>
          <p:cNvSpPr/>
          <p:nvPr/>
        </p:nvSpPr>
        <p:spPr>
          <a:xfrm>
            <a:off x="9034272" y="3017520"/>
            <a:ext cx="2468880" cy="566928"/>
          </a:xfrm>
          <a:prstGeom prst="roundRect">
            <a:avLst>
              <a:gd name="adj" fmla="val 12903"/>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Red, yellow, green LEDs</a:t>
            </a:r>
            <a:endParaRPr sz="1250" b="0" i="0" u="none" strike="noStrike" cap="none">
              <a:solidFill>
                <a:schemeClr val="dk1"/>
              </a:solidFill>
              <a:latin typeface="Times New Roman"/>
              <a:ea typeface="Times New Roman"/>
              <a:cs typeface="Times New Roman"/>
              <a:sym typeface="Times New Roman"/>
            </a:endParaRPr>
          </a:p>
        </p:txBody>
      </p:sp>
      <p:sp>
        <p:nvSpPr>
          <p:cNvPr id="182" name="Google Shape;182;p8"/>
          <p:cNvSpPr/>
          <p:nvPr/>
        </p:nvSpPr>
        <p:spPr>
          <a:xfrm>
            <a:off x="6428232" y="3703320"/>
            <a:ext cx="2468880" cy="566928"/>
          </a:xfrm>
          <a:prstGeom prst="roundRect">
            <a:avLst>
              <a:gd name="adj" fmla="val 12903"/>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Battery supply</a:t>
            </a:r>
            <a:endParaRPr sz="1250" b="0" i="0" u="none" strike="noStrike" cap="none">
              <a:solidFill>
                <a:schemeClr val="dk1"/>
              </a:solidFill>
              <a:latin typeface="Times New Roman"/>
              <a:ea typeface="Times New Roman"/>
              <a:cs typeface="Times New Roman"/>
              <a:sym typeface="Times New Roman"/>
            </a:endParaRPr>
          </a:p>
        </p:txBody>
      </p:sp>
      <p:sp>
        <p:nvSpPr>
          <p:cNvPr id="183" name="Google Shape;183;p8"/>
          <p:cNvSpPr/>
          <p:nvPr/>
        </p:nvSpPr>
        <p:spPr>
          <a:xfrm>
            <a:off x="9034272" y="3703320"/>
            <a:ext cx="2468880" cy="566928"/>
          </a:xfrm>
          <a:prstGeom prst="roundRect">
            <a:avLst>
              <a:gd name="adj" fmla="val 12903"/>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1" i="0" u="none" strike="noStrike" cap="none">
                <a:solidFill>
                  <a:srgbClr val="3F4650"/>
                </a:solidFill>
                <a:latin typeface="Times New Roman"/>
                <a:ea typeface="Times New Roman"/>
                <a:cs typeface="Times New Roman"/>
                <a:sym typeface="Times New Roman"/>
              </a:rPr>
              <a:t>Optional authorized data link</a:t>
            </a:r>
            <a:endParaRPr sz="1250" b="0" i="0" u="none" strike="noStrike" cap="none">
              <a:solidFill>
                <a:schemeClr val="dk1"/>
              </a:solidFill>
              <a:latin typeface="Times New Roman"/>
              <a:ea typeface="Times New Roman"/>
              <a:cs typeface="Times New Roman"/>
              <a:sym typeface="Times New Roman"/>
            </a:endParaRPr>
          </a:p>
        </p:txBody>
      </p:sp>
      <p:sp>
        <p:nvSpPr>
          <p:cNvPr id="184" name="Google Shape;184;p8"/>
          <p:cNvSpPr/>
          <p:nvPr/>
        </p:nvSpPr>
        <p:spPr>
          <a:xfrm>
            <a:off x="457200" y="4617720"/>
            <a:ext cx="11274552" cy="1051560"/>
          </a:xfrm>
          <a:prstGeom prst="roundRect">
            <a:avLst>
              <a:gd name="adj" fmla="val 6957"/>
            </a:avLst>
          </a:prstGeom>
          <a:solidFill>
            <a:srgbClr val="E3F1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8"/>
          <p:cNvSpPr txBox="1"/>
          <p:nvPr/>
        </p:nvSpPr>
        <p:spPr>
          <a:xfrm>
            <a:off x="640080" y="4663440"/>
            <a:ext cx="54864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8C8C"/>
              </a:buClr>
              <a:buSzPts val="1500"/>
              <a:buFont typeface="Times New Roman"/>
              <a:buNone/>
            </a:pPr>
            <a:r>
              <a:rPr lang="en-US" sz="1500" b="1" i="0" u="none" strike="noStrike" cap="none">
                <a:solidFill>
                  <a:srgbClr val="168C8C"/>
                </a:solidFill>
                <a:latin typeface="Times New Roman"/>
                <a:ea typeface="Times New Roman"/>
                <a:cs typeface="Times New Roman"/>
                <a:sym typeface="Times New Roman"/>
              </a:rPr>
              <a:t>SHARED PLATFORM (all proposed)</a:t>
            </a:r>
            <a:endParaRPr sz="1500" b="0" i="0" u="none" strike="noStrike" cap="none">
              <a:solidFill>
                <a:schemeClr val="dk1"/>
              </a:solidFill>
              <a:latin typeface="Times New Roman"/>
              <a:ea typeface="Times New Roman"/>
              <a:cs typeface="Times New Roman"/>
              <a:sym typeface="Times New Roman"/>
            </a:endParaRPr>
          </a:p>
        </p:txBody>
      </p:sp>
      <p:sp>
        <p:nvSpPr>
          <p:cNvPr id="186" name="Google Shape;186;p8"/>
          <p:cNvSpPr/>
          <p:nvPr/>
        </p:nvSpPr>
        <p:spPr>
          <a:xfrm>
            <a:off x="640080" y="5029200"/>
            <a:ext cx="2560320" cy="502920"/>
          </a:xfrm>
          <a:prstGeom prst="roundRect">
            <a:avLst>
              <a:gd name="adj" fmla="val 14545"/>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300"/>
              <a:buFont typeface="Times New Roman"/>
              <a:buNone/>
            </a:pPr>
            <a:r>
              <a:rPr lang="en-US" sz="1300" b="1" i="0" u="none" strike="noStrike" cap="none">
                <a:solidFill>
                  <a:srgbClr val="3F4650"/>
                </a:solidFill>
                <a:latin typeface="Times New Roman"/>
                <a:ea typeface="Times New Roman"/>
                <a:cs typeface="Times New Roman"/>
                <a:sym typeface="Times New Roman"/>
              </a:rPr>
              <a:t>Monitoring dashboard</a:t>
            </a:r>
            <a:endParaRPr sz="1300" b="0" i="0" u="none" strike="noStrike" cap="none">
              <a:solidFill>
                <a:schemeClr val="dk1"/>
              </a:solidFill>
              <a:latin typeface="Times New Roman"/>
              <a:ea typeface="Times New Roman"/>
              <a:cs typeface="Times New Roman"/>
              <a:sym typeface="Times New Roman"/>
            </a:endParaRPr>
          </a:p>
        </p:txBody>
      </p:sp>
      <p:sp>
        <p:nvSpPr>
          <p:cNvPr id="187" name="Google Shape;187;p8"/>
          <p:cNvSpPr/>
          <p:nvPr/>
        </p:nvSpPr>
        <p:spPr>
          <a:xfrm>
            <a:off x="3383280" y="5029200"/>
            <a:ext cx="2560320" cy="502920"/>
          </a:xfrm>
          <a:prstGeom prst="roundRect">
            <a:avLst>
              <a:gd name="adj" fmla="val 14545"/>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300"/>
              <a:buFont typeface="Times New Roman"/>
              <a:buNone/>
            </a:pPr>
            <a:r>
              <a:rPr lang="en-US" sz="1300" b="1" i="0" u="none" strike="noStrike" cap="none">
                <a:solidFill>
                  <a:srgbClr val="3F4650"/>
                </a:solidFill>
                <a:latin typeface="Times New Roman"/>
                <a:ea typeface="Times New Roman"/>
                <a:cs typeface="Times New Roman"/>
                <a:sym typeface="Times New Roman"/>
              </a:rPr>
              <a:t>Event database</a:t>
            </a:r>
            <a:endParaRPr sz="1300" b="0" i="0" u="none" strike="noStrike" cap="none">
              <a:solidFill>
                <a:schemeClr val="dk1"/>
              </a:solidFill>
              <a:latin typeface="Times New Roman"/>
              <a:ea typeface="Times New Roman"/>
              <a:cs typeface="Times New Roman"/>
              <a:sym typeface="Times New Roman"/>
            </a:endParaRPr>
          </a:p>
        </p:txBody>
      </p:sp>
      <p:sp>
        <p:nvSpPr>
          <p:cNvPr id="188" name="Google Shape;188;p8"/>
          <p:cNvSpPr/>
          <p:nvPr/>
        </p:nvSpPr>
        <p:spPr>
          <a:xfrm>
            <a:off x="6126480" y="5029200"/>
            <a:ext cx="2560320" cy="502920"/>
          </a:xfrm>
          <a:prstGeom prst="roundRect">
            <a:avLst>
              <a:gd name="adj" fmla="val 14545"/>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300"/>
              <a:buFont typeface="Times New Roman"/>
              <a:buNone/>
            </a:pPr>
            <a:r>
              <a:rPr lang="en-US" sz="1300" b="1" i="0" u="none" strike="noStrike" cap="none">
                <a:solidFill>
                  <a:srgbClr val="3F4650"/>
                </a:solidFill>
                <a:latin typeface="Times New Roman"/>
                <a:ea typeface="Times New Roman"/>
                <a:cs typeface="Times New Roman"/>
                <a:sym typeface="Times New Roman"/>
              </a:rPr>
              <a:t>Access controls</a:t>
            </a:r>
            <a:endParaRPr sz="1300" b="0" i="0" u="none" strike="noStrike" cap="none">
              <a:solidFill>
                <a:schemeClr val="dk1"/>
              </a:solidFill>
              <a:latin typeface="Times New Roman"/>
              <a:ea typeface="Times New Roman"/>
              <a:cs typeface="Times New Roman"/>
              <a:sym typeface="Times New Roman"/>
            </a:endParaRPr>
          </a:p>
        </p:txBody>
      </p:sp>
      <p:sp>
        <p:nvSpPr>
          <p:cNvPr id="189" name="Google Shape;189;p8"/>
          <p:cNvSpPr/>
          <p:nvPr/>
        </p:nvSpPr>
        <p:spPr>
          <a:xfrm>
            <a:off x="8869680" y="5029200"/>
            <a:ext cx="2560320" cy="502920"/>
          </a:xfrm>
          <a:prstGeom prst="roundRect">
            <a:avLst>
              <a:gd name="adj" fmla="val 14545"/>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300"/>
              <a:buFont typeface="Times New Roman"/>
              <a:buNone/>
            </a:pPr>
            <a:r>
              <a:rPr lang="en-US" sz="1300" b="1" i="0" u="none" strike="noStrike" cap="none">
                <a:solidFill>
                  <a:srgbClr val="3F4650"/>
                </a:solidFill>
                <a:latin typeface="Times New Roman"/>
                <a:ea typeface="Times New Roman"/>
                <a:cs typeface="Times New Roman"/>
                <a:sym typeface="Times New Roman"/>
              </a:rPr>
              <a:t>Notification interfaces</a:t>
            </a:r>
            <a:endParaRPr sz="1300" b="0" i="0" u="none" strike="noStrike" cap="none">
              <a:solidFill>
                <a:schemeClr val="dk1"/>
              </a:solidFill>
              <a:latin typeface="Times New Roman"/>
              <a:ea typeface="Times New Roman"/>
              <a:cs typeface="Times New Roman"/>
              <a:sym typeface="Times New Roman"/>
            </a:endParaRPr>
          </a:p>
        </p:txBody>
      </p:sp>
      <p:sp>
        <p:nvSpPr>
          <p:cNvPr id="190" name="Google Shape;190;p8"/>
          <p:cNvSpPr/>
          <p:nvPr/>
        </p:nvSpPr>
        <p:spPr>
          <a:xfrm>
            <a:off x="457200" y="5897880"/>
            <a:ext cx="457200" cy="274320"/>
          </a:xfrm>
          <a:prstGeom prst="roundRect">
            <a:avLst>
              <a:gd name="adj" fmla="val 26667"/>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chemeClr val="dk1"/>
              </a:buClr>
              <a:buSzPts val="1200"/>
              <a:buFont typeface="Times New Roman"/>
              <a:buNone/>
            </a:pPr>
            <a:endParaRPr sz="1200" b="0" i="0" u="none" strike="noStrike" cap="none">
              <a:solidFill>
                <a:schemeClr val="dk1"/>
              </a:solidFill>
              <a:latin typeface="Times New Roman"/>
              <a:ea typeface="Times New Roman"/>
              <a:cs typeface="Times New Roman"/>
              <a:sym typeface="Times New Roman"/>
            </a:endParaRPr>
          </a:p>
        </p:txBody>
      </p:sp>
      <p:sp>
        <p:nvSpPr>
          <p:cNvPr id="191" name="Google Shape;191;p8"/>
          <p:cNvSpPr txBox="1"/>
          <p:nvPr/>
        </p:nvSpPr>
        <p:spPr>
          <a:xfrm>
            <a:off x="1005840" y="5870448"/>
            <a:ext cx="32918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300"/>
              <a:buFont typeface="Times New Roman"/>
              <a:buNone/>
            </a:pPr>
            <a:r>
              <a:rPr lang="en-US" sz="1300" b="0" i="0" u="none" strike="noStrike" cap="none">
                <a:solidFill>
                  <a:srgbClr val="3F4650"/>
                </a:solidFill>
                <a:latin typeface="Times New Roman"/>
                <a:ea typeface="Times New Roman"/>
                <a:cs typeface="Times New Roman"/>
                <a:sym typeface="Times New Roman"/>
              </a:rPr>
              <a:t>Existing: specified in source documents</a:t>
            </a:r>
            <a:endParaRPr sz="1300" b="0" i="0" u="none" strike="noStrike" cap="none">
              <a:solidFill>
                <a:schemeClr val="dk1"/>
              </a:solidFill>
              <a:latin typeface="Times New Roman"/>
              <a:ea typeface="Times New Roman"/>
              <a:cs typeface="Times New Roman"/>
              <a:sym typeface="Times New Roman"/>
            </a:endParaRPr>
          </a:p>
        </p:txBody>
      </p:sp>
      <p:sp>
        <p:nvSpPr>
          <p:cNvPr id="192" name="Google Shape;192;p8"/>
          <p:cNvSpPr/>
          <p:nvPr/>
        </p:nvSpPr>
        <p:spPr>
          <a:xfrm>
            <a:off x="4480560" y="5897880"/>
            <a:ext cx="457200" cy="274320"/>
          </a:xfrm>
          <a:prstGeom prst="roundRect">
            <a:avLst>
              <a:gd name="adj" fmla="val 26667"/>
            </a:avLst>
          </a:prstGeom>
          <a:solidFill>
            <a:srgbClr val="FFFFFF"/>
          </a:solidFill>
          <a:ln w="19050" cap="flat" cmpd="sng">
            <a:solidFill>
              <a:srgbClr val="8A6A00"/>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chemeClr val="dk1"/>
              </a:buClr>
              <a:buSzPts val="1200"/>
              <a:buFont typeface="Times New Roman"/>
              <a:buNone/>
            </a:pPr>
            <a:endParaRPr sz="1200" b="0" i="0" u="none" strike="noStrike" cap="none">
              <a:solidFill>
                <a:schemeClr val="dk1"/>
              </a:solidFill>
              <a:latin typeface="Times New Roman"/>
              <a:ea typeface="Times New Roman"/>
              <a:cs typeface="Times New Roman"/>
              <a:sym typeface="Times New Roman"/>
            </a:endParaRPr>
          </a:p>
        </p:txBody>
      </p:sp>
      <p:sp>
        <p:nvSpPr>
          <p:cNvPr id="193" name="Google Shape;193;p8"/>
          <p:cNvSpPr txBox="1"/>
          <p:nvPr/>
        </p:nvSpPr>
        <p:spPr>
          <a:xfrm>
            <a:off x="5029200" y="5870448"/>
            <a:ext cx="32918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300"/>
              <a:buFont typeface="Times New Roman"/>
              <a:buNone/>
            </a:pPr>
            <a:r>
              <a:rPr lang="en-US" sz="1300" b="0" i="0" u="none" strike="noStrike" cap="none">
                <a:solidFill>
                  <a:srgbClr val="3F4650"/>
                </a:solidFill>
                <a:latin typeface="Times New Roman"/>
                <a:ea typeface="Times New Roman"/>
                <a:cs typeface="Times New Roman"/>
                <a:sym typeface="Times New Roman"/>
              </a:rPr>
              <a:t>Optional</a:t>
            </a:r>
            <a:endParaRPr sz="1300" b="0" i="0" u="none" strike="noStrike" cap="none">
              <a:solidFill>
                <a:schemeClr val="dk1"/>
              </a:solidFill>
              <a:latin typeface="Times New Roman"/>
              <a:ea typeface="Times New Roman"/>
              <a:cs typeface="Times New Roman"/>
              <a:sym typeface="Times New Roman"/>
            </a:endParaRPr>
          </a:p>
        </p:txBody>
      </p:sp>
      <p:sp>
        <p:nvSpPr>
          <p:cNvPr id="194" name="Google Shape;194;p8"/>
          <p:cNvSpPr/>
          <p:nvPr/>
        </p:nvSpPr>
        <p:spPr>
          <a:xfrm>
            <a:off x="6400800" y="5897880"/>
            <a:ext cx="457200" cy="274320"/>
          </a:xfrm>
          <a:prstGeom prst="roundRect">
            <a:avLst>
              <a:gd name="adj" fmla="val 26667"/>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chemeClr val="dk1"/>
              </a:buClr>
              <a:buSzPts val="1200"/>
              <a:buFont typeface="Times New Roman"/>
              <a:buNone/>
            </a:pPr>
            <a:endParaRPr sz="1200" b="0" i="0" u="none" strike="noStrike" cap="none">
              <a:solidFill>
                <a:schemeClr val="dk1"/>
              </a:solidFill>
              <a:latin typeface="Times New Roman"/>
              <a:ea typeface="Times New Roman"/>
              <a:cs typeface="Times New Roman"/>
              <a:sym typeface="Times New Roman"/>
            </a:endParaRPr>
          </a:p>
        </p:txBody>
      </p:sp>
      <p:sp>
        <p:nvSpPr>
          <p:cNvPr id="195" name="Google Shape;195;p8"/>
          <p:cNvSpPr txBox="1"/>
          <p:nvPr/>
        </p:nvSpPr>
        <p:spPr>
          <a:xfrm>
            <a:off x="6949440" y="5870448"/>
            <a:ext cx="32918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300"/>
              <a:buFont typeface="Times New Roman"/>
              <a:buNone/>
            </a:pPr>
            <a:r>
              <a:rPr lang="en-US" sz="1300" b="0" i="0" u="none" strike="noStrike" cap="none">
                <a:solidFill>
                  <a:srgbClr val="3F4650"/>
                </a:solidFill>
                <a:latin typeface="Times New Roman"/>
                <a:ea typeface="Times New Roman"/>
                <a:cs typeface="Times New Roman"/>
                <a:sym typeface="Times New Roman"/>
              </a:rPr>
              <a:t>Proposed</a:t>
            </a:r>
            <a:endParaRPr sz="1300" b="0" i="0" u="none" strike="noStrike" cap="none">
              <a:solidFill>
                <a:schemeClr val="dk1"/>
              </a:solidFill>
              <a:latin typeface="Times New Roman"/>
              <a:ea typeface="Times New Roman"/>
              <a:cs typeface="Times New Roman"/>
              <a:sym typeface="Times New Roman"/>
            </a:endParaRPr>
          </a:p>
        </p:txBody>
      </p:sp>
      <p:sp>
        <p:nvSpPr>
          <p:cNvPr id="196" name="Google Shape;196;p8"/>
          <p:cNvSpPr/>
          <p:nvPr/>
        </p:nvSpPr>
        <p:spPr>
          <a:xfrm>
            <a:off x="8138160" y="5897880"/>
            <a:ext cx="457200" cy="274320"/>
          </a:xfrm>
          <a:prstGeom prst="roundRect">
            <a:avLst>
              <a:gd name="adj" fmla="val 26667"/>
            </a:avLst>
          </a:prstGeom>
          <a:solidFill>
            <a:srgbClr val="FFFFFF"/>
          </a:solidFill>
          <a:ln w="19050" cap="flat" cmpd="sng">
            <a:solidFill>
              <a:srgbClr val="7A828C"/>
            </a:solidFill>
            <a:prstDash val="dot"/>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chemeClr val="dk1"/>
              </a:buClr>
              <a:buSzPts val="1200"/>
              <a:buFont typeface="Times New Roman"/>
              <a:buNone/>
            </a:pPr>
            <a:endParaRPr sz="1200" b="0" i="0" u="none" strike="noStrike" cap="none">
              <a:solidFill>
                <a:schemeClr val="dk1"/>
              </a:solidFill>
              <a:latin typeface="Times New Roman"/>
              <a:ea typeface="Times New Roman"/>
              <a:cs typeface="Times New Roman"/>
              <a:sym typeface="Times New Roman"/>
            </a:endParaRPr>
          </a:p>
        </p:txBody>
      </p:sp>
      <p:sp>
        <p:nvSpPr>
          <p:cNvPr id="197" name="Google Shape;197;p8"/>
          <p:cNvSpPr txBox="1"/>
          <p:nvPr/>
        </p:nvSpPr>
        <p:spPr>
          <a:xfrm>
            <a:off x="8686800" y="5870448"/>
            <a:ext cx="32918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300"/>
              <a:buFont typeface="Times New Roman"/>
              <a:buNone/>
            </a:pPr>
            <a:r>
              <a:rPr lang="en-US" sz="1300" b="0" i="0" u="none" strike="noStrike" cap="none">
                <a:solidFill>
                  <a:srgbClr val="3F4650"/>
                </a:solidFill>
                <a:latin typeface="Times New Roman"/>
                <a:ea typeface="Times New Roman"/>
                <a:cs typeface="Times New Roman"/>
                <a:sym typeface="Times New Roman"/>
              </a:rPr>
              <a:t>Future scope</a:t>
            </a:r>
            <a:endParaRPr sz="13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sp>
        <p:nvSpPr>
          <p:cNvPr id="203" name="Google Shape;203;p9"/>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WHY: Motivation and benefits</a:t>
            </a:r>
            <a:endParaRPr sz="3000" b="0" i="0" u="none" strike="noStrike" cap="none">
              <a:solidFill>
                <a:schemeClr val="dk1"/>
              </a:solidFill>
              <a:latin typeface="Times New Roman"/>
              <a:ea typeface="Times New Roman"/>
              <a:cs typeface="Times New Roman"/>
              <a:sym typeface="Times New Roman"/>
            </a:endParaRPr>
          </a:p>
        </p:txBody>
      </p:sp>
      <p:sp>
        <p:nvSpPr>
          <p:cNvPr id="204" name="Google Shape;204;p9"/>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205" name="Google Shape;205;p9"/>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7</a:t>
            </a:r>
            <a:endParaRPr sz="1100" b="0" i="0" u="none" strike="noStrike" cap="none">
              <a:solidFill>
                <a:schemeClr val="dk1"/>
              </a:solidFill>
              <a:latin typeface="Times New Roman"/>
              <a:ea typeface="Times New Roman"/>
              <a:cs typeface="Times New Roman"/>
              <a:sym typeface="Times New Roman"/>
            </a:endParaRPr>
          </a:p>
        </p:txBody>
      </p:sp>
      <p:sp>
        <p:nvSpPr>
          <p:cNvPr id="206" name="Google Shape;206;p9"/>
          <p:cNvSpPr/>
          <p:nvPr/>
        </p:nvSpPr>
        <p:spPr>
          <a:xfrm>
            <a:off x="457200" y="1188720"/>
            <a:ext cx="6766560" cy="841248"/>
          </a:xfrm>
          <a:prstGeom prst="roundRect">
            <a:avLst>
              <a:gd name="adj" fmla="val 8696"/>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9"/>
          <p:cNvSpPr/>
          <p:nvPr/>
        </p:nvSpPr>
        <p:spPr>
          <a:xfrm>
            <a:off x="594360" y="1362456"/>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1</a:t>
            </a:r>
            <a:endParaRPr sz="1700" b="0" i="0" u="none" strike="noStrike" cap="none">
              <a:solidFill>
                <a:schemeClr val="dk1"/>
              </a:solidFill>
              <a:latin typeface="Times New Roman"/>
              <a:ea typeface="Times New Roman"/>
              <a:cs typeface="Times New Roman"/>
              <a:sym typeface="Times New Roman"/>
            </a:endParaRPr>
          </a:p>
        </p:txBody>
      </p:sp>
      <p:sp>
        <p:nvSpPr>
          <p:cNvPr id="208" name="Google Shape;208;p9"/>
          <p:cNvSpPr txBox="1"/>
          <p:nvPr/>
        </p:nvSpPr>
        <p:spPr>
          <a:xfrm>
            <a:off x="1371600" y="1243584"/>
            <a:ext cx="5760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800"/>
              <a:buFont typeface="Times New Roman"/>
              <a:buNone/>
            </a:pPr>
            <a:r>
              <a:rPr lang="en-US" sz="1800" b="1" i="0" u="none" strike="noStrike" cap="none">
                <a:solidFill>
                  <a:srgbClr val="17365D"/>
                </a:solidFill>
                <a:latin typeface="Times New Roman"/>
                <a:ea typeface="Times New Roman"/>
                <a:cs typeface="Times New Roman"/>
                <a:sym typeface="Times New Roman"/>
              </a:rPr>
              <a:t>Earlier notification</a:t>
            </a:r>
            <a:endParaRPr sz="1800" b="0" i="0" u="none" strike="noStrike" cap="none">
              <a:solidFill>
                <a:schemeClr val="dk1"/>
              </a:solidFill>
              <a:latin typeface="Times New Roman"/>
              <a:ea typeface="Times New Roman"/>
              <a:cs typeface="Times New Roman"/>
              <a:sym typeface="Times New Roman"/>
            </a:endParaRPr>
          </a:p>
        </p:txBody>
      </p:sp>
      <p:sp>
        <p:nvSpPr>
          <p:cNvPr id="209" name="Google Shape;209;p9"/>
          <p:cNvSpPr txBox="1"/>
          <p:nvPr/>
        </p:nvSpPr>
        <p:spPr>
          <a:xfrm>
            <a:off x="1371600" y="1609344"/>
            <a:ext cx="57607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400"/>
              <a:buFont typeface="Times New Roman"/>
              <a:buNone/>
            </a:pPr>
            <a:r>
              <a:rPr lang="en-US" sz="1400" b="0" i="0" u="none" strike="noStrike" cap="none">
                <a:solidFill>
                  <a:srgbClr val="3F4650"/>
                </a:solidFill>
                <a:latin typeface="Times New Roman"/>
                <a:ea typeface="Times New Roman"/>
                <a:cs typeface="Times New Roman"/>
                <a:sym typeface="Times New Roman"/>
              </a:rPr>
              <a:t>Automatic alert reduces reliance on manual reporting</a:t>
            </a:r>
            <a:endParaRPr sz="1400" b="0" i="0" u="none" strike="noStrike" cap="none">
              <a:solidFill>
                <a:schemeClr val="dk1"/>
              </a:solidFill>
              <a:latin typeface="Times New Roman"/>
              <a:ea typeface="Times New Roman"/>
              <a:cs typeface="Times New Roman"/>
              <a:sym typeface="Times New Roman"/>
            </a:endParaRPr>
          </a:p>
        </p:txBody>
      </p:sp>
      <p:sp>
        <p:nvSpPr>
          <p:cNvPr id="210" name="Google Shape;210;p9"/>
          <p:cNvSpPr/>
          <p:nvPr/>
        </p:nvSpPr>
        <p:spPr>
          <a:xfrm>
            <a:off x="457200" y="2167128"/>
            <a:ext cx="6766560" cy="841248"/>
          </a:xfrm>
          <a:prstGeom prst="roundRect">
            <a:avLst>
              <a:gd name="adj" fmla="val 8696"/>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9"/>
          <p:cNvSpPr/>
          <p:nvPr/>
        </p:nvSpPr>
        <p:spPr>
          <a:xfrm>
            <a:off x="594360" y="2340864"/>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2</a:t>
            </a:r>
            <a:endParaRPr sz="1700" b="0" i="0" u="none" strike="noStrike" cap="none">
              <a:solidFill>
                <a:schemeClr val="dk1"/>
              </a:solidFill>
              <a:latin typeface="Times New Roman"/>
              <a:ea typeface="Times New Roman"/>
              <a:cs typeface="Times New Roman"/>
              <a:sym typeface="Times New Roman"/>
            </a:endParaRPr>
          </a:p>
        </p:txBody>
      </p:sp>
      <p:sp>
        <p:nvSpPr>
          <p:cNvPr id="212" name="Google Shape;212;p9"/>
          <p:cNvSpPr txBox="1"/>
          <p:nvPr/>
        </p:nvSpPr>
        <p:spPr>
          <a:xfrm>
            <a:off x="1371600" y="2221992"/>
            <a:ext cx="5760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800"/>
              <a:buFont typeface="Times New Roman"/>
              <a:buNone/>
            </a:pPr>
            <a:r>
              <a:rPr lang="en-US" sz="1800" b="1" i="0" u="none" strike="noStrike" cap="none">
                <a:solidFill>
                  <a:srgbClr val="17365D"/>
                </a:solidFill>
                <a:latin typeface="Times New Roman"/>
                <a:ea typeface="Times New Roman"/>
                <a:cs typeface="Times New Roman"/>
                <a:sym typeface="Times New Roman"/>
              </a:rPr>
              <a:t>GPS-based reporting</a:t>
            </a:r>
            <a:endParaRPr sz="1800" b="0" i="0" u="none" strike="noStrike" cap="none">
              <a:solidFill>
                <a:schemeClr val="dk1"/>
              </a:solidFill>
              <a:latin typeface="Times New Roman"/>
              <a:ea typeface="Times New Roman"/>
              <a:cs typeface="Times New Roman"/>
              <a:sym typeface="Times New Roman"/>
            </a:endParaRPr>
          </a:p>
        </p:txBody>
      </p:sp>
      <p:sp>
        <p:nvSpPr>
          <p:cNvPr id="213" name="Google Shape;213;p9"/>
          <p:cNvSpPr txBox="1"/>
          <p:nvPr/>
        </p:nvSpPr>
        <p:spPr>
          <a:xfrm>
            <a:off x="1371600" y="2587752"/>
            <a:ext cx="57607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400"/>
              <a:buFont typeface="Times New Roman"/>
              <a:buNone/>
            </a:pPr>
            <a:r>
              <a:rPr lang="en-US" sz="1400" b="0" i="0" u="none" strike="noStrike" cap="none">
                <a:solidFill>
                  <a:srgbClr val="3F4650"/>
                </a:solidFill>
                <a:latin typeface="Times New Roman"/>
                <a:ea typeface="Times New Roman"/>
                <a:cs typeface="Times New Roman"/>
                <a:sym typeface="Times New Roman"/>
              </a:rPr>
              <a:t>Coordinates and timestamp travel with every alert</a:t>
            </a:r>
            <a:endParaRPr sz="1400" b="0" i="0" u="none" strike="noStrike" cap="none">
              <a:solidFill>
                <a:schemeClr val="dk1"/>
              </a:solidFill>
              <a:latin typeface="Times New Roman"/>
              <a:ea typeface="Times New Roman"/>
              <a:cs typeface="Times New Roman"/>
              <a:sym typeface="Times New Roman"/>
            </a:endParaRPr>
          </a:p>
        </p:txBody>
      </p:sp>
      <p:sp>
        <p:nvSpPr>
          <p:cNvPr id="214" name="Google Shape;214;p9"/>
          <p:cNvSpPr/>
          <p:nvPr/>
        </p:nvSpPr>
        <p:spPr>
          <a:xfrm>
            <a:off x="457200" y="3145536"/>
            <a:ext cx="6766560" cy="841248"/>
          </a:xfrm>
          <a:prstGeom prst="roundRect">
            <a:avLst>
              <a:gd name="adj" fmla="val 8696"/>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9"/>
          <p:cNvSpPr/>
          <p:nvPr/>
        </p:nvSpPr>
        <p:spPr>
          <a:xfrm>
            <a:off x="594360" y="3319272"/>
            <a:ext cx="502920" cy="502920"/>
          </a:xfrm>
          <a:prstGeom prst="ellipse">
            <a:avLst/>
          </a:prstGeom>
          <a:solidFill>
            <a:srgbClr val="3F4650"/>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3</a:t>
            </a:r>
            <a:endParaRPr sz="1700" b="0" i="0" u="none" strike="noStrike" cap="none">
              <a:solidFill>
                <a:schemeClr val="dk1"/>
              </a:solidFill>
              <a:latin typeface="Times New Roman"/>
              <a:ea typeface="Times New Roman"/>
              <a:cs typeface="Times New Roman"/>
              <a:sym typeface="Times New Roman"/>
            </a:endParaRPr>
          </a:p>
        </p:txBody>
      </p:sp>
      <p:sp>
        <p:nvSpPr>
          <p:cNvPr id="216" name="Google Shape;216;p9"/>
          <p:cNvSpPr txBox="1"/>
          <p:nvPr/>
        </p:nvSpPr>
        <p:spPr>
          <a:xfrm>
            <a:off x="1371600" y="3200400"/>
            <a:ext cx="5760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800"/>
              <a:buFont typeface="Times New Roman"/>
              <a:buNone/>
            </a:pPr>
            <a:r>
              <a:rPr lang="en-US" sz="1800" b="1" i="0" u="none" strike="noStrike" cap="none">
                <a:solidFill>
                  <a:srgbClr val="17365D"/>
                </a:solidFill>
                <a:latin typeface="Times New Roman"/>
                <a:ea typeface="Times New Roman"/>
                <a:cs typeface="Times New Roman"/>
                <a:sym typeface="Times New Roman"/>
              </a:rPr>
              <a:t>Portable preliminary screening</a:t>
            </a:r>
            <a:endParaRPr sz="1800" b="0" i="0" u="none" strike="noStrike" cap="none">
              <a:solidFill>
                <a:schemeClr val="dk1"/>
              </a:solidFill>
              <a:latin typeface="Times New Roman"/>
              <a:ea typeface="Times New Roman"/>
              <a:cs typeface="Times New Roman"/>
              <a:sym typeface="Times New Roman"/>
            </a:endParaRPr>
          </a:p>
        </p:txBody>
      </p:sp>
      <p:sp>
        <p:nvSpPr>
          <p:cNvPr id="217" name="Google Shape;217;p9"/>
          <p:cNvSpPr txBox="1"/>
          <p:nvPr/>
        </p:nvSpPr>
        <p:spPr>
          <a:xfrm>
            <a:off x="1371600" y="3566160"/>
            <a:ext cx="57607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400"/>
              <a:buFont typeface="Times New Roman"/>
              <a:buNone/>
            </a:pPr>
            <a:r>
              <a:rPr lang="en-US" sz="1400" b="0" i="0" u="none" strike="noStrike" cap="none">
                <a:solidFill>
                  <a:srgbClr val="3F4650"/>
                </a:solidFill>
                <a:latin typeface="Times New Roman"/>
                <a:ea typeface="Times New Roman"/>
                <a:cs typeface="Times New Roman"/>
                <a:sym typeface="Times New Roman"/>
              </a:rPr>
              <a:t>Quick on-site indication from a wearable</a:t>
            </a:r>
            <a:endParaRPr sz="1400" b="0" i="0" u="none" strike="noStrike" cap="none">
              <a:solidFill>
                <a:schemeClr val="dk1"/>
              </a:solidFill>
              <a:latin typeface="Times New Roman"/>
              <a:ea typeface="Times New Roman"/>
              <a:cs typeface="Times New Roman"/>
              <a:sym typeface="Times New Roman"/>
            </a:endParaRPr>
          </a:p>
        </p:txBody>
      </p:sp>
      <p:sp>
        <p:nvSpPr>
          <p:cNvPr id="218" name="Google Shape;218;p9"/>
          <p:cNvSpPr/>
          <p:nvPr/>
        </p:nvSpPr>
        <p:spPr>
          <a:xfrm>
            <a:off x="457200" y="4123944"/>
            <a:ext cx="6766560" cy="841248"/>
          </a:xfrm>
          <a:prstGeom prst="roundRect">
            <a:avLst>
              <a:gd name="adj" fmla="val 8696"/>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9"/>
          <p:cNvSpPr/>
          <p:nvPr/>
        </p:nvSpPr>
        <p:spPr>
          <a:xfrm>
            <a:off x="594360" y="4297680"/>
            <a:ext cx="502920" cy="502920"/>
          </a:xfrm>
          <a:prstGeom prst="ellipse">
            <a:avLst/>
          </a:prstGeom>
          <a:solidFill>
            <a:srgbClr val="3F4650"/>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4</a:t>
            </a:r>
            <a:endParaRPr sz="1700" b="0" i="0" u="none" strike="noStrike" cap="none">
              <a:solidFill>
                <a:schemeClr val="dk1"/>
              </a:solidFill>
              <a:latin typeface="Times New Roman"/>
              <a:ea typeface="Times New Roman"/>
              <a:cs typeface="Times New Roman"/>
              <a:sym typeface="Times New Roman"/>
            </a:endParaRPr>
          </a:p>
        </p:txBody>
      </p:sp>
      <p:sp>
        <p:nvSpPr>
          <p:cNvPr id="220" name="Google Shape;220;p9"/>
          <p:cNvSpPr txBox="1"/>
          <p:nvPr/>
        </p:nvSpPr>
        <p:spPr>
          <a:xfrm>
            <a:off x="1371600" y="4178808"/>
            <a:ext cx="5760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800"/>
              <a:buFont typeface="Times New Roman"/>
              <a:buNone/>
            </a:pPr>
            <a:r>
              <a:rPr lang="en-US" sz="1800" b="1" i="0" u="none" strike="noStrike" cap="none">
                <a:solidFill>
                  <a:srgbClr val="17365D"/>
                </a:solidFill>
                <a:latin typeface="Times New Roman"/>
                <a:ea typeface="Times New Roman"/>
                <a:cs typeface="Times New Roman"/>
                <a:sym typeface="Times New Roman"/>
              </a:rPr>
              <a:t>Local processing</a:t>
            </a:r>
            <a:endParaRPr sz="1800" b="0" i="0" u="none" strike="noStrike" cap="none">
              <a:solidFill>
                <a:schemeClr val="dk1"/>
              </a:solidFill>
              <a:latin typeface="Times New Roman"/>
              <a:ea typeface="Times New Roman"/>
              <a:cs typeface="Times New Roman"/>
              <a:sym typeface="Times New Roman"/>
            </a:endParaRPr>
          </a:p>
        </p:txBody>
      </p:sp>
      <p:sp>
        <p:nvSpPr>
          <p:cNvPr id="221" name="Google Shape;221;p9"/>
          <p:cNvSpPr txBox="1"/>
          <p:nvPr/>
        </p:nvSpPr>
        <p:spPr>
          <a:xfrm>
            <a:off x="1371600" y="4544568"/>
            <a:ext cx="57607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400"/>
              <a:buFont typeface="Times New Roman"/>
              <a:buNone/>
            </a:pPr>
            <a:r>
              <a:rPr lang="en-US" sz="1400" b="0" i="0" u="none" strike="noStrike" cap="none">
                <a:solidFill>
                  <a:srgbClr val="3F4650"/>
                </a:solidFill>
                <a:latin typeface="Times New Roman"/>
                <a:ea typeface="Times New Roman"/>
                <a:cs typeface="Times New Roman"/>
                <a:sym typeface="Times New Roman"/>
              </a:rPr>
              <a:t>Wristband classifies without cloud connectivity</a:t>
            </a:r>
            <a:endParaRPr sz="1400" b="0" i="0" u="none" strike="noStrike" cap="none">
              <a:solidFill>
                <a:schemeClr val="dk1"/>
              </a:solidFill>
              <a:latin typeface="Times New Roman"/>
              <a:ea typeface="Times New Roman"/>
              <a:cs typeface="Times New Roman"/>
              <a:sym typeface="Times New Roman"/>
            </a:endParaRPr>
          </a:p>
        </p:txBody>
      </p:sp>
      <p:sp>
        <p:nvSpPr>
          <p:cNvPr id="222" name="Google Shape;222;p9"/>
          <p:cNvSpPr/>
          <p:nvPr/>
        </p:nvSpPr>
        <p:spPr>
          <a:xfrm>
            <a:off x="457200" y="5102352"/>
            <a:ext cx="6766560" cy="841248"/>
          </a:xfrm>
          <a:prstGeom prst="roundRect">
            <a:avLst>
              <a:gd name="adj" fmla="val 8696"/>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9"/>
          <p:cNvSpPr/>
          <p:nvPr/>
        </p:nvSpPr>
        <p:spPr>
          <a:xfrm>
            <a:off x="594360" y="5276088"/>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5</a:t>
            </a:r>
            <a:endParaRPr sz="1700" b="0" i="0" u="none" strike="noStrike" cap="none">
              <a:solidFill>
                <a:schemeClr val="dk1"/>
              </a:solidFill>
              <a:latin typeface="Times New Roman"/>
              <a:ea typeface="Times New Roman"/>
              <a:cs typeface="Times New Roman"/>
              <a:sym typeface="Times New Roman"/>
            </a:endParaRPr>
          </a:p>
        </p:txBody>
      </p:sp>
      <p:sp>
        <p:nvSpPr>
          <p:cNvPr id="224" name="Google Shape;224;p9"/>
          <p:cNvSpPr txBox="1"/>
          <p:nvPr/>
        </p:nvSpPr>
        <p:spPr>
          <a:xfrm>
            <a:off x="1371600" y="5157216"/>
            <a:ext cx="5760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800"/>
              <a:buFont typeface="Times New Roman"/>
              <a:buNone/>
            </a:pPr>
            <a:r>
              <a:rPr lang="en-US" sz="1800" b="1" i="0" u="none" strike="noStrike" cap="none">
                <a:solidFill>
                  <a:srgbClr val="17365D"/>
                </a:solidFill>
                <a:latin typeface="Times New Roman"/>
                <a:ea typeface="Times New Roman"/>
                <a:cs typeface="Times New Roman"/>
                <a:sym typeface="Times New Roman"/>
              </a:rPr>
              <a:t>Modular integration</a:t>
            </a:r>
            <a:endParaRPr sz="1800" b="0" i="0" u="none" strike="noStrike" cap="none">
              <a:solidFill>
                <a:schemeClr val="dk1"/>
              </a:solidFill>
              <a:latin typeface="Times New Roman"/>
              <a:ea typeface="Times New Roman"/>
              <a:cs typeface="Times New Roman"/>
              <a:sym typeface="Times New Roman"/>
            </a:endParaRPr>
          </a:p>
        </p:txBody>
      </p:sp>
      <p:sp>
        <p:nvSpPr>
          <p:cNvPr id="225" name="Google Shape;225;p9"/>
          <p:cNvSpPr txBox="1"/>
          <p:nvPr/>
        </p:nvSpPr>
        <p:spPr>
          <a:xfrm>
            <a:off x="1371600" y="5522976"/>
            <a:ext cx="57607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400"/>
              <a:buFont typeface="Times New Roman"/>
              <a:buNone/>
            </a:pPr>
            <a:r>
              <a:rPr lang="en-US" sz="1400" b="0" i="0" u="none" strike="noStrike" cap="none">
                <a:solidFill>
                  <a:srgbClr val="3F4650"/>
                </a:solidFill>
                <a:latin typeface="Times New Roman"/>
                <a:ea typeface="Times New Roman"/>
                <a:cs typeface="Times New Roman"/>
                <a:sym typeface="Times New Roman"/>
              </a:rPr>
              <a:t>Each subsystem works alone; platform is optional</a:t>
            </a:r>
            <a:endParaRPr sz="1400" b="0" i="0" u="none" strike="noStrike" cap="none">
              <a:solidFill>
                <a:schemeClr val="dk1"/>
              </a:solidFill>
              <a:latin typeface="Times New Roman"/>
              <a:ea typeface="Times New Roman"/>
              <a:cs typeface="Times New Roman"/>
              <a:sym typeface="Times New Roman"/>
            </a:endParaRPr>
          </a:p>
        </p:txBody>
      </p:sp>
      <p:sp>
        <p:nvSpPr>
          <p:cNvPr id="226" name="Google Shape;226;p9"/>
          <p:cNvSpPr/>
          <p:nvPr/>
        </p:nvSpPr>
        <p:spPr>
          <a:xfrm>
            <a:off x="7498080" y="1188720"/>
            <a:ext cx="4233672" cy="2240280"/>
          </a:xfrm>
          <a:prstGeom prst="roundRect">
            <a:avLst>
              <a:gd name="adj" fmla="val 3265"/>
            </a:avLst>
          </a:prstGeom>
          <a:solidFill>
            <a:srgbClr val="E3F1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9"/>
          <p:cNvSpPr txBox="1"/>
          <p:nvPr/>
        </p:nvSpPr>
        <p:spPr>
          <a:xfrm>
            <a:off x="7680960" y="1261872"/>
            <a:ext cx="38404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8C8C"/>
              </a:buClr>
              <a:buSzPts val="1700"/>
              <a:buFont typeface="Times New Roman"/>
              <a:buNone/>
            </a:pPr>
            <a:r>
              <a:rPr lang="en-US" sz="1700" b="1" i="0" u="none" strike="noStrike" cap="none">
                <a:solidFill>
                  <a:srgbClr val="168C8C"/>
                </a:solidFill>
                <a:latin typeface="Times New Roman"/>
                <a:ea typeface="Times New Roman"/>
                <a:cs typeface="Times New Roman"/>
                <a:sym typeface="Times New Roman"/>
              </a:rPr>
              <a:t>Anticipated (design intent)</a:t>
            </a:r>
            <a:endParaRPr sz="1700" b="0" i="0" u="none" strike="noStrike" cap="none">
              <a:solidFill>
                <a:schemeClr val="dk1"/>
              </a:solidFill>
              <a:latin typeface="Times New Roman"/>
              <a:ea typeface="Times New Roman"/>
              <a:cs typeface="Times New Roman"/>
              <a:sym typeface="Times New Roman"/>
            </a:endParaRPr>
          </a:p>
        </p:txBody>
      </p:sp>
      <p:sp>
        <p:nvSpPr>
          <p:cNvPr id="228" name="Google Shape;228;p9"/>
          <p:cNvSpPr txBox="1"/>
          <p:nvPr/>
        </p:nvSpPr>
        <p:spPr>
          <a:xfrm>
            <a:off x="7680960" y="1691640"/>
            <a:ext cx="3886200" cy="164592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rgbClr val="3F4650"/>
              </a:buClr>
              <a:buSzPts val="1600"/>
              <a:buFont typeface="Times New Roman"/>
              <a:buChar char="•"/>
            </a:pPr>
            <a:r>
              <a:rPr lang="en-US" sz="1600" b="0" i="0" u="none" strike="noStrike" cap="none">
                <a:solidFill>
                  <a:srgbClr val="3F4650"/>
                </a:solidFill>
                <a:latin typeface="Times New Roman"/>
                <a:ea typeface="Times New Roman"/>
                <a:cs typeface="Times New Roman"/>
                <a:sym typeface="Times New Roman"/>
              </a:rPr>
              <a:t>Faster alert delivery</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600"/>
              <a:buFont typeface="Times New Roman"/>
              <a:buChar char="•"/>
            </a:pPr>
            <a:r>
              <a:rPr lang="en-US" sz="1600" b="0" i="0" u="none" strike="noStrike" cap="none">
                <a:solidFill>
                  <a:srgbClr val="3F4650"/>
                </a:solidFill>
                <a:latin typeface="Times New Roman"/>
                <a:ea typeface="Times New Roman"/>
                <a:cs typeface="Times New Roman"/>
                <a:sym typeface="Times New Roman"/>
              </a:rPr>
              <a:t>Fewer unreported incidents</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600"/>
              <a:buFont typeface="Times New Roman"/>
              <a:buChar char="•"/>
            </a:pPr>
            <a:r>
              <a:rPr lang="en-US" sz="1600" b="0" i="0" u="none" strike="noStrike" cap="none">
                <a:solidFill>
                  <a:srgbClr val="3F4650"/>
                </a:solidFill>
                <a:latin typeface="Times New Roman"/>
                <a:ea typeface="Times New Roman"/>
                <a:cs typeface="Times New Roman"/>
                <a:sym typeface="Times New Roman"/>
              </a:rPr>
              <a:t>Quicker field triage</a:t>
            </a:r>
            <a:endParaRPr sz="1400" b="0" i="0" u="none" strike="noStrike" cap="none">
              <a:solidFill>
                <a:schemeClr val="dk1"/>
              </a:solidFill>
              <a:latin typeface="Times New Roman"/>
              <a:ea typeface="Times New Roman"/>
              <a:cs typeface="Times New Roman"/>
              <a:sym typeface="Times New Roman"/>
            </a:endParaRPr>
          </a:p>
        </p:txBody>
      </p:sp>
      <p:sp>
        <p:nvSpPr>
          <p:cNvPr id="229" name="Google Shape;229;p9"/>
          <p:cNvSpPr/>
          <p:nvPr/>
        </p:nvSpPr>
        <p:spPr>
          <a:xfrm>
            <a:off x="7498080" y="3611880"/>
            <a:ext cx="4233672" cy="2468880"/>
          </a:xfrm>
          <a:prstGeom prst="roundRect">
            <a:avLst>
              <a:gd name="adj" fmla="val 2963"/>
            </a:avLst>
          </a:prstGeom>
          <a:solidFill>
            <a:srgbClr val="FBF3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9"/>
          <p:cNvSpPr txBox="1"/>
          <p:nvPr/>
        </p:nvSpPr>
        <p:spPr>
          <a:xfrm>
            <a:off x="7680960" y="3685032"/>
            <a:ext cx="38404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6A00"/>
              </a:buClr>
              <a:buSzPts val="1700"/>
              <a:buFont typeface="Times New Roman"/>
              <a:buNone/>
            </a:pPr>
            <a:r>
              <a:rPr lang="en-US" sz="1700" b="1" i="0" u="none" strike="noStrike" cap="none">
                <a:solidFill>
                  <a:srgbClr val="8A6A00"/>
                </a:solidFill>
                <a:latin typeface="Times New Roman"/>
                <a:ea typeface="Times New Roman"/>
                <a:cs typeface="Times New Roman"/>
                <a:sym typeface="Times New Roman"/>
              </a:rPr>
              <a:t>Measured in testing</a:t>
            </a:r>
            <a:endParaRPr sz="1700" b="0" i="0" u="none" strike="noStrike" cap="none">
              <a:solidFill>
                <a:schemeClr val="dk1"/>
              </a:solidFill>
              <a:latin typeface="Times New Roman"/>
              <a:ea typeface="Times New Roman"/>
              <a:cs typeface="Times New Roman"/>
              <a:sym typeface="Times New Roman"/>
            </a:endParaRPr>
          </a:p>
        </p:txBody>
      </p:sp>
      <p:sp>
        <p:nvSpPr>
          <p:cNvPr id="231" name="Google Shape;231;p9"/>
          <p:cNvSpPr txBox="1"/>
          <p:nvPr/>
        </p:nvSpPr>
        <p:spPr>
          <a:xfrm>
            <a:off x="7680960" y="4114800"/>
            <a:ext cx="388620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550"/>
              <a:buFont typeface="Times New Roman"/>
              <a:buNone/>
            </a:pPr>
            <a:r>
              <a:rPr lang="en-US" sz="1550" b="0" i="0" u="none" strike="noStrike" cap="none">
                <a:solidFill>
                  <a:srgbClr val="3F4650"/>
                </a:solidFill>
                <a:latin typeface="Times New Roman"/>
                <a:ea typeface="Times New Roman"/>
                <a:cs typeface="Times New Roman"/>
                <a:sym typeface="Times New Roman"/>
              </a:rPr>
              <a:t>None reported in the source documents. Response time, detection accuracy and screening performance are marked To be tested.</a:t>
            </a:r>
            <a:endParaRPr sz="1550" b="0" i="0" u="none" strike="noStrike" cap="none">
              <a:solidFill>
                <a:schemeClr val="dk1"/>
              </a:solidFill>
              <a:latin typeface="Times New Roman"/>
              <a:ea typeface="Times New Roman"/>
              <a:cs typeface="Times New Roman"/>
              <a:sym typeface="Times New Roman"/>
            </a:endParaRPr>
          </a:p>
        </p:txBody>
      </p:sp>
      <p:sp>
        <p:nvSpPr>
          <p:cNvPr id="232" name="Google Shape;232;p9"/>
          <p:cNvSpPr txBox="1"/>
          <p:nvPr/>
        </p:nvSpPr>
        <p:spPr>
          <a:xfrm>
            <a:off x="7680960" y="5440680"/>
            <a:ext cx="3886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36E"/>
              </a:buClr>
              <a:buSzPts val="1300"/>
              <a:buFont typeface="Times New Roman"/>
              <a:buNone/>
            </a:pPr>
            <a:r>
              <a:rPr lang="en-US" sz="1300" b="0" i="1" u="none" strike="noStrike" cap="none">
                <a:solidFill>
                  <a:srgbClr val="5B636E"/>
                </a:solidFill>
                <a:latin typeface="Times New Roman"/>
                <a:ea typeface="Times New Roman"/>
                <a:cs typeface="Times New Roman"/>
                <a:sym typeface="Times New Roman"/>
              </a:rPr>
              <a:t>Alcohol screening is not confirmed intoxication.</a:t>
            </a:r>
            <a:endParaRPr sz="13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7"/>
        <p:cNvGrpSpPr/>
        <p:nvPr/>
      </p:nvGrpSpPr>
      <p:grpSpPr>
        <a:xfrm>
          <a:off x="0" y="0"/>
          <a:ext cx="0" cy="0"/>
          <a:chOff x="0" y="0"/>
          <a:chExt cx="0" cy="0"/>
        </a:xfrm>
      </p:grpSpPr>
      <p:sp>
        <p:nvSpPr>
          <p:cNvPr id="238" name="Google Shape;238;p10"/>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WHERE and WHEN: Deployment and activation</a:t>
            </a:r>
            <a:endParaRPr sz="3000" b="0" i="0" u="none" strike="noStrike" cap="none">
              <a:solidFill>
                <a:schemeClr val="dk1"/>
              </a:solidFill>
              <a:latin typeface="Times New Roman"/>
              <a:ea typeface="Times New Roman"/>
              <a:cs typeface="Times New Roman"/>
              <a:sym typeface="Times New Roman"/>
            </a:endParaRPr>
          </a:p>
        </p:txBody>
      </p:sp>
      <p:sp>
        <p:nvSpPr>
          <p:cNvPr id="239" name="Google Shape;239;p10"/>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240" name="Google Shape;240;p10"/>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8</a:t>
            </a:r>
            <a:endParaRPr sz="1100" b="0" i="0" u="none" strike="noStrike" cap="none">
              <a:solidFill>
                <a:schemeClr val="dk1"/>
              </a:solidFill>
              <a:latin typeface="Times New Roman"/>
              <a:ea typeface="Times New Roman"/>
              <a:cs typeface="Times New Roman"/>
              <a:sym typeface="Times New Roman"/>
            </a:endParaRPr>
          </a:p>
        </p:txBody>
      </p:sp>
      <p:sp>
        <p:nvSpPr>
          <p:cNvPr id="241" name="Google Shape;241;p10"/>
          <p:cNvSpPr txBox="1"/>
          <p:nvPr/>
        </p:nvSpPr>
        <p:spPr>
          <a:xfrm>
            <a:off x="457200" y="1097280"/>
            <a:ext cx="55778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365D"/>
              </a:buClr>
              <a:buSzPts val="1800"/>
              <a:buFont typeface="Times New Roman"/>
              <a:buNone/>
            </a:pPr>
            <a:r>
              <a:rPr lang="en-US" sz="1800" b="1" i="0" u="none" strike="noStrike" cap="none">
                <a:solidFill>
                  <a:srgbClr val="17365D"/>
                </a:solidFill>
                <a:latin typeface="Times New Roman"/>
                <a:ea typeface="Times New Roman"/>
                <a:cs typeface="Times New Roman"/>
                <a:sym typeface="Times New Roman"/>
              </a:rPr>
              <a:t>WHERE (all proposed)</a:t>
            </a:r>
            <a:endParaRPr sz="1800" b="0" i="0" u="none" strike="noStrike" cap="none">
              <a:solidFill>
                <a:schemeClr val="dk1"/>
              </a:solidFill>
              <a:latin typeface="Times New Roman"/>
              <a:ea typeface="Times New Roman"/>
              <a:cs typeface="Times New Roman"/>
              <a:sym typeface="Times New Roman"/>
            </a:endParaRPr>
          </a:p>
        </p:txBody>
      </p:sp>
      <p:sp>
        <p:nvSpPr>
          <p:cNvPr id="242" name="Google Shape;242;p10"/>
          <p:cNvSpPr/>
          <p:nvPr/>
        </p:nvSpPr>
        <p:spPr>
          <a:xfrm>
            <a:off x="457200" y="1554480"/>
            <a:ext cx="2697480" cy="1097280"/>
          </a:xfrm>
          <a:prstGeom prst="roundRect">
            <a:avLst>
              <a:gd name="adj" fmla="val 6667"/>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0"/>
          <p:cNvSpPr txBox="1"/>
          <p:nvPr/>
        </p:nvSpPr>
        <p:spPr>
          <a:xfrm>
            <a:off x="566928" y="1627632"/>
            <a:ext cx="2468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450"/>
              <a:buFont typeface="Times New Roman"/>
              <a:buNone/>
            </a:pPr>
            <a:r>
              <a:rPr lang="en-US" sz="1450" b="1" i="0" u="none" strike="noStrike" cap="none">
                <a:solidFill>
                  <a:srgbClr val="17365D"/>
                </a:solidFill>
                <a:latin typeface="Times New Roman"/>
                <a:ea typeface="Times New Roman"/>
                <a:cs typeface="Times New Roman"/>
                <a:sym typeface="Times New Roman"/>
              </a:rPr>
              <a:t>Roadways and highways</a:t>
            </a:r>
            <a:endParaRPr sz="1450" b="0" i="0" u="none" strike="noStrike" cap="none">
              <a:solidFill>
                <a:schemeClr val="dk1"/>
              </a:solidFill>
              <a:latin typeface="Times New Roman"/>
              <a:ea typeface="Times New Roman"/>
              <a:cs typeface="Times New Roman"/>
              <a:sym typeface="Times New Roman"/>
            </a:endParaRPr>
          </a:p>
        </p:txBody>
      </p:sp>
      <p:sp>
        <p:nvSpPr>
          <p:cNvPr id="244" name="Google Shape;244;p10"/>
          <p:cNvSpPr txBox="1"/>
          <p:nvPr/>
        </p:nvSpPr>
        <p:spPr>
          <a:xfrm>
            <a:off x="566928" y="2103120"/>
            <a:ext cx="246888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Needs gateway coverage along the route</a:t>
            </a:r>
            <a:endParaRPr sz="1250" b="0" i="0" u="none" strike="noStrike" cap="none">
              <a:solidFill>
                <a:schemeClr val="dk1"/>
              </a:solidFill>
              <a:latin typeface="Times New Roman"/>
              <a:ea typeface="Times New Roman"/>
              <a:cs typeface="Times New Roman"/>
              <a:sym typeface="Times New Roman"/>
            </a:endParaRPr>
          </a:p>
        </p:txBody>
      </p:sp>
      <p:sp>
        <p:nvSpPr>
          <p:cNvPr id="245" name="Google Shape;245;p10"/>
          <p:cNvSpPr/>
          <p:nvPr/>
        </p:nvSpPr>
        <p:spPr>
          <a:xfrm>
            <a:off x="3337560" y="1554480"/>
            <a:ext cx="2697480" cy="1097280"/>
          </a:xfrm>
          <a:prstGeom prst="roundRect">
            <a:avLst>
              <a:gd name="adj" fmla="val 6667"/>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0"/>
          <p:cNvSpPr txBox="1"/>
          <p:nvPr/>
        </p:nvSpPr>
        <p:spPr>
          <a:xfrm>
            <a:off x="3447288" y="1627632"/>
            <a:ext cx="2468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450"/>
              <a:buFont typeface="Times New Roman"/>
              <a:buNone/>
            </a:pPr>
            <a:r>
              <a:rPr lang="en-US" sz="1450" b="1" i="0" u="none" strike="noStrike" cap="none">
                <a:solidFill>
                  <a:srgbClr val="17365D"/>
                </a:solidFill>
                <a:latin typeface="Times New Roman"/>
                <a:ea typeface="Times New Roman"/>
                <a:cs typeface="Times New Roman"/>
                <a:sym typeface="Times New Roman"/>
              </a:rPr>
              <a:t>Campuses</a:t>
            </a:r>
            <a:endParaRPr sz="1450" b="0" i="0" u="none" strike="noStrike" cap="none">
              <a:solidFill>
                <a:schemeClr val="dk1"/>
              </a:solidFill>
              <a:latin typeface="Times New Roman"/>
              <a:ea typeface="Times New Roman"/>
              <a:cs typeface="Times New Roman"/>
              <a:sym typeface="Times New Roman"/>
            </a:endParaRPr>
          </a:p>
        </p:txBody>
      </p:sp>
      <p:sp>
        <p:nvSpPr>
          <p:cNvPr id="247" name="Google Shape;247;p10"/>
          <p:cNvSpPr txBox="1"/>
          <p:nvPr/>
        </p:nvSpPr>
        <p:spPr>
          <a:xfrm>
            <a:off x="3447288" y="2103120"/>
            <a:ext cx="246888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Gateway on site; campus vehicles</a:t>
            </a:r>
            <a:endParaRPr sz="1250" b="0" i="0" u="none" strike="noStrike" cap="none">
              <a:solidFill>
                <a:schemeClr val="dk1"/>
              </a:solidFill>
              <a:latin typeface="Times New Roman"/>
              <a:ea typeface="Times New Roman"/>
              <a:cs typeface="Times New Roman"/>
              <a:sym typeface="Times New Roman"/>
            </a:endParaRPr>
          </a:p>
        </p:txBody>
      </p:sp>
      <p:sp>
        <p:nvSpPr>
          <p:cNvPr id="248" name="Google Shape;248;p10"/>
          <p:cNvSpPr/>
          <p:nvPr/>
        </p:nvSpPr>
        <p:spPr>
          <a:xfrm>
            <a:off x="457200" y="2770632"/>
            <a:ext cx="2697480" cy="1097280"/>
          </a:xfrm>
          <a:prstGeom prst="roundRect">
            <a:avLst>
              <a:gd name="adj" fmla="val 6667"/>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0"/>
          <p:cNvSpPr txBox="1"/>
          <p:nvPr/>
        </p:nvSpPr>
        <p:spPr>
          <a:xfrm>
            <a:off x="566928" y="2843784"/>
            <a:ext cx="2468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450"/>
              <a:buFont typeface="Times New Roman"/>
              <a:buNone/>
            </a:pPr>
            <a:r>
              <a:rPr lang="en-US" sz="1450" b="1" i="0" u="none" strike="noStrike" cap="none">
                <a:solidFill>
                  <a:srgbClr val="17365D"/>
                </a:solidFill>
                <a:latin typeface="Times New Roman"/>
                <a:ea typeface="Times New Roman"/>
                <a:cs typeface="Times New Roman"/>
                <a:sym typeface="Times New Roman"/>
              </a:rPr>
              <a:t>Fleet operations</a:t>
            </a:r>
            <a:endParaRPr sz="1450" b="0" i="0" u="none" strike="noStrike" cap="none">
              <a:solidFill>
                <a:schemeClr val="dk1"/>
              </a:solidFill>
              <a:latin typeface="Times New Roman"/>
              <a:ea typeface="Times New Roman"/>
              <a:cs typeface="Times New Roman"/>
              <a:sym typeface="Times New Roman"/>
            </a:endParaRPr>
          </a:p>
        </p:txBody>
      </p:sp>
      <p:sp>
        <p:nvSpPr>
          <p:cNvPr id="250" name="Google Shape;250;p10"/>
          <p:cNvSpPr txBox="1"/>
          <p:nvPr/>
        </p:nvSpPr>
        <p:spPr>
          <a:xfrm>
            <a:off x="566928" y="3319272"/>
            <a:ext cx="246888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Fleet-wide alert logging</a:t>
            </a:r>
            <a:endParaRPr sz="1250" b="0" i="0" u="none" strike="noStrike" cap="none">
              <a:solidFill>
                <a:schemeClr val="dk1"/>
              </a:solidFill>
              <a:latin typeface="Times New Roman"/>
              <a:ea typeface="Times New Roman"/>
              <a:cs typeface="Times New Roman"/>
              <a:sym typeface="Times New Roman"/>
            </a:endParaRPr>
          </a:p>
        </p:txBody>
      </p:sp>
      <p:sp>
        <p:nvSpPr>
          <p:cNvPr id="251" name="Google Shape;251;p10"/>
          <p:cNvSpPr/>
          <p:nvPr/>
        </p:nvSpPr>
        <p:spPr>
          <a:xfrm>
            <a:off x="3337560" y="2770632"/>
            <a:ext cx="2697480" cy="1097280"/>
          </a:xfrm>
          <a:prstGeom prst="roundRect">
            <a:avLst>
              <a:gd name="adj" fmla="val 6667"/>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0"/>
          <p:cNvSpPr txBox="1"/>
          <p:nvPr/>
        </p:nvSpPr>
        <p:spPr>
          <a:xfrm>
            <a:off x="3447288" y="2843784"/>
            <a:ext cx="2468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450"/>
              <a:buFont typeface="Times New Roman"/>
              <a:buNone/>
            </a:pPr>
            <a:r>
              <a:rPr lang="en-US" sz="1450" b="1" i="0" u="none" strike="noStrike" cap="none">
                <a:solidFill>
                  <a:srgbClr val="17365D"/>
                </a:solidFill>
                <a:latin typeface="Times New Roman"/>
                <a:ea typeface="Times New Roman"/>
                <a:cs typeface="Times New Roman"/>
                <a:sym typeface="Times New Roman"/>
              </a:rPr>
              <a:t>Industrial workplaces</a:t>
            </a:r>
            <a:endParaRPr sz="1450" b="0" i="0" u="none" strike="noStrike" cap="none">
              <a:solidFill>
                <a:schemeClr val="dk1"/>
              </a:solidFill>
              <a:latin typeface="Times New Roman"/>
              <a:ea typeface="Times New Roman"/>
              <a:cs typeface="Times New Roman"/>
              <a:sym typeface="Times New Roman"/>
            </a:endParaRPr>
          </a:p>
        </p:txBody>
      </p:sp>
      <p:sp>
        <p:nvSpPr>
          <p:cNvPr id="253" name="Google Shape;253;p10"/>
          <p:cNvSpPr txBox="1"/>
          <p:nvPr/>
        </p:nvSpPr>
        <p:spPr>
          <a:xfrm>
            <a:off x="3447288" y="3319272"/>
            <a:ext cx="246888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Site vehicles and staff screening</a:t>
            </a:r>
            <a:endParaRPr sz="1250" b="0" i="0" u="none" strike="noStrike" cap="none">
              <a:solidFill>
                <a:schemeClr val="dk1"/>
              </a:solidFill>
              <a:latin typeface="Times New Roman"/>
              <a:ea typeface="Times New Roman"/>
              <a:cs typeface="Times New Roman"/>
              <a:sym typeface="Times New Roman"/>
            </a:endParaRPr>
          </a:p>
        </p:txBody>
      </p:sp>
      <p:sp>
        <p:nvSpPr>
          <p:cNvPr id="254" name="Google Shape;254;p10"/>
          <p:cNvSpPr/>
          <p:nvPr/>
        </p:nvSpPr>
        <p:spPr>
          <a:xfrm>
            <a:off x="457200" y="3986784"/>
            <a:ext cx="2697480" cy="1097280"/>
          </a:xfrm>
          <a:prstGeom prst="roundRect">
            <a:avLst>
              <a:gd name="adj" fmla="val 6667"/>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0"/>
          <p:cNvSpPr txBox="1"/>
          <p:nvPr/>
        </p:nvSpPr>
        <p:spPr>
          <a:xfrm>
            <a:off x="566928" y="4059936"/>
            <a:ext cx="2468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450"/>
              <a:buFont typeface="Times New Roman"/>
              <a:buNone/>
            </a:pPr>
            <a:r>
              <a:rPr lang="en-US" sz="1450" b="1" i="0" u="none" strike="noStrike" cap="none">
                <a:solidFill>
                  <a:srgbClr val="17365D"/>
                </a:solidFill>
                <a:latin typeface="Times New Roman"/>
                <a:ea typeface="Times New Roman"/>
                <a:cs typeface="Times New Roman"/>
                <a:sym typeface="Times New Roman"/>
              </a:rPr>
              <a:t>Authorized field screening</a:t>
            </a:r>
            <a:endParaRPr sz="1450" b="0" i="0" u="none" strike="noStrike" cap="none">
              <a:solidFill>
                <a:schemeClr val="dk1"/>
              </a:solidFill>
              <a:latin typeface="Times New Roman"/>
              <a:ea typeface="Times New Roman"/>
              <a:cs typeface="Times New Roman"/>
              <a:sym typeface="Times New Roman"/>
            </a:endParaRPr>
          </a:p>
        </p:txBody>
      </p:sp>
      <p:sp>
        <p:nvSpPr>
          <p:cNvPr id="256" name="Google Shape;256;p10"/>
          <p:cNvSpPr txBox="1"/>
          <p:nvPr/>
        </p:nvSpPr>
        <p:spPr>
          <a:xfrm>
            <a:off x="566928" y="4535424"/>
            <a:ext cx="246888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Consent and authority required</a:t>
            </a:r>
            <a:endParaRPr sz="1250" b="0" i="0" u="none" strike="noStrike" cap="none">
              <a:solidFill>
                <a:schemeClr val="dk1"/>
              </a:solidFill>
              <a:latin typeface="Times New Roman"/>
              <a:ea typeface="Times New Roman"/>
              <a:cs typeface="Times New Roman"/>
              <a:sym typeface="Times New Roman"/>
            </a:endParaRPr>
          </a:p>
        </p:txBody>
      </p:sp>
      <p:sp>
        <p:nvSpPr>
          <p:cNvPr id="257" name="Google Shape;257;p10"/>
          <p:cNvSpPr/>
          <p:nvPr/>
        </p:nvSpPr>
        <p:spPr>
          <a:xfrm>
            <a:off x="3337560" y="3986784"/>
            <a:ext cx="2697480" cy="1097280"/>
          </a:xfrm>
          <a:prstGeom prst="roundRect">
            <a:avLst>
              <a:gd name="adj" fmla="val 6667"/>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0"/>
          <p:cNvSpPr txBox="1"/>
          <p:nvPr/>
        </p:nvSpPr>
        <p:spPr>
          <a:xfrm>
            <a:off x="3447288" y="4059936"/>
            <a:ext cx="2468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450"/>
              <a:buFont typeface="Times New Roman"/>
              <a:buNone/>
            </a:pPr>
            <a:r>
              <a:rPr lang="en-US" sz="1450" b="1" i="0" u="none" strike="noStrike" cap="none">
                <a:solidFill>
                  <a:srgbClr val="17365D"/>
                </a:solidFill>
                <a:latin typeface="Times New Roman"/>
                <a:ea typeface="Times New Roman"/>
                <a:cs typeface="Times New Roman"/>
                <a:sym typeface="Times New Roman"/>
              </a:rPr>
              <a:t>Emergency-response networks</a:t>
            </a:r>
            <a:endParaRPr sz="1450" b="0" i="0" u="none" strike="noStrike" cap="none">
              <a:solidFill>
                <a:schemeClr val="dk1"/>
              </a:solidFill>
              <a:latin typeface="Times New Roman"/>
              <a:ea typeface="Times New Roman"/>
              <a:cs typeface="Times New Roman"/>
              <a:sym typeface="Times New Roman"/>
            </a:endParaRPr>
          </a:p>
        </p:txBody>
      </p:sp>
      <p:sp>
        <p:nvSpPr>
          <p:cNvPr id="259" name="Google Shape;259;p10"/>
          <p:cNvSpPr txBox="1"/>
          <p:nvPr/>
        </p:nvSpPr>
        <p:spPr>
          <a:xfrm>
            <a:off x="3447288" y="4535424"/>
            <a:ext cx="246888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Needs agreed integration</a:t>
            </a:r>
            <a:endParaRPr sz="1250" b="0" i="0" u="none" strike="noStrike" cap="none">
              <a:solidFill>
                <a:schemeClr val="dk1"/>
              </a:solidFill>
              <a:latin typeface="Times New Roman"/>
              <a:ea typeface="Times New Roman"/>
              <a:cs typeface="Times New Roman"/>
              <a:sym typeface="Times New Roman"/>
            </a:endParaRPr>
          </a:p>
        </p:txBody>
      </p:sp>
      <p:sp>
        <p:nvSpPr>
          <p:cNvPr id="260" name="Google Shape;260;p10"/>
          <p:cNvSpPr txBox="1"/>
          <p:nvPr/>
        </p:nvSpPr>
        <p:spPr>
          <a:xfrm>
            <a:off x="6355080" y="1097280"/>
            <a:ext cx="53035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365D"/>
              </a:buClr>
              <a:buSzPts val="1800"/>
              <a:buFont typeface="Times New Roman"/>
              <a:buNone/>
            </a:pPr>
            <a:r>
              <a:rPr lang="en-US" sz="1800" b="1" i="0" u="none" strike="noStrike" cap="none">
                <a:solidFill>
                  <a:srgbClr val="17365D"/>
                </a:solidFill>
                <a:latin typeface="Times New Roman"/>
                <a:ea typeface="Times New Roman"/>
                <a:cs typeface="Times New Roman"/>
                <a:sym typeface="Times New Roman"/>
              </a:rPr>
              <a:t>WHEN</a:t>
            </a:r>
            <a:endParaRPr sz="1800" b="0" i="0" u="none" strike="noStrike" cap="none">
              <a:solidFill>
                <a:schemeClr val="dk1"/>
              </a:solidFill>
              <a:latin typeface="Times New Roman"/>
              <a:ea typeface="Times New Roman"/>
              <a:cs typeface="Times New Roman"/>
              <a:sym typeface="Times New Roman"/>
            </a:endParaRPr>
          </a:p>
        </p:txBody>
      </p:sp>
      <p:sp>
        <p:nvSpPr>
          <p:cNvPr id="261" name="Google Shape;261;p10"/>
          <p:cNvSpPr txBox="1"/>
          <p:nvPr/>
        </p:nvSpPr>
        <p:spPr>
          <a:xfrm>
            <a:off x="6355080" y="1536192"/>
            <a:ext cx="530352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8C8C"/>
              </a:buClr>
              <a:buSzPts val="1400"/>
              <a:buFont typeface="Times New Roman"/>
              <a:buNone/>
            </a:pPr>
            <a:r>
              <a:rPr lang="en-US" sz="1400" b="1" i="0" u="none" strike="noStrike" cap="none">
                <a:solidFill>
                  <a:srgbClr val="168C8C"/>
                </a:solidFill>
                <a:latin typeface="Times New Roman"/>
                <a:ea typeface="Times New Roman"/>
                <a:cs typeface="Times New Roman"/>
                <a:sym typeface="Times New Roman"/>
              </a:rPr>
              <a:t>Vehicle subsystem</a:t>
            </a:r>
            <a:endParaRPr sz="1400" b="0" i="0" u="none" strike="noStrike" cap="none">
              <a:solidFill>
                <a:schemeClr val="dk1"/>
              </a:solidFill>
              <a:latin typeface="Times New Roman"/>
              <a:ea typeface="Times New Roman"/>
              <a:cs typeface="Times New Roman"/>
              <a:sym typeface="Times New Roman"/>
            </a:endParaRPr>
          </a:p>
        </p:txBody>
      </p:sp>
      <p:sp>
        <p:nvSpPr>
          <p:cNvPr id="262" name="Google Shape;262;p10"/>
          <p:cNvSpPr/>
          <p:nvPr/>
        </p:nvSpPr>
        <p:spPr>
          <a:xfrm>
            <a:off x="6355080" y="1874520"/>
            <a:ext cx="118872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Monitor motion</a:t>
            </a:r>
            <a:endParaRPr sz="1150" b="0" i="0" u="none" strike="noStrike" cap="none">
              <a:solidFill>
                <a:schemeClr val="dk1"/>
              </a:solidFill>
              <a:latin typeface="Times New Roman"/>
              <a:ea typeface="Times New Roman"/>
              <a:cs typeface="Times New Roman"/>
              <a:sym typeface="Times New Roman"/>
            </a:endParaRPr>
          </a:p>
        </p:txBody>
      </p:sp>
      <p:cxnSp>
        <p:nvCxnSpPr>
          <p:cNvPr id="263" name="Google Shape;263;p10"/>
          <p:cNvCxnSpPr/>
          <p:nvPr/>
        </p:nvCxnSpPr>
        <p:spPr>
          <a:xfrm>
            <a:off x="7543800" y="2308860"/>
            <a:ext cx="182880" cy="0"/>
          </a:xfrm>
          <a:prstGeom prst="straightConnector1">
            <a:avLst/>
          </a:prstGeom>
          <a:noFill/>
          <a:ln w="19050" cap="flat" cmpd="sng">
            <a:solidFill>
              <a:srgbClr val="17365D"/>
            </a:solidFill>
            <a:prstDash val="solid"/>
            <a:round/>
            <a:headEnd type="none" w="sm" len="sm"/>
            <a:tailEnd type="triangle" w="med" len="med"/>
          </a:ln>
        </p:spPr>
      </p:cxnSp>
      <p:sp>
        <p:nvSpPr>
          <p:cNvPr id="264" name="Google Shape;264;p10"/>
          <p:cNvSpPr/>
          <p:nvPr/>
        </p:nvSpPr>
        <p:spPr>
          <a:xfrm>
            <a:off x="7726680" y="1874520"/>
            <a:ext cx="118872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Threshold exceeded</a:t>
            </a:r>
            <a:endParaRPr sz="1150" b="0" i="0" u="none" strike="noStrike" cap="none">
              <a:solidFill>
                <a:schemeClr val="dk1"/>
              </a:solidFill>
              <a:latin typeface="Times New Roman"/>
              <a:ea typeface="Times New Roman"/>
              <a:cs typeface="Times New Roman"/>
              <a:sym typeface="Times New Roman"/>
            </a:endParaRPr>
          </a:p>
        </p:txBody>
      </p:sp>
      <p:cxnSp>
        <p:nvCxnSpPr>
          <p:cNvPr id="265" name="Google Shape;265;p10"/>
          <p:cNvCxnSpPr/>
          <p:nvPr/>
        </p:nvCxnSpPr>
        <p:spPr>
          <a:xfrm>
            <a:off x="8915400" y="2308860"/>
            <a:ext cx="182880" cy="0"/>
          </a:xfrm>
          <a:prstGeom prst="straightConnector1">
            <a:avLst/>
          </a:prstGeom>
          <a:noFill/>
          <a:ln w="19050" cap="flat" cmpd="sng">
            <a:solidFill>
              <a:srgbClr val="17365D"/>
            </a:solidFill>
            <a:prstDash val="solid"/>
            <a:round/>
            <a:headEnd type="none" w="sm" len="sm"/>
            <a:tailEnd type="triangle" w="med" len="med"/>
          </a:ln>
        </p:spPr>
      </p:cxnSp>
      <p:sp>
        <p:nvSpPr>
          <p:cNvPr id="266" name="Google Shape;266;p10"/>
          <p:cNvSpPr/>
          <p:nvPr/>
        </p:nvSpPr>
        <p:spPr>
          <a:xfrm>
            <a:off x="9098280" y="1874520"/>
            <a:ext cx="118872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Confirm and cancel window</a:t>
            </a:r>
            <a:endParaRPr sz="1150" b="0" i="0" u="none" strike="noStrike" cap="none">
              <a:solidFill>
                <a:schemeClr val="dk1"/>
              </a:solidFill>
              <a:latin typeface="Times New Roman"/>
              <a:ea typeface="Times New Roman"/>
              <a:cs typeface="Times New Roman"/>
              <a:sym typeface="Times New Roman"/>
            </a:endParaRPr>
          </a:p>
        </p:txBody>
      </p:sp>
      <p:cxnSp>
        <p:nvCxnSpPr>
          <p:cNvPr id="267" name="Google Shape;267;p10"/>
          <p:cNvCxnSpPr/>
          <p:nvPr/>
        </p:nvCxnSpPr>
        <p:spPr>
          <a:xfrm>
            <a:off x="10287000" y="2308860"/>
            <a:ext cx="182880" cy="0"/>
          </a:xfrm>
          <a:prstGeom prst="straightConnector1">
            <a:avLst/>
          </a:prstGeom>
          <a:noFill/>
          <a:ln w="19050" cap="flat" cmpd="sng">
            <a:solidFill>
              <a:srgbClr val="17365D"/>
            </a:solidFill>
            <a:prstDash val="solid"/>
            <a:round/>
            <a:headEnd type="none" w="sm" len="sm"/>
            <a:tailEnd type="triangle" w="med" len="med"/>
          </a:ln>
        </p:spPr>
      </p:cxnSp>
      <p:sp>
        <p:nvSpPr>
          <p:cNvPr id="268" name="Google Shape;268;p10"/>
          <p:cNvSpPr/>
          <p:nvPr/>
        </p:nvSpPr>
        <p:spPr>
          <a:xfrm>
            <a:off x="10469880" y="1874520"/>
            <a:ext cx="118872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GPS fix and LoRa send</a:t>
            </a:r>
            <a:endParaRPr sz="1150" b="0" i="0" u="none" strike="noStrike" cap="none">
              <a:solidFill>
                <a:schemeClr val="dk1"/>
              </a:solidFill>
              <a:latin typeface="Times New Roman"/>
              <a:ea typeface="Times New Roman"/>
              <a:cs typeface="Times New Roman"/>
              <a:sym typeface="Times New Roman"/>
            </a:endParaRPr>
          </a:p>
        </p:txBody>
      </p:sp>
      <p:sp>
        <p:nvSpPr>
          <p:cNvPr id="269" name="Google Shape;269;p10"/>
          <p:cNvSpPr txBox="1"/>
          <p:nvPr/>
        </p:nvSpPr>
        <p:spPr>
          <a:xfrm>
            <a:off x="6355080" y="3063240"/>
            <a:ext cx="530352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400"/>
              <a:buFont typeface="Times New Roman"/>
              <a:buNone/>
            </a:pPr>
            <a:r>
              <a:rPr lang="en-US" sz="1400" b="1" i="0" u="none" strike="noStrike" cap="none">
                <a:solidFill>
                  <a:srgbClr val="3F4650"/>
                </a:solidFill>
                <a:latin typeface="Times New Roman"/>
                <a:ea typeface="Times New Roman"/>
                <a:cs typeface="Times New Roman"/>
                <a:sym typeface="Times New Roman"/>
              </a:rPr>
              <a:t>Wearable subsystem</a:t>
            </a:r>
            <a:endParaRPr sz="1400" b="0" i="0" u="none" strike="noStrike" cap="none">
              <a:solidFill>
                <a:schemeClr val="dk1"/>
              </a:solidFill>
              <a:latin typeface="Times New Roman"/>
              <a:ea typeface="Times New Roman"/>
              <a:cs typeface="Times New Roman"/>
              <a:sym typeface="Times New Roman"/>
            </a:endParaRPr>
          </a:p>
        </p:txBody>
      </p:sp>
      <p:sp>
        <p:nvSpPr>
          <p:cNvPr id="270" name="Google Shape;270;p10"/>
          <p:cNvSpPr/>
          <p:nvPr/>
        </p:nvSpPr>
        <p:spPr>
          <a:xfrm>
            <a:off x="6355080" y="3401568"/>
            <a:ext cx="118872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Periodic measurement</a:t>
            </a:r>
            <a:endParaRPr sz="1150" b="0" i="0" u="none" strike="noStrike" cap="none">
              <a:solidFill>
                <a:schemeClr val="dk1"/>
              </a:solidFill>
              <a:latin typeface="Times New Roman"/>
              <a:ea typeface="Times New Roman"/>
              <a:cs typeface="Times New Roman"/>
              <a:sym typeface="Times New Roman"/>
            </a:endParaRPr>
          </a:p>
        </p:txBody>
      </p:sp>
      <p:cxnSp>
        <p:nvCxnSpPr>
          <p:cNvPr id="271" name="Google Shape;271;p10"/>
          <p:cNvCxnSpPr/>
          <p:nvPr/>
        </p:nvCxnSpPr>
        <p:spPr>
          <a:xfrm>
            <a:off x="7543800" y="3835908"/>
            <a:ext cx="182880" cy="0"/>
          </a:xfrm>
          <a:prstGeom prst="straightConnector1">
            <a:avLst/>
          </a:prstGeom>
          <a:noFill/>
          <a:ln w="19050" cap="flat" cmpd="sng">
            <a:solidFill>
              <a:srgbClr val="3F4650"/>
            </a:solidFill>
            <a:prstDash val="solid"/>
            <a:round/>
            <a:headEnd type="none" w="sm" len="sm"/>
            <a:tailEnd type="triangle" w="med" len="med"/>
          </a:ln>
        </p:spPr>
      </p:cxnSp>
      <p:sp>
        <p:nvSpPr>
          <p:cNvPr id="272" name="Google Shape;272;p10"/>
          <p:cNvSpPr/>
          <p:nvPr/>
        </p:nvSpPr>
        <p:spPr>
          <a:xfrm>
            <a:off x="7726680" y="3401568"/>
            <a:ext cx="118872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Moving-average filter</a:t>
            </a:r>
            <a:endParaRPr sz="1150" b="0" i="0" u="none" strike="noStrike" cap="none">
              <a:solidFill>
                <a:schemeClr val="dk1"/>
              </a:solidFill>
              <a:latin typeface="Times New Roman"/>
              <a:ea typeface="Times New Roman"/>
              <a:cs typeface="Times New Roman"/>
              <a:sym typeface="Times New Roman"/>
            </a:endParaRPr>
          </a:p>
        </p:txBody>
      </p:sp>
      <p:cxnSp>
        <p:nvCxnSpPr>
          <p:cNvPr id="273" name="Google Shape;273;p10"/>
          <p:cNvCxnSpPr/>
          <p:nvPr/>
        </p:nvCxnSpPr>
        <p:spPr>
          <a:xfrm>
            <a:off x="8915400" y="3835908"/>
            <a:ext cx="182880" cy="0"/>
          </a:xfrm>
          <a:prstGeom prst="straightConnector1">
            <a:avLst/>
          </a:prstGeom>
          <a:noFill/>
          <a:ln w="19050" cap="flat" cmpd="sng">
            <a:solidFill>
              <a:srgbClr val="3F4650"/>
            </a:solidFill>
            <a:prstDash val="solid"/>
            <a:round/>
            <a:headEnd type="none" w="sm" len="sm"/>
            <a:tailEnd type="triangle" w="med" len="med"/>
          </a:ln>
        </p:spPr>
      </p:cxnSp>
      <p:sp>
        <p:nvSpPr>
          <p:cNvPr id="274" name="Google Shape;274;p10"/>
          <p:cNvSpPr/>
          <p:nvPr/>
        </p:nvSpPr>
        <p:spPr>
          <a:xfrm>
            <a:off x="9098280" y="3401568"/>
            <a:ext cx="118872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AWTRA risk score</a:t>
            </a:r>
            <a:endParaRPr sz="1150" b="0" i="0" u="none" strike="noStrike" cap="none">
              <a:solidFill>
                <a:schemeClr val="dk1"/>
              </a:solidFill>
              <a:latin typeface="Times New Roman"/>
              <a:ea typeface="Times New Roman"/>
              <a:cs typeface="Times New Roman"/>
              <a:sym typeface="Times New Roman"/>
            </a:endParaRPr>
          </a:p>
        </p:txBody>
      </p:sp>
      <p:cxnSp>
        <p:nvCxnSpPr>
          <p:cNvPr id="275" name="Google Shape;275;p10"/>
          <p:cNvCxnSpPr/>
          <p:nvPr/>
        </p:nvCxnSpPr>
        <p:spPr>
          <a:xfrm>
            <a:off x="10287000" y="3835908"/>
            <a:ext cx="182880" cy="0"/>
          </a:xfrm>
          <a:prstGeom prst="straightConnector1">
            <a:avLst/>
          </a:prstGeom>
          <a:noFill/>
          <a:ln w="19050" cap="flat" cmpd="sng">
            <a:solidFill>
              <a:srgbClr val="3F4650"/>
            </a:solidFill>
            <a:prstDash val="solid"/>
            <a:round/>
            <a:headEnd type="none" w="sm" len="sm"/>
            <a:tailEnd type="triangle" w="med" len="med"/>
          </a:ln>
        </p:spPr>
      </p:cxnSp>
      <p:sp>
        <p:nvSpPr>
          <p:cNvPr id="276" name="Google Shape;276;p10"/>
          <p:cNvSpPr/>
          <p:nvPr/>
        </p:nvSpPr>
        <p:spPr>
          <a:xfrm>
            <a:off x="10469880" y="3401568"/>
            <a:ext cx="118872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OLED, LED, buzzer</a:t>
            </a:r>
            <a:endParaRPr sz="1150" b="0" i="0" u="none" strike="noStrike" cap="none">
              <a:solidFill>
                <a:schemeClr val="dk1"/>
              </a:solidFill>
              <a:latin typeface="Times New Roman"/>
              <a:ea typeface="Times New Roman"/>
              <a:cs typeface="Times New Roman"/>
              <a:sym typeface="Times New Roman"/>
            </a:endParaRPr>
          </a:p>
        </p:txBody>
      </p:sp>
      <p:sp>
        <p:nvSpPr>
          <p:cNvPr id="277" name="Google Shape;277;p10"/>
          <p:cNvSpPr/>
          <p:nvPr/>
        </p:nvSpPr>
        <p:spPr>
          <a:xfrm>
            <a:off x="457200" y="5303520"/>
            <a:ext cx="11274552" cy="1005840"/>
          </a:xfrm>
          <a:prstGeom prst="roundRect">
            <a:avLst>
              <a:gd name="adj" fmla="val 7273"/>
            </a:avLst>
          </a:prstGeom>
          <a:solidFill>
            <a:srgbClr val="FBF3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0"/>
          <p:cNvSpPr txBox="1"/>
          <p:nvPr/>
        </p:nvSpPr>
        <p:spPr>
          <a:xfrm>
            <a:off x="640080" y="5349240"/>
            <a:ext cx="1092708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500"/>
              <a:buFont typeface="Times New Roman"/>
              <a:buNone/>
            </a:pPr>
            <a:r>
              <a:rPr lang="en-US" sz="1500" b="1" i="0" u="none" strike="noStrike" cap="none">
                <a:solidFill>
                  <a:srgbClr val="3F4650"/>
                </a:solidFill>
                <a:latin typeface="Times New Roman"/>
                <a:ea typeface="Times New Roman"/>
                <a:cs typeface="Times New Roman"/>
                <a:sym typeface="Times New Roman"/>
              </a:rPr>
              <a:t>Deployment limits: </a:t>
            </a:r>
            <a:r>
              <a:rPr lang="en-US" sz="1500" b="0" i="0" u="none" strike="noStrike" cap="none">
                <a:solidFill>
                  <a:srgbClr val="3F4650"/>
                </a:solidFill>
                <a:latin typeface="Times New Roman"/>
                <a:ea typeface="Times New Roman"/>
                <a:cs typeface="Times New Roman"/>
                <a:sym typeface="Times New Roman"/>
              </a:rPr>
              <a:t>LoRa needs gateway coverage and internet backhaul at the gateway. Wearable screening needs a suitable sensing environment (sensor warm-up, calibration, limited gas interference).</a:t>
            </a:r>
            <a:endParaRPr sz="15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3"/>
        <p:cNvGrpSpPr/>
        <p:nvPr/>
      </p:nvGrpSpPr>
      <p:grpSpPr>
        <a:xfrm>
          <a:off x="0" y="0"/>
          <a:ext cx="0" cy="0"/>
          <a:chOff x="0" y="0"/>
          <a:chExt cx="0" cy="0"/>
        </a:xfrm>
      </p:grpSpPr>
      <p:sp>
        <p:nvSpPr>
          <p:cNvPr id="284" name="Google Shape;284;p11"/>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Main system architecture</a:t>
            </a:r>
            <a:endParaRPr sz="3000" b="0" i="0" u="none" strike="noStrike" cap="none">
              <a:solidFill>
                <a:schemeClr val="dk1"/>
              </a:solidFill>
              <a:latin typeface="Times New Roman"/>
              <a:ea typeface="Times New Roman"/>
              <a:cs typeface="Times New Roman"/>
              <a:sym typeface="Times New Roman"/>
            </a:endParaRPr>
          </a:p>
        </p:txBody>
      </p:sp>
      <p:sp>
        <p:nvSpPr>
          <p:cNvPr id="285" name="Google Shape;285;p11"/>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286" name="Google Shape;286;p11"/>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9</a:t>
            </a:r>
            <a:endParaRPr sz="1100" b="0" i="0" u="none" strike="noStrike" cap="none">
              <a:solidFill>
                <a:schemeClr val="dk1"/>
              </a:solidFill>
              <a:latin typeface="Times New Roman"/>
              <a:ea typeface="Times New Roman"/>
              <a:cs typeface="Times New Roman"/>
              <a:sym typeface="Times New Roman"/>
            </a:endParaRPr>
          </a:p>
        </p:txBody>
      </p:sp>
      <p:sp>
        <p:nvSpPr>
          <p:cNvPr id="287" name="Google Shape;287;p11"/>
          <p:cNvSpPr txBox="1"/>
          <p:nvPr/>
        </p:nvSpPr>
        <p:spPr>
          <a:xfrm>
            <a:off x="457200" y="914400"/>
            <a:ext cx="457200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365D"/>
              </a:buClr>
              <a:buSzPts val="1400"/>
              <a:buFont typeface="Times New Roman"/>
              <a:buNone/>
            </a:pPr>
            <a:r>
              <a:rPr lang="en-US" sz="1400" b="1" i="0" u="none" strike="noStrike" cap="none">
                <a:solidFill>
                  <a:srgbClr val="17365D"/>
                </a:solidFill>
                <a:latin typeface="Times New Roman"/>
                <a:ea typeface="Times New Roman"/>
                <a:cs typeface="Times New Roman"/>
                <a:sym typeface="Times New Roman"/>
              </a:rPr>
              <a:t>VEHICLE SUBSYSTEM</a:t>
            </a:r>
            <a:endParaRPr sz="1400" b="0" i="0" u="none" strike="noStrike" cap="none">
              <a:solidFill>
                <a:schemeClr val="dk1"/>
              </a:solidFill>
              <a:latin typeface="Times New Roman"/>
              <a:ea typeface="Times New Roman"/>
              <a:cs typeface="Times New Roman"/>
              <a:sym typeface="Times New Roman"/>
            </a:endParaRPr>
          </a:p>
        </p:txBody>
      </p:sp>
      <p:sp>
        <p:nvSpPr>
          <p:cNvPr id="288" name="Google Shape;288;p11"/>
          <p:cNvSpPr txBox="1"/>
          <p:nvPr/>
        </p:nvSpPr>
        <p:spPr>
          <a:xfrm>
            <a:off x="457200" y="2971800"/>
            <a:ext cx="768096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400"/>
              <a:buFont typeface="Times New Roman"/>
              <a:buNone/>
            </a:pPr>
            <a:r>
              <a:rPr lang="en-US" sz="1400" b="1" i="0" u="none" strike="noStrike" cap="none">
                <a:solidFill>
                  <a:srgbClr val="3F4650"/>
                </a:solidFill>
                <a:latin typeface="Times New Roman"/>
                <a:ea typeface="Times New Roman"/>
                <a:cs typeface="Times New Roman"/>
                <a:sym typeface="Times New Roman"/>
              </a:rPr>
              <a:t>WEARABLE SUBSYSTEM (works standalone; no cloud needed to classify)</a:t>
            </a:r>
            <a:endParaRPr sz="1400" b="0" i="0" u="none" strike="noStrike" cap="none">
              <a:solidFill>
                <a:schemeClr val="dk1"/>
              </a:solidFill>
              <a:latin typeface="Times New Roman"/>
              <a:ea typeface="Times New Roman"/>
              <a:cs typeface="Times New Roman"/>
              <a:sym typeface="Times New Roman"/>
            </a:endParaRPr>
          </a:p>
        </p:txBody>
      </p:sp>
      <p:sp>
        <p:nvSpPr>
          <p:cNvPr id="289" name="Google Shape;289;p11"/>
          <p:cNvSpPr txBox="1"/>
          <p:nvPr/>
        </p:nvSpPr>
        <p:spPr>
          <a:xfrm>
            <a:off x="8366760" y="914400"/>
            <a:ext cx="182880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8C8C"/>
              </a:buClr>
              <a:buSzPts val="1400"/>
              <a:buFont typeface="Times New Roman"/>
              <a:buNone/>
            </a:pPr>
            <a:r>
              <a:rPr lang="en-US" sz="1400" b="1" i="0" u="none" strike="noStrike" cap="none">
                <a:solidFill>
                  <a:srgbClr val="168C8C"/>
                </a:solidFill>
                <a:latin typeface="Times New Roman"/>
                <a:ea typeface="Times New Roman"/>
                <a:cs typeface="Times New Roman"/>
                <a:sym typeface="Times New Roman"/>
              </a:rPr>
              <a:t>SHARED PLATFORM</a:t>
            </a:r>
            <a:endParaRPr sz="1400" b="0" i="0" u="none" strike="noStrike" cap="none">
              <a:solidFill>
                <a:schemeClr val="dk1"/>
              </a:solidFill>
              <a:latin typeface="Times New Roman"/>
              <a:ea typeface="Times New Roman"/>
              <a:cs typeface="Times New Roman"/>
              <a:sym typeface="Times New Roman"/>
            </a:endParaRPr>
          </a:p>
        </p:txBody>
      </p:sp>
      <p:sp>
        <p:nvSpPr>
          <p:cNvPr id="290" name="Google Shape;290;p11"/>
          <p:cNvSpPr txBox="1"/>
          <p:nvPr/>
        </p:nvSpPr>
        <p:spPr>
          <a:xfrm>
            <a:off x="10515600" y="2011680"/>
            <a:ext cx="1216152"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84646"/>
              </a:buClr>
              <a:buSzPts val="1400"/>
              <a:buFont typeface="Times New Roman"/>
              <a:buNone/>
            </a:pPr>
            <a:r>
              <a:rPr lang="en-US" sz="1400" b="1" i="0" u="none" strike="noStrike" cap="none">
                <a:solidFill>
                  <a:srgbClr val="C84646"/>
                </a:solidFill>
                <a:latin typeface="Times New Roman"/>
                <a:ea typeface="Times New Roman"/>
                <a:cs typeface="Times New Roman"/>
                <a:sym typeface="Times New Roman"/>
              </a:rPr>
              <a:t>RESPONSE</a:t>
            </a:r>
            <a:endParaRPr sz="1400" b="0" i="0" u="none" strike="noStrike" cap="none">
              <a:solidFill>
                <a:schemeClr val="dk1"/>
              </a:solidFill>
              <a:latin typeface="Times New Roman"/>
              <a:ea typeface="Times New Roman"/>
              <a:cs typeface="Times New Roman"/>
              <a:sym typeface="Times New Roman"/>
            </a:endParaRPr>
          </a:p>
        </p:txBody>
      </p:sp>
      <p:sp>
        <p:nvSpPr>
          <p:cNvPr id="291" name="Google Shape;291;p11"/>
          <p:cNvSpPr/>
          <p:nvPr/>
        </p:nvSpPr>
        <p:spPr>
          <a:xfrm>
            <a:off x="457200" y="1188720"/>
            <a:ext cx="7680960" cy="1737360"/>
          </a:xfrm>
          <a:prstGeom prst="roundRect">
            <a:avLst>
              <a:gd name="adj" fmla="val 4211"/>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1"/>
          <p:cNvSpPr/>
          <p:nvPr/>
        </p:nvSpPr>
        <p:spPr>
          <a:xfrm>
            <a:off x="457200" y="3246120"/>
            <a:ext cx="7680960" cy="1737360"/>
          </a:xfrm>
          <a:prstGeom prst="roundRect">
            <a:avLst>
              <a:gd name="adj" fmla="val 4211"/>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1"/>
          <p:cNvSpPr/>
          <p:nvPr/>
        </p:nvSpPr>
        <p:spPr>
          <a:xfrm>
            <a:off x="8366760" y="1188720"/>
            <a:ext cx="1828800" cy="3794760"/>
          </a:xfrm>
          <a:prstGeom prst="roundRect">
            <a:avLst>
              <a:gd name="adj" fmla="val 4000"/>
            </a:avLst>
          </a:prstGeom>
          <a:solidFill>
            <a:srgbClr val="E3F1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1"/>
          <p:cNvSpPr/>
          <p:nvPr/>
        </p:nvSpPr>
        <p:spPr>
          <a:xfrm>
            <a:off x="566928" y="1600200"/>
            <a:ext cx="100584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Accelerometer and gyroscope</a:t>
            </a:r>
            <a:endParaRPr sz="1100" b="0" i="0" u="none" strike="noStrike" cap="none">
              <a:solidFill>
                <a:schemeClr val="dk1"/>
              </a:solidFill>
              <a:latin typeface="Times New Roman"/>
              <a:ea typeface="Times New Roman"/>
              <a:cs typeface="Times New Roman"/>
              <a:sym typeface="Times New Roman"/>
            </a:endParaRPr>
          </a:p>
        </p:txBody>
      </p:sp>
      <p:sp>
        <p:nvSpPr>
          <p:cNvPr id="295" name="Google Shape;295;p11"/>
          <p:cNvSpPr/>
          <p:nvPr/>
        </p:nvSpPr>
        <p:spPr>
          <a:xfrm>
            <a:off x="1858061" y="1600200"/>
            <a:ext cx="100584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Microcontroller</a:t>
            </a:r>
            <a:endParaRPr sz="1100" b="0" i="0" u="none" strike="noStrike" cap="none">
              <a:solidFill>
                <a:schemeClr val="dk1"/>
              </a:solidFill>
              <a:latin typeface="Times New Roman"/>
              <a:ea typeface="Times New Roman"/>
              <a:cs typeface="Times New Roman"/>
              <a:sym typeface="Times New Roman"/>
            </a:endParaRPr>
          </a:p>
        </p:txBody>
      </p:sp>
      <p:sp>
        <p:nvSpPr>
          <p:cNvPr id="296" name="Google Shape;296;p11"/>
          <p:cNvSpPr/>
          <p:nvPr/>
        </p:nvSpPr>
        <p:spPr>
          <a:xfrm>
            <a:off x="3149194" y="1600200"/>
            <a:ext cx="100584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Confirmation and manual cancel</a:t>
            </a:r>
            <a:endParaRPr sz="1100" b="0" i="0" u="none" strike="noStrike" cap="none">
              <a:solidFill>
                <a:schemeClr val="dk1"/>
              </a:solidFill>
              <a:latin typeface="Times New Roman"/>
              <a:ea typeface="Times New Roman"/>
              <a:cs typeface="Times New Roman"/>
              <a:sym typeface="Times New Roman"/>
            </a:endParaRPr>
          </a:p>
        </p:txBody>
      </p:sp>
      <p:sp>
        <p:nvSpPr>
          <p:cNvPr id="297" name="Google Shape;297;p11"/>
          <p:cNvSpPr/>
          <p:nvPr/>
        </p:nvSpPr>
        <p:spPr>
          <a:xfrm>
            <a:off x="4440326" y="1600200"/>
            <a:ext cx="100584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GPS fix and timestamp</a:t>
            </a:r>
            <a:endParaRPr sz="1100" b="0" i="0" u="none" strike="noStrike" cap="none">
              <a:solidFill>
                <a:schemeClr val="dk1"/>
              </a:solidFill>
              <a:latin typeface="Times New Roman"/>
              <a:ea typeface="Times New Roman"/>
              <a:cs typeface="Times New Roman"/>
              <a:sym typeface="Times New Roman"/>
            </a:endParaRPr>
          </a:p>
        </p:txBody>
      </p:sp>
      <p:sp>
        <p:nvSpPr>
          <p:cNvPr id="298" name="Google Shape;298;p11"/>
          <p:cNvSpPr/>
          <p:nvPr/>
        </p:nvSpPr>
        <p:spPr>
          <a:xfrm>
            <a:off x="5731459" y="1600200"/>
            <a:ext cx="100584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LoRa transceiver</a:t>
            </a:r>
            <a:endParaRPr sz="1100" b="0" i="0" u="none" strike="noStrike" cap="none">
              <a:solidFill>
                <a:schemeClr val="dk1"/>
              </a:solidFill>
              <a:latin typeface="Times New Roman"/>
              <a:ea typeface="Times New Roman"/>
              <a:cs typeface="Times New Roman"/>
              <a:sym typeface="Times New Roman"/>
            </a:endParaRPr>
          </a:p>
        </p:txBody>
      </p:sp>
      <p:sp>
        <p:nvSpPr>
          <p:cNvPr id="299" name="Google Shape;299;p11"/>
          <p:cNvSpPr/>
          <p:nvPr/>
        </p:nvSpPr>
        <p:spPr>
          <a:xfrm>
            <a:off x="7022592" y="1600200"/>
            <a:ext cx="100584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LoRa gateway</a:t>
            </a:r>
            <a:endParaRPr sz="1100" b="0" i="0" u="none" strike="noStrike" cap="none">
              <a:solidFill>
                <a:schemeClr val="dk1"/>
              </a:solidFill>
              <a:latin typeface="Times New Roman"/>
              <a:ea typeface="Times New Roman"/>
              <a:cs typeface="Times New Roman"/>
              <a:sym typeface="Times New Roman"/>
            </a:endParaRPr>
          </a:p>
        </p:txBody>
      </p:sp>
      <p:cxnSp>
        <p:nvCxnSpPr>
          <p:cNvPr id="300" name="Google Shape;300;p11"/>
          <p:cNvCxnSpPr/>
          <p:nvPr/>
        </p:nvCxnSpPr>
        <p:spPr>
          <a:xfrm>
            <a:off x="1572768" y="2034540"/>
            <a:ext cx="285293" cy="0"/>
          </a:xfrm>
          <a:prstGeom prst="straightConnector1">
            <a:avLst/>
          </a:prstGeom>
          <a:noFill/>
          <a:ln w="19050" cap="flat" cmpd="sng">
            <a:solidFill>
              <a:srgbClr val="17365D"/>
            </a:solidFill>
            <a:prstDash val="solid"/>
            <a:round/>
            <a:headEnd type="none" w="sm" len="sm"/>
            <a:tailEnd type="triangle" w="med" len="med"/>
          </a:ln>
        </p:spPr>
      </p:cxnSp>
      <p:cxnSp>
        <p:nvCxnSpPr>
          <p:cNvPr id="301" name="Google Shape;301;p11"/>
          <p:cNvCxnSpPr/>
          <p:nvPr/>
        </p:nvCxnSpPr>
        <p:spPr>
          <a:xfrm>
            <a:off x="2863901" y="2034540"/>
            <a:ext cx="285293" cy="0"/>
          </a:xfrm>
          <a:prstGeom prst="straightConnector1">
            <a:avLst/>
          </a:prstGeom>
          <a:noFill/>
          <a:ln w="19050" cap="flat" cmpd="sng">
            <a:solidFill>
              <a:srgbClr val="17365D"/>
            </a:solidFill>
            <a:prstDash val="solid"/>
            <a:round/>
            <a:headEnd type="none" w="sm" len="sm"/>
            <a:tailEnd type="triangle" w="med" len="med"/>
          </a:ln>
        </p:spPr>
      </p:cxnSp>
      <p:cxnSp>
        <p:nvCxnSpPr>
          <p:cNvPr id="302" name="Google Shape;302;p11"/>
          <p:cNvCxnSpPr/>
          <p:nvPr/>
        </p:nvCxnSpPr>
        <p:spPr>
          <a:xfrm>
            <a:off x="4155034" y="2034540"/>
            <a:ext cx="285293" cy="0"/>
          </a:xfrm>
          <a:prstGeom prst="straightConnector1">
            <a:avLst/>
          </a:prstGeom>
          <a:noFill/>
          <a:ln w="19050" cap="flat" cmpd="sng">
            <a:solidFill>
              <a:srgbClr val="17365D"/>
            </a:solidFill>
            <a:prstDash val="solid"/>
            <a:round/>
            <a:headEnd type="none" w="sm" len="sm"/>
            <a:tailEnd type="triangle" w="med" len="med"/>
          </a:ln>
        </p:spPr>
      </p:cxnSp>
      <p:cxnSp>
        <p:nvCxnSpPr>
          <p:cNvPr id="303" name="Google Shape;303;p11"/>
          <p:cNvCxnSpPr/>
          <p:nvPr/>
        </p:nvCxnSpPr>
        <p:spPr>
          <a:xfrm>
            <a:off x="5446166" y="2034540"/>
            <a:ext cx="285293" cy="0"/>
          </a:xfrm>
          <a:prstGeom prst="straightConnector1">
            <a:avLst/>
          </a:prstGeom>
          <a:noFill/>
          <a:ln w="19050" cap="flat" cmpd="sng">
            <a:solidFill>
              <a:srgbClr val="17365D"/>
            </a:solidFill>
            <a:prstDash val="solid"/>
            <a:round/>
            <a:headEnd type="none" w="sm" len="sm"/>
            <a:tailEnd type="triangle" w="med" len="med"/>
          </a:ln>
        </p:spPr>
      </p:cxnSp>
      <p:cxnSp>
        <p:nvCxnSpPr>
          <p:cNvPr id="304" name="Google Shape;304;p11"/>
          <p:cNvCxnSpPr/>
          <p:nvPr/>
        </p:nvCxnSpPr>
        <p:spPr>
          <a:xfrm>
            <a:off x="6737299" y="2034540"/>
            <a:ext cx="285293" cy="0"/>
          </a:xfrm>
          <a:prstGeom prst="straightConnector1">
            <a:avLst/>
          </a:prstGeom>
          <a:noFill/>
          <a:ln w="28575" cap="flat" cmpd="sng">
            <a:solidFill>
              <a:srgbClr val="168C8C"/>
            </a:solidFill>
            <a:prstDash val="dash"/>
            <a:round/>
            <a:headEnd type="none" w="sm" len="sm"/>
            <a:tailEnd type="triangle" w="med" len="med"/>
          </a:ln>
        </p:spPr>
      </p:cxnSp>
      <p:sp>
        <p:nvSpPr>
          <p:cNvPr id="305" name="Google Shape;305;p11"/>
          <p:cNvSpPr txBox="1"/>
          <p:nvPr/>
        </p:nvSpPr>
        <p:spPr>
          <a:xfrm>
            <a:off x="6605626" y="1325880"/>
            <a:ext cx="548640" cy="23774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68C8C"/>
              </a:buClr>
              <a:buSzPts val="1100"/>
              <a:buFont typeface="Times New Roman"/>
              <a:buNone/>
            </a:pPr>
            <a:r>
              <a:rPr lang="en-US" sz="1100" b="0" i="1" u="none" strike="noStrike" cap="none">
                <a:solidFill>
                  <a:srgbClr val="168C8C"/>
                </a:solidFill>
                <a:latin typeface="Times New Roman"/>
                <a:ea typeface="Times New Roman"/>
                <a:cs typeface="Times New Roman"/>
                <a:sym typeface="Times New Roman"/>
              </a:rPr>
              <a:t>LoRa</a:t>
            </a:r>
            <a:endParaRPr sz="1100" b="0" i="0" u="none" strike="noStrike" cap="none">
              <a:solidFill>
                <a:schemeClr val="dk1"/>
              </a:solidFill>
              <a:latin typeface="Times New Roman"/>
              <a:ea typeface="Times New Roman"/>
              <a:cs typeface="Times New Roman"/>
              <a:sym typeface="Times New Roman"/>
            </a:endParaRPr>
          </a:p>
        </p:txBody>
      </p:sp>
      <p:sp>
        <p:nvSpPr>
          <p:cNvPr id="306" name="Google Shape;306;p11"/>
          <p:cNvSpPr/>
          <p:nvPr/>
        </p:nvSpPr>
        <p:spPr>
          <a:xfrm>
            <a:off x="566928" y="3657600"/>
            <a:ext cx="100584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MQ-3 and MLX90614 sensors</a:t>
            </a:r>
            <a:endParaRPr sz="1100" b="0" i="0" u="none" strike="noStrike" cap="none">
              <a:solidFill>
                <a:schemeClr val="dk1"/>
              </a:solidFill>
              <a:latin typeface="Times New Roman"/>
              <a:ea typeface="Times New Roman"/>
              <a:cs typeface="Times New Roman"/>
              <a:sym typeface="Times New Roman"/>
            </a:endParaRPr>
          </a:p>
        </p:txBody>
      </p:sp>
      <p:sp>
        <p:nvSpPr>
          <p:cNvPr id="307" name="Google Shape;307;p11"/>
          <p:cNvSpPr/>
          <p:nvPr/>
        </p:nvSpPr>
        <p:spPr>
          <a:xfrm>
            <a:off x="1858061" y="3657600"/>
            <a:ext cx="100584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Arduino Nano</a:t>
            </a:r>
            <a:endParaRPr sz="1100" b="0" i="0" u="none" strike="noStrike" cap="none">
              <a:solidFill>
                <a:schemeClr val="dk1"/>
              </a:solidFill>
              <a:latin typeface="Times New Roman"/>
              <a:ea typeface="Times New Roman"/>
              <a:cs typeface="Times New Roman"/>
              <a:sym typeface="Times New Roman"/>
            </a:endParaRPr>
          </a:p>
        </p:txBody>
      </p:sp>
      <p:sp>
        <p:nvSpPr>
          <p:cNvPr id="308" name="Google Shape;308;p11"/>
          <p:cNvSpPr/>
          <p:nvPr/>
        </p:nvSpPr>
        <p:spPr>
          <a:xfrm>
            <a:off x="3149194" y="3657600"/>
            <a:ext cx="100584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Moving-average filter</a:t>
            </a:r>
            <a:endParaRPr sz="1100" b="0" i="0" u="none" strike="noStrike" cap="none">
              <a:solidFill>
                <a:schemeClr val="dk1"/>
              </a:solidFill>
              <a:latin typeface="Times New Roman"/>
              <a:ea typeface="Times New Roman"/>
              <a:cs typeface="Times New Roman"/>
              <a:sym typeface="Times New Roman"/>
            </a:endParaRPr>
          </a:p>
        </p:txBody>
      </p:sp>
      <p:sp>
        <p:nvSpPr>
          <p:cNvPr id="309" name="Google Shape;309;p11"/>
          <p:cNvSpPr/>
          <p:nvPr/>
        </p:nvSpPr>
        <p:spPr>
          <a:xfrm>
            <a:off x="4440326" y="3657600"/>
            <a:ext cx="100584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AWTRA rule-based class</a:t>
            </a:r>
            <a:endParaRPr sz="1100" b="0" i="0" u="none" strike="noStrike" cap="none">
              <a:solidFill>
                <a:schemeClr val="dk1"/>
              </a:solidFill>
              <a:latin typeface="Times New Roman"/>
              <a:ea typeface="Times New Roman"/>
              <a:cs typeface="Times New Roman"/>
              <a:sym typeface="Times New Roman"/>
            </a:endParaRPr>
          </a:p>
        </p:txBody>
      </p:sp>
      <p:sp>
        <p:nvSpPr>
          <p:cNvPr id="310" name="Google Shape;310;p11"/>
          <p:cNvSpPr/>
          <p:nvPr/>
        </p:nvSpPr>
        <p:spPr>
          <a:xfrm>
            <a:off x="5731459" y="3657600"/>
            <a:ext cx="100584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OLED, LEDs, buzzer</a:t>
            </a:r>
            <a:endParaRPr sz="1100" b="0" i="0" u="none" strike="noStrike" cap="none">
              <a:solidFill>
                <a:schemeClr val="dk1"/>
              </a:solidFill>
              <a:latin typeface="Times New Roman"/>
              <a:ea typeface="Times New Roman"/>
              <a:cs typeface="Times New Roman"/>
              <a:sym typeface="Times New Roman"/>
            </a:endParaRPr>
          </a:p>
        </p:txBody>
      </p:sp>
      <p:cxnSp>
        <p:nvCxnSpPr>
          <p:cNvPr id="311" name="Google Shape;311;p11"/>
          <p:cNvCxnSpPr/>
          <p:nvPr/>
        </p:nvCxnSpPr>
        <p:spPr>
          <a:xfrm>
            <a:off x="1572768" y="4091940"/>
            <a:ext cx="285293" cy="0"/>
          </a:xfrm>
          <a:prstGeom prst="straightConnector1">
            <a:avLst/>
          </a:prstGeom>
          <a:noFill/>
          <a:ln w="19050" cap="flat" cmpd="sng">
            <a:solidFill>
              <a:srgbClr val="3F4650"/>
            </a:solidFill>
            <a:prstDash val="solid"/>
            <a:round/>
            <a:headEnd type="none" w="sm" len="sm"/>
            <a:tailEnd type="triangle" w="med" len="med"/>
          </a:ln>
        </p:spPr>
      </p:cxnSp>
      <p:cxnSp>
        <p:nvCxnSpPr>
          <p:cNvPr id="312" name="Google Shape;312;p11"/>
          <p:cNvCxnSpPr/>
          <p:nvPr/>
        </p:nvCxnSpPr>
        <p:spPr>
          <a:xfrm>
            <a:off x="2863901" y="4091940"/>
            <a:ext cx="285293" cy="0"/>
          </a:xfrm>
          <a:prstGeom prst="straightConnector1">
            <a:avLst/>
          </a:prstGeom>
          <a:noFill/>
          <a:ln w="19050" cap="flat" cmpd="sng">
            <a:solidFill>
              <a:srgbClr val="3F4650"/>
            </a:solidFill>
            <a:prstDash val="solid"/>
            <a:round/>
            <a:headEnd type="none" w="sm" len="sm"/>
            <a:tailEnd type="triangle" w="med" len="med"/>
          </a:ln>
        </p:spPr>
      </p:cxnSp>
      <p:cxnSp>
        <p:nvCxnSpPr>
          <p:cNvPr id="313" name="Google Shape;313;p11"/>
          <p:cNvCxnSpPr/>
          <p:nvPr/>
        </p:nvCxnSpPr>
        <p:spPr>
          <a:xfrm>
            <a:off x="4155034" y="4091940"/>
            <a:ext cx="285293" cy="0"/>
          </a:xfrm>
          <a:prstGeom prst="straightConnector1">
            <a:avLst/>
          </a:prstGeom>
          <a:noFill/>
          <a:ln w="19050" cap="flat" cmpd="sng">
            <a:solidFill>
              <a:srgbClr val="3F4650"/>
            </a:solidFill>
            <a:prstDash val="solid"/>
            <a:round/>
            <a:headEnd type="none" w="sm" len="sm"/>
            <a:tailEnd type="triangle" w="med" len="med"/>
          </a:ln>
        </p:spPr>
      </p:cxnSp>
      <p:cxnSp>
        <p:nvCxnSpPr>
          <p:cNvPr id="314" name="Google Shape;314;p11"/>
          <p:cNvCxnSpPr/>
          <p:nvPr/>
        </p:nvCxnSpPr>
        <p:spPr>
          <a:xfrm>
            <a:off x="5446166" y="4091940"/>
            <a:ext cx="285293" cy="0"/>
          </a:xfrm>
          <a:prstGeom prst="straightConnector1">
            <a:avLst/>
          </a:prstGeom>
          <a:noFill/>
          <a:ln w="19050" cap="flat" cmpd="sng">
            <a:solidFill>
              <a:srgbClr val="3F4650"/>
            </a:solidFill>
            <a:prstDash val="solid"/>
            <a:round/>
            <a:headEnd type="none" w="sm" len="sm"/>
            <a:tailEnd type="triangle" w="med" len="med"/>
          </a:ln>
        </p:spPr>
      </p:cxnSp>
      <p:sp>
        <p:nvSpPr>
          <p:cNvPr id="315" name="Google Shape;315;p11"/>
          <p:cNvSpPr/>
          <p:nvPr/>
        </p:nvSpPr>
        <p:spPr>
          <a:xfrm>
            <a:off x="7022592" y="3657600"/>
            <a:ext cx="1005840" cy="868680"/>
          </a:xfrm>
          <a:prstGeom prst="roundRect">
            <a:avLst>
              <a:gd name="adj" fmla="val 8421"/>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150"/>
              <a:buFont typeface="Times New Roman"/>
              <a:buNone/>
            </a:pPr>
            <a:r>
              <a:rPr lang="en-US" sz="1150" b="1" i="0" u="none" strike="noStrike" cap="none">
                <a:solidFill>
                  <a:srgbClr val="3F4650"/>
                </a:solidFill>
                <a:latin typeface="Times New Roman"/>
                <a:ea typeface="Times New Roman"/>
                <a:cs typeface="Times New Roman"/>
                <a:sym typeface="Times New Roman"/>
              </a:rPr>
              <a:t>Optional authorized link</a:t>
            </a:r>
            <a:endParaRPr sz="1150" b="0" i="0" u="none" strike="noStrike" cap="none">
              <a:solidFill>
                <a:schemeClr val="dk1"/>
              </a:solidFill>
              <a:latin typeface="Times New Roman"/>
              <a:ea typeface="Times New Roman"/>
              <a:cs typeface="Times New Roman"/>
              <a:sym typeface="Times New Roman"/>
            </a:endParaRPr>
          </a:p>
        </p:txBody>
      </p:sp>
      <p:cxnSp>
        <p:nvCxnSpPr>
          <p:cNvPr id="316" name="Google Shape;316;p11"/>
          <p:cNvCxnSpPr/>
          <p:nvPr/>
        </p:nvCxnSpPr>
        <p:spPr>
          <a:xfrm>
            <a:off x="4943246" y="4526280"/>
            <a:ext cx="0" cy="210312"/>
          </a:xfrm>
          <a:prstGeom prst="straightConnector1">
            <a:avLst/>
          </a:prstGeom>
          <a:noFill/>
          <a:ln w="19050" cap="flat" cmpd="sng">
            <a:solidFill>
              <a:srgbClr val="168C8C"/>
            </a:solidFill>
            <a:prstDash val="dash"/>
            <a:round/>
            <a:headEnd type="none" w="sm" len="sm"/>
            <a:tailEnd type="none" w="sm" len="sm"/>
          </a:ln>
        </p:spPr>
      </p:cxnSp>
      <p:cxnSp>
        <p:nvCxnSpPr>
          <p:cNvPr id="317" name="Google Shape;317;p11"/>
          <p:cNvCxnSpPr/>
          <p:nvPr/>
        </p:nvCxnSpPr>
        <p:spPr>
          <a:xfrm>
            <a:off x="4943246" y="4736592"/>
            <a:ext cx="2582266" cy="0"/>
          </a:xfrm>
          <a:prstGeom prst="straightConnector1">
            <a:avLst/>
          </a:prstGeom>
          <a:noFill/>
          <a:ln w="19050" cap="flat" cmpd="sng">
            <a:solidFill>
              <a:srgbClr val="168C8C"/>
            </a:solidFill>
            <a:prstDash val="dash"/>
            <a:round/>
            <a:headEnd type="none" w="sm" len="sm"/>
            <a:tailEnd type="none" w="sm" len="sm"/>
          </a:ln>
        </p:spPr>
      </p:cxnSp>
      <p:cxnSp>
        <p:nvCxnSpPr>
          <p:cNvPr id="318" name="Google Shape;318;p11"/>
          <p:cNvCxnSpPr/>
          <p:nvPr/>
        </p:nvCxnSpPr>
        <p:spPr>
          <a:xfrm rot="10800000">
            <a:off x="7525512" y="4526280"/>
            <a:ext cx="0" cy="210312"/>
          </a:xfrm>
          <a:prstGeom prst="straightConnector1">
            <a:avLst/>
          </a:prstGeom>
          <a:noFill/>
          <a:ln w="19050" cap="flat" cmpd="sng">
            <a:solidFill>
              <a:srgbClr val="168C8C"/>
            </a:solidFill>
            <a:prstDash val="dash"/>
            <a:round/>
            <a:headEnd type="none" w="sm" len="sm"/>
            <a:tailEnd type="triangle" w="med" len="med"/>
          </a:ln>
        </p:spPr>
      </p:cxnSp>
      <p:sp>
        <p:nvSpPr>
          <p:cNvPr id="319" name="Google Shape;319;p11"/>
          <p:cNvSpPr/>
          <p:nvPr/>
        </p:nvSpPr>
        <p:spPr>
          <a:xfrm>
            <a:off x="8503920" y="1783080"/>
            <a:ext cx="1554480" cy="502920"/>
          </a:xfrm>
          <a:prstGeom prst="roundRect">
            <a:avLst>
              <a:gd name="adj" fmla="val 14545"/>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00"/>
              <a:buFont typeface="Times New Roman"/>
              <a:buNone/>
            </a:pPr>
            <a:r>
              <a:rPr lang="en-US" sz="1200" b="1" i="0" u="none" strike="noStrike" cap="none">
                <a:solidFill>
                  <a:srgbClr val="3F4650"/>
                </a:solidFill>
                <a:latin typeface="Times New Roman"/>
                <a:ea typeface="Times New Roman"/>
                <a:cs typeface="Times New Roman"/>
                <a:sym typeface="Times New Roman"/>
              </a:rPr>
              <a:t>Backend service</a:t>
            </a:r>
            <a:endParaRPr sz="1200" b="0" i="0" u="none" strike="noStrike" cap="none">
              <a:solidFill>
                <a:schemeClr val="dk1"/>
              </a:solidFill>
              <a:latin typeface="Times New Roman"/>
              <a:ea typeface="Times New Roman"/>
              <a:cs typeface="Times New Roman"/>
              <a:sym typeface="Times New Roman"/>
            </a:endParaRPr>
          </a:p>
        </p:txBody>
      </p:sp>
      <p:sp>
        <p:nvSpPr>
          <p:cNvPr id="320" name="Google Shape;320;p11"/>
          <p:cNvSpPr/>
          <p:nvPr/>
        </p:nvSpPr>
        <p:spPr>
          <a:xfrm>
            <a:off x="8503920" y="2468880"/>
            <a:ext cx="1554480" cy="502920"/>
          </a:xfrm>
          <a:prstGeom prst="roundRect">
            <a:avLst>
              <a:gd name="adj" fmla="val 14545"/>
            </a:avLst>
          </a:prstGeom>
          <a:solidFill>
            <a:srgbClr val="FFFFFF"/>
          </a:solidFill>
          <a:ln w="19050" cap="flat" cmpd="sng">
            <a:solidFill>
              <a:srgbClr val="168C8C"/>
            </a:solidFill>
            <a:prstDash val="dash"/>
            <a:round/>
            <a:headEnd type="none" w="sm" len="sm"/>
            <a:tailEnd type="none" w="sm" len="sm"/>
          </a:ln>
        </p:spPr>
        <p:txBody>
          <a:bodyPr spcFirstLastPara="1" wrap="square" lIns="250" tIns="250" rIns="250" bIns="250" anchor="ctr" anchorCtr="0">
            <a:noAutofit/>
          </a:bodyPr>
          <a:lstStyle/>
          <a:p>
            <a:pPr marL="0" marR="0" lvl="0" indent="0" algn="ctr" rtl="0">
              <a:spcBef>
                <a:spcPts val="0"/>
              </a:spcBef>
              <a:spcAft>
                <a:spcPts val="0"/>
              </a:spcAft>
              <a:buClr>
                <a:srgbClr val="3F4650"/>
              </a:buClr>
              <a:buSzPts val="1150"/>
              <a:buFont typeface="Times New Roman"/>
              <a:buNone/>
            </a:pPr>
            <a:r>
              <a:rPr lang="en-US" sz="1150" b="1" i="0" u="none" strike="noStrike" cap="none">
                <a:solidFill>
                  <a:srgbClr val="3F4650"/>
                </a:solidFill>
                <a:latin typeface="Times New Roman"/>
                <a:ea typeface="Times New Roman"/>
                <a:cs typeface="Times New Roman"/>
                <a:sym typeface="Times New Roman"/>
              </a:rPr>
              <a:t>Nearest-facility lookup</a:t>
            </a:r>
            <a:endParaRPr sz="1150" b="0" i="0" u="none" strike="noStrike" cap="none">
              <a:solidFill>
                <a:schemeClr val="dk1"/>
              </a:solidFill>
              <a:latin typeface="Times New Roman"/>
              <a:ea typeface="Times New Roman"/>
              <a:cs typeface="Times New Roman"/>
              <a:sym typeface="Times New Roman"/>
            </a:endParaRPr>
          </a:p>
        </p:txBody>
      </p:sp>
      <p:sp>
        <p:nvSpPr>
          <p:cNvPr id="321" name="Google Shape;321;p11"/>
          <p:cNvSpPr/>
          <p:nvPr/>
        </p:nvSpPr>
        <p:spPr>
          <a:xfrm>
            <a:off x="8503920" y="3154680"/>
            <a:ext cx="1554480" cy="502920"/>
          </a:xfrm>
          <a:prstGeom prst="roundRect">
            <a:avLst>
              <a:gd name="adj" fmla="val 14545"/>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00"/>
              <a:buFont typeface="Times New Roman"/>
              <a:buNone/>
            </a:pPr>
            <a:r>
              <a:rPr lang="en-US" sz="1200" b="1" i="0" u="none" strike="noStrike" cap="none">
                <a:solidFill>
                  <a:srgbClr val="3F4650"/>
                </a:solidFill>
                <a:latin typeface="Times New Roman"/>
                <a:ea typeface="Times New Roman"/>
                <a:cs typeface="Times New Roman"/>
                <a:sym typeface="Times New Roman"/>
              </a:rPr>
              <a:t>Authorized notifications</a:t>
            </a:r>
            <a:endParaRPr sz="1200" b="0" i="0" u="none" strike="noStrike" cap="none">
              <a:solidFill>
                <a:schemeClr val="dk1"/>
              </a:solidFill>
              <a:latin typeface="Times New Roman"/>
              <a:ea typeface="Times New Roman"/>
              <a:cs typeface="Times New Roman"/>
              <a:sym typeface="Times New Roman"/>
            </a:endParaRPr>
          </a:p>
        </p:txBody>
      </p:sp>
      <p:sp>
        <p:nvSpPr>
          <p:cNvPr id="322" name="Google Shape;322;p11"/>
          <p:cNvSpPr/>
          <p:nvPr/>
        </p:nvSpPr>
        <p:spPr>
          <a:xfrm>
            <a:off x="8503920" y="3840480"/>
            <a:ext cx="1554480" cy="502920"/>
          </a:xfrm>
          <a:prstGeom prst="roundRect">
            <a:avLst>
              <a:gd name="adj" fmla="val 14545"/>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00"/>
              <a:buFont typeface="Times New Roman"/>
              <a:buNone/>
            </a:pPr>
            <a:r>
              <a:rPr lang="en-US" sz="1200" b="1" i="0" u="none" strike="noStrike" cap="none">
                <a:solidFill>
                  <a:srgbClr val="3F4650"/>
                </a:solidFill>
                <a:latin typeface="Times New Roman"/>
                <a:ea typeface="Times New Roman"/>
                <a:cs typeface="Times New Roman"/>
                <a:sym typeface="Times New Roman"/>
              </a:rPr>
              <a:t>Event database and dashboard</a:t>
            </a:r>
            <a:endParaRPr sz="1200" b="0" i="0" u="none" strike="noStrike" cap="none">
              <a:solidFill>
                <a:schemeClr val="dk1"/>
              </a:solidFill>
              <a:latin typeface="Times New Roman"/>
              <a:ea typeface="Times New Roman"/>
              <a:cs typeface="Times New Roman"/>
              <a:sym typeface="Times New Roman"/>
            </a:endParaRPr>
          </a:p>
        </p:txBody>
      </p:sp>
      <p:cxnSp>
        <p:nvCxnSpPr>
          <p:cNvPr id="323" name="Google Shape;323;p11"/>
          <p:cNvCxnSpPr/>
          <p:nvPr/>
        </p:nvCxnSpPr>
        <p:spPr>
          <a:xfrm>
            <a:off x="9281160" y="2286000"/>
            <a:ext cx="0" cy="182880"/>
          </a:xfrm>
          <a:prstGeom prst="straightConnector1">
            <a:avLst/>
          </a:prstGeom>
          <a:noFill/>
          <a:ln w="19050" cap="flat" cmpd="sng">
            <a:solidFill>
              <a:srgbClr val="168C8C"/>
            </a:solidFill>
            <a:prstDash val="solid"/>
            <a:round/>
            <a:headEnd type="none" w="sm" len="sm"/>
            <a:tailEnd type="triangle" w="med" len="med"/>
          </a:ln>
        </p:spPr>
      </p:cxnSp>
      <p:cxnSp>
        <p:nvCxnSpPr>
          <p:cNvPr id="324" name="Google Shape;324;p11"/>
          <p:cNvCxnSpPr/>
          <p:nvPr/>
        </p:nvCxnSpPr>
        <p:spPr>
          <a:xfrm>
            <a:off x="9281160" y="2971800"/>
            <a:ext cx="0" cy="182880"/>
          </a:xfrm>
          <a:prstGeom prst="straightConnector1">
            <a:avLst/>
          </a:prstGeom>
          <a:noFill/>
          <a:ln w="19050" cap="flat" cmpd="sng">
            <a:solidFill>
              <a:srgbClr val="168C8C"/>
            </a:solidFill>
            <a:prstDash val="solid"/>
            <a:round/>
            <a:headEnd type="none" w="sm" len="sm"/>
            <a:tailEnd type="triangle" w="med" len="med"/>
          </a:ln>
        </p:spPr>
      </p:cxnSp>
      <p:sp>
        <p:nvSpPr>
          <p:cNvPr id="325" name="Google Shape;325;p11"/>
          <p:cNvSpPr txBox="1"/>
          <p:nvPr/>
        </p:nvSpPr>
        <p:spPr>
          <a:xfrm>
            <a:off x="8458200" y="4434840"/>
            <a:ext cx="1645920" cy="5029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B636E"/>
              </a:buClr>
              <a:buSzPts val="1050"/>
              <a:buFont typeface="Times New Roman"/>
              <a:buNone/>
            </a:pPr>
            <a:r>
              <a:rPr lang="en-US" sz="1050" b="0" i="1" u="none" strike="noStrike" cap="none">
                <a:solidFill>
                  <a:srgbClr val="5B636E"/>
                </a:solidFill>
                <a:latin typeface="Times New Roman"/>
                <a:ea typeface="Times New Roman"/>
                <a:cs typeface="Times New Roman"/>
                <a:sym typeface="Times New Roman"/>
              </a:rPr>
              <a:t>Proposed; separate records for accident and screening events</a:t>
            </a:r>
            <a:endParaRPr sz="1050" b="0" i="0" u="none" strike="noStrike" cap="none">
              <a:solidFill>
                <a:schemeClr val="dk1"/>
              </a:solidFill>
              <a:latin typeface="Times New Roman"/>
              <a:ea typeface="Times New Roman"/>
              <a:cs typeface="Times New Roman"/>
              <a:sym typeface="Times New Roman"/>
            </a:endParaRPr>
          </a:p>
        </p:txBody>
      </p:sp>
      <p:cxnSp>
        <p:nvCxnSpPr>
          <p:cNvPr id="326" name="Google Shape;326;p11"/>
          <p:cNvCxnSpPr/>
          <p:nvPr/>
        </p:nvCxnSpPr>
        <p:spPr>
          <a:xfrm>
            <a:off x="8028432" y="2034540"/>
            <a:ext cx="475488" cy="0"/>
          </a:xfrm>
          <a:prstGeom prst="straightConnector1">
            <a:avLst/>
          </a:prstGeom>
          <a:noFill/>
          <a:ln w="25400" cap="flat" cmpd="sng">
            <a:solidFill>
              <a:srgbClr val="5B636E"/>
            </a:solidFill>
            <a:prstDash val="solid"/>
            <a:round/>
            <a:headEnd type="none" w="sm" len="sm"/>
            <a:tailEnd type="triangle" w="med" len="med"/>
          </a:ln>
        </p:spPr>
      </p:cxnSp>
      <p:sp>
        <p:nvSpPr>
          <p:cNvPr id="327" name="Google Shape;327;p11"/>
          <p:cNvSpPr txBox="1"/>
          <p:nvPr/>
        </p:nvSpPr>
        <p:spPr>
          <a:xfrm>
            <a:off x="7818120" y="1325880"/>
            <a:ext cx="685800" cy="23774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B636E"/>
              </a:buClr>
              <a:buSzPts val="1100"/>
              <a:buFont typeface="Times New Roman"/>
              <a:buNone/>
            </a:pPr>
            <a:r>
              <a:rPr lang="en-US" sz="1100" b="0" i="1" u="none" strike="noStrike" cap="none">
                <a:solidFill>
                  <a:srgbClr val="5B636E"/>
                </a:solidFill>
                <a:latin typeface="Times New Roman"/>
                <a:ea typeface="Times New Roman"/>
                <a:cs typeface="Times New Roman"/>
                <a:sym typeface="Times New Roman"/>
              </a:rPr>
              <a:t>Internet</a:t>
            </a:r>
            <a:endParaRPr sz="1100" b="0" i="0" u="none" strike="noStrike" cap="none">
              <a:solidFill>
                <a:schemeClr val="dk1"/>
              </a:solidFill>
              <a:latin typeface="Times New Roman"/>
              <a:ea typeface="Times New Roman"/>
              <a:cs typeface="Times New Roman"/>
              <a:sym typeface="Times New Roman"/>
            </a:endParaRPr>
          </a:p>
        </p:txBody>
      </p:sp>
      <p:cxnSp>
        <p:nvCxnSpPr>
          <p:cNvPr id="328" name="Google Shape;328;p11"/>
          <p:cNvCxnSpPr/>
          <p:nvPr/>
        </p:nvCxnSpPr>
        <p:spPr>
          <a:xfrm>
            <a:off x="8028432" y="4091940"/>
            <a:ext cx="475488" cy="0"/>
          </a:xfrm>
          <a:prstGeom prst="straightConnector1">
            <a:avLst/>
          </a:prstGeom>
          <a:noFill/>
          <a:ln w="22225" cap="flat" cmpd="sng">
            <a:solidFill>
              <a:srgbClr val="168C8C"/>
            </a:solidFill>
            <a:prstDash val="dash"/>
            <a:round/>
            <a:headEnd type="none" w="sm" len="sm"/>
            <a:tailEnd type="triangle" w="med" len="med"/>
          </a:ln>
        </p:spPr>
      </p:cxnSp>
      <p:sp>
        <p:nvSpPr>
          <p:cNvPr id="329" name="Google Shape;329;p11"/>
          <p:cNvSpPr/>
          <p:nvPr/>
        </p:nvSpPr>
        <p:spPr>
          <a:xfrm>
            <a:off x="10515600" y="2331720"/>
            <a:ext cx="1216152" cy="685800"/>
          </a:xfrm>
          <a:prstGeom prst="roundRect">
            <a:avLst>
              <a:gd name="adj" fmla="val 10667"/>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100"/>
              <a:buFont typeface="Times New Roman"/>
              <a:buNone/>
            </a:pPr>
            <a:r>
              <a:rPr lang="en-US" sz="1100" b="1" i="0" u="none" strike="noStrike" cap="none">
                <a:solidFill>
                  <a:srgbClr val="3F4650"/>
                </a:solidFill>
                <a:latin typeface="Times New Roman"/>
                <a:ea typeface="Times New Roman"/>
                <a:cs typeface="Times New Roman"/>
                <a:sym typeface="Times New Roman"/>
              </a:rPr>
              <a:t>Hospital and fire-rescue (proposed)</a:t>
            </a:r>
            <a:endParaRPr sz="1100" b="0" i="0" u="none" strike="noStrike" cap="none">
              <a:solidFill>
                <a:schemeClr val="dk1"/>
              </a:solidFill>
              <a:latin typeface="Times New Roman"/>
              <a:ea typeface="Times New Roman"/>
              <a:cs typeface="Times New Roman"/>
              <a:sym typeface="Times New Roman"/>
            </a:endParaRPr>
          </a:p>
        </p:txBody>
      </p:sp>
      <p:sp>
        <p:nvSpPr>
          <p:cNvPr id="330" name="Google Shape;330;p11"/>
          <p:cNvSpPr/>
          <p:nvPr/>
        </p:nvSpPr>
        <p:spPr>
          <a:xfrm>
            <a:off x="10515600" y="3703320"/>
            <a:ext cx="1216152" cy="685800"/>
          </a:xfrm>
          <a:prstGeom prst="roundRect">
            <a:avLst>
              <a:gd name="adj" fmla="val 10667"/>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100"/>
              <a:buFont typeface="Times New Roman"/>
              <a:buNone/>
            </a:pPr>
            <a:r>
              <a:rPr lang="en-US" sz="1100" b="1" i="0" u="none" strike="noStrike" cap="none">
                <a:solidFill>
                  <a:srgbClr val="3F4650"/>
                </a:solidFill>
                <a:latin typeface="Times New Roman"/>
                <a:ea typeface="Times New Roman"/>
                <a:cs typeface="Times New Roman"/>
                <a:sym typeface="Times New Roman"/>
              </a:rPr>
              <a:t>Authorized monitoring staff (proposed)</a:t>
            </a:r>
            <a:endParaRPr sz="1100" b="0" i="0" u="none" strike="noStrike" cap="none">
              <a:solidFill>
                <a:schemeClr val="dk1"/>
              </a:solidFill>
              <a:latin typeface="Times New Roman"/>
              <a:ea typeface="Times New Roman"/>
              <a:cs typeface="Times New Roman"/>
              <a:sym typeface="Times New Roman"/>
            </a:endParaRPr>
          </a:p>
        </p:txBody>
      </p:sp>
      <p:cxnSp>
        <p:nvCxnSpPr>
          <p:cNvPr id="331" name="Google Shape;331;p11"/>
          <p:cNvCxnSpPr/>
          <p:nvPr/>
        </p:nvCxnSpPr>
        <p:spPr>
          <a:xfrm>
            <a:off x="10058400" y="3406140"/>
            <a:ext cx="274320" cy="0"/>
          </a:xfrm>
          <a:prstGeom prst="straightConnector1">
            <a:avLst/>
          </a:prstGeom>
          <a:noFill/>
          <a:ln w="22225" cap="flat" cmpd="sng">
            <a:solidFill>
              <a:srgbClr val="C84646"/>
            </a:solidFill>
            <a:prstDash val="solid"/>
            <a:round/>
            <a:headEnd type="none" w="sm" len="sm"/>
            <a:tailEnd type="none" w="sm" len="sm"/>
          </a:ln>
        </p:spPr>
      </p:cxnSp>
      <p:cxnSp>
        <p:nvCxnSpPr>
          <p:cNvPr id="332" name="Google Shape;332;p11"/>
          <p:cNvCxnSpPr/>
          <p:nvPr/>
        </p:nvCxnSpPr>
        <p:spPr>
          <a:xfrm>
            <a:off x="10332720" y="2674620"/>
            <a:ext cx="0" cy="1371600"/>
          </a:xfrm>
          <a:prstGeom prst="straightConnector1">
            <a:avLst/>
          </a:prstGeom>
          <a:noFill/>
          <a:ln w="22225" cap="flat" cmpd="sng">
            <a:solidFill>
              <a:srgbClr val="C84646"/>
            </a:solidFill>
            <a:prstDash val="solid"/>
            <a:round/>
            <a:headEnd type="none" w="sm" len="sm"/>
            <a:tailEnd type="none" w="sm" len="sm"/>
          </a:ln>
        </p:spPr>
      </p:cxnSp>
      <p:cxnSp>
        <p:nvCxnSpPr>
          <p:cNvPr id="333" name="Google Shape;333;p11"/>
          <p:cNvCxnSpPr/>
          <p:nvPr/>
        </p:nvCxnSpPr>
        <p:spPr>
          <a:xfrm>
            <a:off x="10332720" y="2674620"/>
            <a:ext cx="182880" cy="0"/>
          </a:xfrm>
          <a:prstGeom prst="straightConnector1">
            <a:avLst/>
          </a:prstGeom>
          <a:noFill/>
          <a:ln w="22225" cap="flat" cmpd="sng">
            <a:solidFill>
              <a:srgbClr val="C84646"/>
            </a:solidFill>
            <a:prstDash val="solid"/>
            <a:round/>
            <a:headEnd type="none" w="sm" len="sm"/>
            <a:tailEnd type="triangle" w="med" len="med"/>
          </a:ln>
        </p:spPr>
      </p:cxnSp>
      <p:cxnSp>
        <p:nvCxnSpPr>
          <p:cNvPr id="334" name="Google Shape;334;p11"/>
          <p:cNvCxnSpPr/>
          <p:nvPr/>
        </p:nvCxnSpPr>
        <p:spPr>
          <a:xfrm>
            <a:off x="10332720" y="4046220"/>
            <a:ext cx="182880" cy="0"/>
          </a:xfrm>
          <a:prstGeom prst="straightConnector1">
            <a:avLst/>
          </a:prstGeom>
          <a:noFill/>
          <a:ln w="22225" cap="flat" cmpd="sng">
            <a:solidFill>
              <a:srgbClr val="C84646"/>
            </a:solidFill>
            <a:prstDash val="solid"/>
            <a:round/>
            <a:headEnd type="none" w="sm" len="sm"/>
            <a:tailEnd type="triangle" w="med" len="med"/>
          </a:ln>
        </p:spPr>
      </p:cxnSp>
      <p:sp>
        <p:nvSpPr>
          <p:cNvPr id="335" name="Google Shape;335;p11"/>
          <p:cNvSpPr/>
          <p:nvPr/>
        </p:nvSpPr>
        <p:spPr>
          <a:xfrm>
            <a:off x="457200" y="5138928"/>
            <a:ext cx="3657600" cy="960120"/>
          </a:xfrm>
          <a:prstGeom prst="roundRect">
            <a:avLst>
              <a:gd name="adj" fmla="val 7619"/>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1"/>
          <p:cNvSpPr txBox="1"/>
          <p:nvPr/>
        </p:nvSpPr>
        <p:spPr>
          <a:xfrm>
            <a:off x="566928" y="5166360"/>
            <a:ext cx="3438144"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150"/>
              <a:buFont typeface="Times New Roman"/>
              <a:buNone/>
            </a:pPr>
            <a:r>
              <a:rPr lang="en-US" sz="1150" b="1" i="0" u="none" strike="noStrike" cap="none">
                <a:solidFill>
                  <a:srgbClr val="17365D"/>
                </a:solidFill>
                <a:latin typeface="Times New Roman"/>
                <a:ea typeface="Times New Roman"/>
                <a:cs typeface="Times New Roman"/>
                <a:sym typeface="Times New Roman"/>
              </a:rPr>
              <a:t>Coverage and gateways</a:t>
            </a:r>
            <a:endParaRPr sz="115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3F4650"/>
              </a:buClr>
              <a:buSzPts val="1150"/>
              <a:buFont typeface="Times New Roman"/>
              <a:buNone/>
            </a:pPr>
            <a:r>
              <a:rPr lang="en-US" sz="1150" b="0" i="0" u="none" strike="noStrike" cap="none">
                <a:solidFill>
                  <a:srgbClr val="3F4650"/>
                </a:solidFill>
                <a:latin typeface="Times New Roman"/>
                <a:ea typeface="Times New Roman"/>
                <a:cs typeface="Times New Roman"/>
                <a:sym typeface="Times New Roman"/>
              </a:rPr>
              <a:t>Plan gateway placement; allow multiple gateways; retry unacknowledged packets.</a:t>
            </a:r>
            <a:endParaRPr sz="1150" b="0" i="0" u="none" strike="noStrike" cap="none">
              <a:solidFill>
                <a:schemeClr val="dk1"/>
              </a:solidFill>
              <a:latin typeface="Times New Roman"/>
              <a:ea typeface="Times New Roman"/>
              <a:cs typeface="Times New Roman"/>
              <a:sym typeface="Times New Roman"/>
            </a:endParaRPr>
          </a:p>
        </p:txBody>
      </p:sp>
      <p:sp>
        <p:nvSpPr>
          <p:cNvPr id="337" name="Google Shape;337;p11"/>
          <p:cNvSpPr/>
          <p:nvPr/>
        </p:nvSpPr>
        <p:spPr>
          <a:xfrm>
            <a:off x="4265676" y="5138928"/>
            <a:ext cx="3657600" cy="960120"/>
          </a:xfrm>
          <a:prstGeom prst="roundRect">
            <a:avLst>
              <a:gd name="adj" fmla="val 7619"/>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1"/>
          <p:cNvSpPr txBox="1"/>
          <p:nvPr/>
        </p:nvSpPr>
        <p:spPr>
          <a:xfrm>
            <a:off x="4375404" y="5166360"/>
            <a:ext cx="3438144"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150"/>
              <a:buFont typeface="Times New Roman"/>
              <a:buNone/>
            </a:pPr>
            <a:r>
              <a:rPr lang="en-US" sz="1150" b="1" i="0" u="none" strike="noStrike" cap="none">
                <a:solidFill>
                  <a:srgbClr val="17365D"/>
                </a:solidFill>
                <a:latin typeface="Times New Roman"/>
                <a:ea typeface="Times New Roman"/>
                <a:cs typeface="Times New Roman"/>
                <a:sym typeface="Times New Roman"/>
              </a:rPr>
              <a:t>Security and privacy</a:t>
            </a:r>
            <a:endParaRPr sz="115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3F4650"/>
              </a:buClr>
              <a:buSzPts val="1150"/>
              <a:buFont typeface="Times New Roman"/>
              <a:buNone/>
            </a:pPr>
            <a:r>
              <a:rPr lang="en-US" sz="1150" b="0" i="0" u="none" strike="noStrike" cap="none">
                <a:solidFill>
                  <a:srgbClr val="3F4650"/>
                </a:solidFill>
                <a:latin typeface="Times New Roman"/>
                <a:ea typeface="Times New Roman"/>
                <a:cs typeface="Times New Roman"/>
                <a:sym typeface="Times New Roman"/>
              </a:rPr>
              <a:t>Device authentication, encrypted payload, role-based access, consent for screening data.</a:t>
            </a:r>
            <a:endParaRPr sz="1150" b="0" i="0" u="none" strike="noStrike" cap="none">
              <a:solidFill>
                <a:schemeClr val="dk1"/>
              </a:solidFill>
              <a:latin typeface="Times New Roman"/>
              <a:ea typeface="Times New Roman"/>
              <a:cs typeface="Times New Roman"/>
              <a:sym typeface="Times New Roman"/>
            </a:endParaRPr>
          </a:p>
        </p:txBody>
      </p:sp>
      <p:sp>
        <p:nvSpPr>
          <p:cNvPr id="339" name="Google Shape;339;p11"/>
          <p:cNvSpPr/>
          <p:nvPr/>
        </p:nvSpPr>
        <p:spPr>
          <a:xfrm>
            <a:off x="8074152" y="5138928"/>
            <a:ext cx="3657600" cy="960120"/>
          </a:xfrm>
          <a:prstGeom prst="roundRect">
            <a:avLst>
              <a:gd name="adj" fmla="val 7619"/>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1"/>
          <p:cNvSpPr txBox="1"/>
          <p:nvPr/>
        </p:nvSpPr>
        <p:spPr>
          <a:xfrm>
            <a:off x="8183880" y="5166360"/>
            <a:ext cx="3438144"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150"/>
              <a:buFont typeface="Times New Roman"/>
              <a:buNone/>
            </a:pPr>
            <a:r>
              <a:rPr lang="en-US" sz="1150" b="1" i="0" u="none" strike="noStrike" cap="none">
                <a:solidFill>
                  <a:srgbClr val="17365D"/>
                </a:solidFill>
                <a:latin typeface="Times New Roman"/>
                <a:ea typeface="Times New Roman"/>
                <a:cs typeface="Times New Roman"/>
                <a:sym typeface="Times New Roman"/>
              </a:rPr>
              <a:t>Failure handling</a:t>
            </a:r>
            <a:endParaRPr sz="115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3F4650"/>
              </a:buClr>
              <a:buSzPts val="1150"/>
              <a:buFont typeface="Times New Roman"/>
              <a:buNone/>
            </a:pPr>
            <a:r>
              <a:rPr lang="en-US" sz="1150" b="0" i="0" u="none" strike="noStrike" cap="none">
                <a:solidFill>
                  <a:srgbClr val="3F4650"/>
                </a:solidFill>
                <a:latin typeface="Times New Roman"/>
                <a:ea typeface="Times New Roman"/>
                <a:cs typeface="Times New Roman"/>
                <a:sym typeface="Times New Roman"/>
              </a:rPr>
              <a:t>No GPS: flagged packet. No LoRa: optional GSM. Backend down: queue and retry.</a:t>
            </a:r>
            <a:endParaRPr sz="1150" b="0" i="0" u="none" strike="noStrike" cap="none">
              <a:solidFill>
                <a:schemeClr val="dk1"/>
              </a:solidFill>
              <a:latin typeface="Times New Roman"/>
              <a:ea typeface="Times New Roman"/>
              <a:cs typeface="Times New Roman"/>
              <a:sym typeface="Times New Roman"/>
            </a:endParaRPr>
          </a:p>
        </p:txBody>
      </p:sp>
      <p:cxnSp>
        <p:nvCxnSpPr>
          <p:cNvPr id="341" name="Google Shape;341;p11"/>
          <p:cNvCxnSpPr/>
          <p:nvPr/>
        </p:nvCxnSpPr>
        <p:spPr>
          <a:xfrm>
            <a:off x="457200" y="6309360"/>
            <a:ext cx="411480" cy="0"/>
          </a:xfrm>
          <a:prstGeom prst="straightConnector1">
            <a:avLst/>
          </a:prstGeom>
          <a:noFill/>
          <a:ln w="25400" cap="flat" cmpd="sng">
            <a:solidFill>
              <a:srgbClr val="17365D"/>
            </a:solidFill>
            <a:prstDash val="solid"/>
            <a:round/>
            <a:headEnd type="none" w="sm" len="sm"/>
            <a:tailEnd type="triangle" w="med" len="med"/>
          </a:ln>
        </p:spPr>
      </p:cxnSp>
      <p:sp>
        <p:nvSpPr>
          <p:cNvPr id="342" name="Google Shape;342;p11"/>
          <p:cNvSpPr txBox="1"/>
          <p:nvPr/>
        </p:nvSpPr>
        <p:spPr>
          <a:xfrm>
            <a:off x="960120" y="6181344"/>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150"/>
              <a:buFont typeface="Times New Roman"/>
              <a:buNone/>
            </a:pPr>
            <a:r>
              <a:rPr lang="en-US" sz="1150" b="0" i="0" u="none" strike="noStrike" cap="none">
                <a:solidFill>
                  <a:srgbClr val="3F4650"/>
                </a:solidFill>
                <a:latin typeface="Times New Roman"/>
                <a:ea typeface="Times New Roman"/>
                <a:cs typeface="Times New Roman"/>
                <a:sym typeface="Times New Roman"/>
              </a:rPr>
              <a:t>Sensor data</a:t>
            </a:r>
            <a:endParaRPr sz="1150" b="0" i="0" u="none" strike="noStrike" cap="none">
              <a:solidFill>
                <a:schemeClr val="dk1"/>
              </a:solidFill>
              <a:latin typeface="Times New Roman"/>
              <a:ea typeface="Times New Roman"/>
              <a:cs typeface="Times New Roman"/>
              <a:sym typeface="Times New Roman"/>
            </a:endParaRPr>
          </a:p>
        </p:txBody>
      </p:sp>
      <p:cxnSp>
        <p:nvCxnSpPr>
          <p:cNvPr id="343" name="Google Shape;343;p11"/>
          <p:cNvCxnSpPr/>
          <p:nvPr/>
        </p:nvCxnSpPr>
        <p:spPr>
          <a:xfrm>
            <a:off x="2286000" y="6309360"/>
            <a:ext cx="411480" cy="0"/>
          </a:xfrm>
          <a:prstGeom prst="straightConnector1">
            <a:avLst/>
          </a:prstGeom>
          <a:noFill/>
          <a:ln w="25400" cap="flat" cmpd="sng">
            <a:solidFill>
              <a:srgbClr val="168C8C"/>
            </a:solidFill>
            <a:prstDash val="dash"/>
            <a:round/>
            <a:headEnd type="none" w="sm" len="sm"/>
            <a:tailEnd type="triangle" w="med" len="med"/>
          </a:ln>
        </p:spPr>
      </p:cxnSp>
      <p:sp>
        <p:nvSpPr>
          <p:cNvPr id="344" name="Google Shape;344;p11"/>
          <p:cNvSpPr txBox="1"/>
          <p:nvPr/>
        </p:nvSpPr>
        <p:spPr>
          <a:xfrm>
            <a:off x="2788920" y="6181344"/>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150"/>
              <a:buFont typeface="Times New Roman"/>
              <a:buNone/>
            </a:pPr>
            <a:r>
              <a:rPr lang="en-US" sz="1150" b="0" i="0" u="none" strike="noStrike" cap="none">
                <a:solidFill>
                  <a:srgbClr val="3F4650"/>
                </a:solidFill>
                <a:latin typeface="Times New Roman"/>
                <a:ea typeface="Times New Roman"/>
                <a:cs typeface="Times New Roman"/>
                <a:sym typeface="Times New Roman"/>
              </a:rPr>
              <a:t>LoRa radio</a:t>
            </a:r>
            <a:endParaRPr sz="1150" b="0" i="0" u="none" strike="noStrike" cap="none">
              <a:solidFill>
                <a:schemeClr val="dk1"/>
              </a:solidFill>
              <a:latin typeface="Times New Roman"/>
              <a:ea typeface="Times New Roman"/>
              <a:cs typeface="Times New Roman"/>
              <a:sym typeface="Times New Roman"/>
            </a:endParaRPr>
          </a:p>
        </p:txBody>
      </p:sp>
      <p:cxnSp>
        <p:nvCxnSpPr>
          <p:cNvPr id="345" name="Google Shape;345;p11"/>
          <p:cNvCxnSpPr/>
          <p:nvPr/>
        </p:nvCxnSpPr>
        <p:spPr>
          <a:xfrm>
            <a:off x="4206240" y="6309360"/>
            <a:ext cx="411480" cy="0"/>
          </a:xfrm>
          <a:prstGeom prst="straightConnector1">
            <a:avLst/>
          </a:prstGeom>
          <a:noFill/>
          <a:ln w="25400" cap="flat" cmpd="sng">
            <a:solidFill>
              <a:srgbClr val="5B636E"/>
            </a:solidFill>
            <a:prstDash val="solid"/>
            <a:round/>
            <a:headEnd type="none" w="sm" len="sm"/>
            <a:tailEnd type="triangle" w="med" len="med"/>
          </a:ln>
        </p:spPr>
      </p:cxnSp>
      <p:sp>
        <p:nvSpPr>
          <p:cNvPr id="346" name="Google Shape;346;p11"/>
          <p:cNvSpPr txBox="1"/>
          <p:nvPr/>
        </p:nvSpPr>
        <p:spPr>
          <a:xfrm>
            <a:off x="4709160" y="6181344"/>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150"/>
              <a:buFont typeface="Times New Roman"/>
              <a:buNone/>
            </a:pPr>
            <a:r>
              <a:rPr lang="en-US" sz="1150" b="0" i="0" u="none" strike="noStrike" cap="none">
                <a:solidFill>
                  <a:srgbClr val="3F4650"/>
                </a:solidFill>
                <a:latin typeface="Times New Roman"/>
                <a:ea typeface="Times New Roman"/>
                <a:cs typeface="Times New Roman"/>
                <a:sym typeface="Times New Roman"/>
              </a:rPr>
              <a:t>Internet backhaul</a:t>
            </a:r>
            <a:endParaRPr sz="1150" b="0" i="0" u="none" strike="noStrike" cap="none">
              <a:solidFill>
                <a:schemeClr val="dk1"/>
              </a:solidFill>
              <a:latin typeface="Times New Roman"/>
              <a:ea typeface="Times New Roman"/>
              <a:cs typeface="Times New Roman"/>
              <a:sym typeface="Times New Roman"/>
            </a:endParaRPr>
          </a:p>
        </p:txBody>
      </p:sp>
      <p:cxnSp>
        <p:nvCxnSpPr>
          <p:cNvPr id="347" name="Google Shape;347;p11"/>
          <p:cNvCxnSpPr/>
          <p:nvPr/>
        </p:nvCxnSpPr>
        <p:spPr>
          <a:xfrm>
            <a:off x="6400800" y="6309360"/>
            <a:ext cx="411480" cy="0"/>
          </a:xfrm>
          <a:prstGeom prst="straightConnector1">
            <a:avLst/>
          </a:prstGeom>
          <a:noFill/>
          <a:ln w="25400" cap="flat" cmpd="sng">
            <a:solidFill>
              <a:srgbClr val="C84646"/>
            </a:solidFill>
            <a:prstDash val="solid"/>
            <a:round/>
            <a:headEnd type="none" w="sm" len="sm"/>
            <a:tailEnd type="triangle" w="med" len="med"/>
          </a:ln>
        </p:spPr>
      </p:cxnSp>
      <p:sp>
        <p:nvSpPr>
          <p:cNvPr id="348" name="Google Shape;348;p11"/>
          <p:cNvSpPr txBox="1"/>
          <p:nvPr/>
        </p:nvSpPr>
        <p:spPr>
          <a:xfrm>
            <a:off x="6903720" y="6181344"/>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150"/>
              <a:buFont typeface="Times New Roman"/>
              <a:buNone/>
            </a:pPr>
            <a:r>
              <a:rPr lang="en-US" sz="1150" b="0" i="0" u="none" strike="noStrike" cap="none">
                <a:solidFill>
                  <a:srgbClr val="3F4650"/>
                </a:solidFill>
                <a:latin typeface="Times New Roman"/>
                <a:ea typeface="Times New Roman"/>
                <a:cs typeface="Times New Roman"/>
                <a:sym typeface="Times New Roman"/>
              </a:rPr>
              <a:t>Emergency notification</a:t>
            </a:r>
            <a:endParaRPr sz="1150" b="0" i="0" u="none" strike="noStrike" cap="none">
              <a:solidFill>
                <a:schemeClr val="dk1"/>
              </a:solidFill>
              <a:latin typeface="Times New Roman"/>
              <a:ea typeface="Times New Roman"/>
              <a:cs typeface="Times New Roman"/>
              <a:sym typeface="Times New Roman"/>
            </a:endParaRPr>
          </a:p>
        </p:txBody>
      </p:sp>
      <p:sp>
        <p:nvSpPr>
          <p:cNvPr id="349" name="Google Shape;349;p11"/>
          <p:cNvSpPr/>
          <p:nvPr/>
        </p:nvSpPr>
        <p:spPr>
          <a:xfrm>
            <a:off x="8869680" y="6199632"/>
            <a:ext cx="365760" cy="219456"/>
          </a:xfrm>
          <a:prstGeom prst="roundRect">
            <a:avLst>
              <a:gd name="adj" fmla="val 33333"/>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chemeClr val="dk1"/>
              </a:buClr>
              <a:buSzPts val="1200"/>
              <a:buFont typeface="Times New Roman"/>
              <a:buNone/>
            </a:pPr>
            <a:endParaRPr sz="1200" b="0" i="0" u="none" strike="noStrike" cap="none">
              <a:solidFill>
                <a:schemeClr val="dk1"/>
              </a:solidFill>
              <a:latin typeface="Times New Roman"/>
              <a:ea typeface="Times New Roman"/>
              <a:cs typeface="Times New Roman"/>
              <a:sym typeface="Times New Roman"/>
            </a:endParaRPr>
          </a:p>
        </p:txBody>
      </p:sp>
      <p:sp>
        <p:nvSpPr>
          <p:cNvPr id="350" name="Google Shape;350;p11"/>
          <p:cNvSpPr txBox="1"/>
          <p:nvPr/>
        </p:nvSpPr>
        <p:spPr>
          <a:xfrm>
            <a:off x="9326880" y="6181344"/>
            <a:ext cx="24688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150"/>
              <a:buFont typeface="Times New Roman"/>
              <a:buNone/>
            </a:pPr>
            <a:r>
              <a:rPr lang="en-US" sz="1150" b="0" i="0" u="none" strike="noStrike" cap="none">
                <a:solidFill>
                  <a:srgbClr val="3F4650"/>
                </a:solidFill>
                <a:latin typeface="Times New Roman"/>
                <a:ea typeface="Times New Roman"/>
                <a:cs typeface="Times New Roman"/>
                <a:sym typeface="Times New Roman"/>
              </a:rPr>
              <a:t>Dashed teal: proposed, not implemented</a:t>
            </a:r>
            <a:endParaRPr sz="115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5"/>
        <p:cNvGrpSpPr/>
        <p:nvPr/>
      </p:nvGrpSpPr>
      <p:grpSpPr>
        <a:xfrm>
          <a:off x="0" y="0"/>
          <a:ext cx="0" cy="0"/>
          <a:chOff x="0" y="0"/>
          <a:chExt cx="0" cy="0"/>
        </a:xfrm>
      </p:grpSpPr>
      <p:sp>
        <p:nvSpPr>
          <p:cNvPr id="356" name="Google Shape;356;p12"/>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HOW: Accident detection workflow</a:t>
            </a:r>
            <a:endParaRPr sz="3000" b="0" i="0" u="none" strike="noStrike" cap="none">
              <a:solidFill>
                <a:schemeClr val="dk1"/>
              </a:solidFill>
              <a:latin typeface="Times New Roman"/>
              <a:ea typeface="Times New Roman"/>
              <a:cs typeface="Times New Roman"/>
              <a:sym typeface="Times New Roman"/>
            </a:endParaRPr>
          </a:p>
        </p:txBody>
      </p:sp>
      <p:sp>
        <p:nvSpPr>
          <p:cNvPr id="357" name="Google Shape;357;p12"/>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358" name="Google Shape;358;p12"/>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10</a:t>
            </a:r>
            <a:endParaRPr sz="1100" b="0" i="0" u="none" strike="noStrike" cap="none">
              <a:solidFill>
                <a:schemeClr val="dk1"/>
              </a:solidFill>
              <a:latin typeface="Times New Roman"/>
              <a:ea typeface="Times New Roman"/>
              <a:cs typeface="Times New Roman"/>
              <a:sym typeface="Times New Roman"/>
            </a:endParaRPr>
          </a:p>
        </p:txBody>
      </p:sp>
      <p:sp>
        <p:nvSpPr>
          <p:cNvPr id="359" name="Google Shape;359;p12"/>
          <p:cNvSpPr/>
          <p:nvPr/>
        </p:nvSpPr>
        <p:spPr>
          <a:xfrm>
            <a:off x="457200" y="1417320"/>
            <a:ext cx="1828800" cy="731520"/>
          </a:xfrm>
          <a:prstGeom prst="ellipse">
            <a:avLst/>
          </a:prstGeom>
          <a:solidFill>
            <a:srgbClr val="4F8A62"/>
          </a:solidFill>
          <a:ln w="12700" cap="flat" cmpd="sng">
            <a:solidFill>
              <a:srgbClr val="4F8A62"/>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400"/>
              <a:buFont typeface="Times New Roman"/>
              <a:buNone/>
            </a:pPr>
            <a:r>
              <a:rPr lang="en-US" sz="1400" b="1" i="0" u="none" strike="noStrike" cap="none">
                <a:solidFill>
                  <a:srgbClr val="FFFFFF"/>
                </a:solidFill>
                <a:latin typeface="Times New Roman"/>
                <a:ea typeface="Times New Roman"/>
                <a:cs typeface="Times New Roman"/>
                <a:sym typeface="Times New Roman"/>
              </a:rPr>
              <a:t>Start</a:t>
            </a:r>
            <a:endParaRPr sz="1400" b="0" i="0" u="none" strike="noStrike" cap="none">
              <a:solidFill>
                <a:schemeClr val="dk1"/>
              </a:solidFill>
              <a:latin typeface="Times New Roman"/>
              <a:ea typeface="Times New Roman"/>
              <a:cs typeface="Times New Roman"/>
              <a:sym typeface="Times New Roman"/>
            </a:endParaRPr>
          </a:p>
        </p:txBody>
      </p:sp>
      <p:sp>
        <p:nvSpPr>
          <p:cNvPr id="360" name="Google Shape;360;p12"/>
          <p:cNvSpPr/>
          <p:nvPr/>
        </p:nvSpPr>
        <p:spPr>
          <a:xfrm>
            <a:off x="2816352" y="1325880"/>
            <a:ext cx="1828800" cy="914400"/>
          </a:xfrm>
          <a:prstGeom prst="roundRect">
            <a:avLst>
              <a:gd name="adj" fmla="val 8000"/>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Read accelerometer and gyroscope data</a:t>
            </a:r>
            <a:endParaRPr sz="1250" b="0" i="0" u="none" strike="noStrike" cap="none">
              <a:solidFill>
                <a:schemeClr val="dk1"/>
              </a:solidFill>
              <a:latin typeface="Times New Roman"/>
              <a:ea typeface="Times New Roman"/>
              <a:cs typeface="Times New Roman"/>
              <a:sym typeface="Times New Roman"/>
            </a:endParaRPr>
          </a:p>
        </p:txBody>
      </p:sp>
      <p:sp>
        <p:nvSpPr>
          <p:cNvPr id="361" name="Google Shape;361;p12"/>
          <p:cNvSpPr/>
          <p:nvPr/>
        </p:nvSpPr>
        <p:spPr>
          <a:xfrm>
            <a:off x="5175504" y="1188720"/>
            <a:ext cx="1828800" cy="1188720"/>
          </a:xfrm>
          <a:prstGeom prst="diamond">
            <a:avLst/>
          </a:prstGeom>
          <a:solidFill>
            <a:srgbClr val="F1F5F9"/>
          </a:solidFill>
          <a:ln w="254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17365D"/>
              </a:buClr>
              <a:buSzPts val="1200"/>
              <a:buFont typeface="Times New Roman"/>
              <a:buNone/>
            </a:pPr>
            <a:r>
              <a:rPr lang="en-US" sz="1200" b="1" i="0" u="none" strike="noStrike" cap="none">
                <a:solidFill>
                  <a:srgbClr val="17365D"/>
                </a:solidFill>
                <a:latin typeface="Times New Roman"/>
                <a:ea typeface="Times New Roman"/>
                <a:cs typeface="Times New Roman"/>
                <a:sym typeface="Times New Roman"/>
              </a:rPr>
              <a:t>Impact or rollover?</a:t>
            </a:r>
            <a:endParaRPr sz="1200" b="0" i="0" u="none" strike="noStrike" cap="none">
              <a:solidFill>
                <a:schemeClr val="dk1"/>
              </a:solidFill>
              <a:latin typeface="Times New Roman"/>
              <a:ea typeface="Times New Roman"/>
              <a:cs typeface="Times New Roman"/>
              <a:sym typeface="Times New Roman"/>
            </a:endParaRPr>
          </a:p>
        </p:txBody>
      </p:sp>
      <p:sp>
        <p:nvSpPr>
          <p:cNvPr id="362" name="Google Shape;362;p12"/>
          <p:cNvSpPr/>
          <p:nvPr/>
        </p:nvSpPr>
        <p:spPr>
          <a:xfrm>
            <a:off x="7534656" y="1325880"/>
            <a:ext cx="1828800" cy="914400"/>
          </a:xfrm>
          <a:prstGeom prst="roundRect">
            <a:avLst>
              <a:gd name="adj" fmla="val 8000"/>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Confirm event with thresholds and window</a:t>
            </a:r>
            <a:endParaRPr sz="1250" b="0" i="0" u="none" strike="noStrike" cap="none">
              <a:solidFill>
                <a:schemeClr val="dk1"/>
              </a:solidFill>
              <a:latin typeface="Times New Roman"/>
              <a:ea typeface="Times New Roman"/>
              <a:cs typeface="Times New Roman"/>
              <a:sym typeface="Times New Roman"/>
            </a:endParaRPr>
          </a:p>
        </p:txBody>
      </p:sp>
      <p:sp>
        <p:nvSpPr>
          <p:cNvPr id="363" name="Google Shape;363;p12"/>
          <p:cNvSpPr/>
          <p:nvPr/>
        </p:nvSpPr>
        <p:spPr>
          <a:xfrm>
            <a:off x="9893808" y="1325880"/>
            <a:ext cx="1828800" cy="914400"/>
          </a:xfrm>
          <a:prstGeom prst="roundRect">
            <a:avLst>
              <a:gd name="adj" fmla="val 8000"/>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Activate warning</a:t>
            </a:r>
            <a:endParaRPr sz="1250" b="0" i="0" u="none" strike="noStrike" cap="none">
              <a:solidFill>
                <a:schemeClr val="dk1"/>
              </a:solidFill>
              <a:latin typeface="Times New Roman"/>
              <a:ea typeface="Times New Roman"/>
              <a:cs typeface="Times New Roman"/>
              <a:sym typeface="Times New Roman"/>
            </a:endParaRPr>
          </a:p>
        </p:txBody>
      </p:sp>
      <p:cxnSp>
        <p:nvCxnSpPr>
          <p:cNvPr id="364" name="Google Shape;364;p12"/>
          <p:cNvCxnSpPr/>
          <p:nvPr/>
        </p:nvCxnSpPr>
        <p:spPr>
          <a:xfrm>
            <a:off x="2286000" y="1783080"/>
            <a:ext cx="530352" cy="0"/>
          </a:xfrm>
          <a:prstGeom prst="straightConnector1">
            <a:avLst/>
          </a:prstGeom>
          <a:noFill/>
          <a:ln w="22225" cap="flat" cmpd="sng">
            <a:solidFill>
              <a:srgbClr val="17365D"/>
            </a:solidFill>
            <a:prstDash val="solid"/>
            <a:round/>
            <a:headEnd type="none" w="sm" len="sm"/>
            <a:tailEnd type="triangle" w="med" len="med"/>
          </a:ln>
        </p:spPr>
      </p:cxnSp>
      <p:cxnSp>
        <p:nvCxnSpPr>
          <p:cNvPr id="365" name="Google Shape;365;p12"/>
          <p:cNvCxnSpPr/>
          <p:nvPr/>
        </p:nvCxnSpPr>
        <p:spPr>
          <a:xfrm>
            <a:off x="4645152" y="1783080"/>
            <a:ext cx="530352" cy="0"/>
          </a:xfrm>
          <a:prstGeom prst="straightConnector1">
            <a:avLst/>
          </a:prstGeom>
          <a:noFill/>
          <a:ln w="22225" cap="flat" cmpd="sng">
            <a:solidFill>
              <a:srgbClr val="17365D"/>
            </a:solidFill>
            <a:prstDash val="solid"/>
            <a:round/>
            <a:headEnd type="none" w="sm" len="sm"/>
            <a:tailEnd type="triangle" w="med" len="med"/>
          </a:ln>
        </p:spPr>
      </p:cxnSp>
      <p:cxnSp>
        <p:nvCxnSpPr>
          <p:cNvPr id="366" name="Google Shape;366;p12"/>
          <p:cNvCxnSpPr/>
          <p:nvPr/>
        </p:nvCxnSpPr>
        <p:spPr>
          <a:xfrm>
            <a:off x="7004304" y="1783080"/>
            <a:ext cx="530352" cy="0"/>
          </a:xfrm>
          <a:prstGeom prst="straightConnector1">
            <a:avLst/>
          </a:prstGeom>
          <a:noFill/>
          <a:ln w="22225" cap="flat" cmpd="sng">
            <a:solidFill>
              <a:srgbClr val="17365D"/>
            </a:solidFill>
            <a:prstDash val="solid"/>
            <a:round/>
            <a:headEnd type="none" w="sm" len="sm"/>
            <a:tailEnd type="triangle" w="med" len="med"/>
          </a:ln>
        </p:spPr>
      </p:cxnSp>
      <p:cxnSp>
        <p:nvCxnSpPr>
          <p:cNvPr id="367" name="Google Shape;367;p12"/>
          <p:cNvCxnSpPr/>
          <p:nvPr/>
        </p:nvCxnSpPr>
        <p:spPr>
          <a:xfrm>
            <a:off x="9363456" y="1783080"/>
            <a:ext cx="530352" cy="0"/>
          </a:xfrm>
          <a:prstGeom prst="straightConnector1">
            <a:avLst/>
          </a:prstGeom>
          <a:noFill/>
          <a:ln w="22225" cap="flat" cmpd="sng">
            <a:solidFill>
              <a:srgbClr val="17365D"/>
            </a:solidFill>
            <a:prstDash val="solid"/>
            <a:round/>
            <a:headEnd type="none" w="sm" len="sm"/>
            <a:tailEnd type="triangle" w="med" len="med"/>
          </a:ln>
        </p:spPr>
      </p:cxnSp>
      <p:sp>
        <p:nvSpPr>
          <p:cNvPr id="368" name="Google Shape;368;p12"/>
          <p:cNvSpPr txBox="1"/>
          <p:nvPr/>
        </p:nvSpPr>
        <p:spPr>
          <a:xfrm>
            <a:off x="5084064" y="2404872"/>
            <a:ext cx="2011680" cy="23774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B636E"/>
              </a:buClr>
              <a:buSzPts val="1100"/>
              <a:buFont typeface="Times New Roman"/>
              <a:buNone/>
            </a:pPr>
            <a:r>
              <a:rPr lang="en-US" sz="1100" b="0" i="1" u="none" strike="noStrike" cap="none">
                <a:solidFill>
                  <a:srgbClr val="5B636E"/>
                </a:solidFill>
                <a:latin typeface="Times New Roman"/>
                <a:ea typeface="Times New Roman"/>
                <a:cs typeface="Times New Roman"/>
                <a:sym typeface="Times New Roman"/>
              </a:rPr>
              <a:t>No: keep monitoring</a:t>
            </a:r>
            <a:endParaRPr sz="1100" b="0" i="0" u="none" strike="noStrike" cap="none">
              <a:solidFill>
                <a:schemeClr val="dk1"/>
              </a:solidFill>
              <a:latin typeface="Times New Roman"/>
              <a:ea typeface="Times New Roman"/>
              <a:cs typeface="Times New Roman"/>
              <a:sym typeface="Times New Roman"/>
            </a:endParaRPr>
          </a:p>
        </p:txBody>
      </p:sp>
      <p:cxnSp>
        <p:nvCxnSpPr>
          <p:cNvPr id="369" name="Google Shape;369;p12"/>
          <p:cNvCxnSpPr/>
          <p:nvPr/>
        </p:nvCxnSpPr>
        <p:spPr>
          <a:xfrm>
            <a:off x="10808208" y="2240280"/>
            <a:ext cx="0" cy="731520"/>
          </a:xfrm>
          <a:prstGeom prst="straightConnector1">
            <a:avLst/>
          </a:prstGeom>
          <a:noFill/>
          <a:ln w="22225" cap="flat" cmpd="sng">
            <a:solidFill>
              <a:srgbClr val="17365D"/>
            </a:solidFill>
            <a:prstDash val="solid"/>
            <a:round/>
            <a:headEnd type="none" w="sm" len="sm"/>
            <a:tailEnd type="triangle" w="med" len="med"/>
          </a:ln>
        </p:spPr>
      </p:cxnSp>
      <p:sp>
        <p:nvSpPr>
          <p:cNvPr id="370" name="Google Shape;370;p12"/>
          <p:cNvSpPr/>
          <p:nvPr/>
        </p:nvSpPr>
        <p:spPr>
          <a:xfrm>
            <a:off x="9893808" y="2971800"/>
            <a:ext cx="1828800" cy="914400"/>
          </a:xfrm>
          <a:prstGeom prst="roundRect">
            <a:avLst>
              <a:gd name="adj" fmla="val 8000"/>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Start manual cancellation window</a:t>
            </a:r>
            <a:endParaRPr sz="1250" b="0" i="0" u="none" strike="noStrike" cap="none">
              <a:solidFill>
                <a:schemeClr val="dk1"/>
              </a:solidFill>
              <a:latin typeface="Times New Roman"/>
              <a:ea typeface="Times New Roman"/>
              <a:cs typeface="Times New Roman"/>
              <a:sym typeface="Times New Roman"/>
            </a:endParaRPr>
          </a:p>
        </p:txBody>
      </p:sp>
      <p:sp>
        <p:nvSpPr>
          <p:cNvPr id="371" name="Google Shape;371;p12"/>
          <p:cNvSpPr/>
          <p:nvPr/>
        </p:nvSpPr>
        <p:spPr>
          <a:xfrm>
            <a:off x="7534656" y="2834640"/>
            <a:ext cx="1828800" cy="1188720"/>
          </a:xfrm>
          <a:prstGeom prst="diamond">
            <a:avLst/>
          </a:prstGeom>
          <a:solidFill>
            <a:srgbClr val="F1F5F9"/>
          </a:solidFill>
          <a:ln w="254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17365D"/>
              </a:buClr>
              <a:buSzPts val="1300"/>
              <a:buFont typeface="Times New Roman"/>
              <a:buNone/>
            </a:pPr>
            <a:r>
              <a:rPr lang="en-US" sz="1300" b="1" i="0" u="none" strike="noStrike" cap="none">
                <a:solidFill>
                  <a:srgbClr val="17365D"/>
                </a:solidFill>
                <a:latin typeface="Times New Roman"/>
                <a:ea typeface="Times New Roman"/>
                <a:cs typeface="Times New Roman"/>
                <a:sym typeface="Times New Roman"/>
              </a:rPr>
              <a:t>Cancelled?</a:t>
            </a:r>
            <a:endParaRPr sz="1300" b="0" i="0" u="none" strike="noStrike" cap="none">
              <a:solidFill>
                <a:schemeClr val="dk1"/>
              </a:solidFill>
              <a:latin typeface="Times New Roman"/>
              <a:ea typeface="Times New Roman"/>
              <a:cs typeface="Times New Roman"/>
              <a:sym typeface="Times New Roman"/>
            </a:endParaRPr>
          </a:p>
        </p:txBody>
      </p:sp>
      <p:sp>
        <p:nvSpPr>
          <p:cNvPr id="372" name="Google Shape;372;p12"/>
          <p:cNvSpPr/>
          <p:nvPr/>
        </p:nvSpPr>
        <p:spPr>
          <a:xfrm>
            <a:off x="5175504" y="2971800"/>
            <a:ext cx="1828800" cy="914400"/>
          </a:xfrm>
          <a:prstGeom prst="roundRect">
            <a:avLst>
              <a:gd name="adj" fmla="val 8000"/>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Acquire GPS fix and timestamp</a:t>
            </a:r>
            <a:endParaRPr sz="1250" b="0" i="0" u="none" strike="noStrike" cap="none">
              <a:solidFill>
                <a:schemeClr val="dk1"/>
              </a:solidFill>
              <a:latin typeface="Times New Roman"/>
              <a:ea typeface="Times New Roman"/>
              <a:cs typeface="Times New Roman"/>
              <a:sym typeface="Times New Roman"/>
            </a:endParaRPr>
          </a:p>
        </p:txBody>
      </p:sp>
      <p:sp>
        <p:nvSpPr>
          <p:cNvPr id="373" name="Google Shape;373;p12"/>
          <p:cNvSpPr/>
          <p:nvPr/>
        </p:nvSpPr>
        <p:spPr>
          <a:xfrm>
            <a:off x="2816352" y="2971800"/>
            <a:ext cx="1828800" cy="914400"/>
          </a:xfrm>
          <a:prstGeom prst="roundRect">
            <a:avLst>
              <a:gd name="adj" fmla="val 8000"/>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Construct compact packet</a:t>
            </a:r>
            <a:endParaRPr sz="1250" b="0" i="0" u="none" strike="noStrike" cap="none">
              <a:solidFill>
                <a:schemeClr val="dk1"/>
              </a:solidFill>
              <a:latin typeface="Times New Roman"/>
              <a:ea typeface="Times New Roman"/>
              <a:cs typeface="Times New Roman"/>
              <a:sym typeface="Times New Roman"/>
            </a:endParaRPr>
          </a:p>
        </p:txBody>
      </p:sp>
      <p:sp>
        <p:nvSpPr>
          <p:cNvPr id="374" name="Google Shape;374;p12"/>
          <p:cNvSpPr/>
          <p:nvPr/>
        </p:nvSpPr>
        <p:spPr>
          <a:xfrm>
            <a:off x="457200" y="2971800"/>
            <a:ext cx="1828800" cy="914400"/>
          </a:xfrm>
          <a:prstGeom prst="roundRect">
            <a:avLst>
              <a:gd name="adj" fmla="val 8000"/>
            </a:avLst>
          </a:prstGeom>
          <a:solidFill>
            <a:srgbClr val="168C8C"/>
          </a:solidFill>
          <a:ln w="12700" cap="flat" cmpd="sng">
            <a:solidFill>
              <a:srgbClr val="168C8C"/>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Transmit via LoRa</a:t>
            </a:r>
            <a:endParaRPr sz="1250" b="0" i="0" u="none" strike="noStrike" cap="none">
              <a:solidFill>
                <a:schemeClr val="dk1"/>
              </a:solidFill>
              <a:latin typeface="Times New Roman"/>
              <a:ea typeface="Times New Roman"/>
              <a:cs typeface="Times New Roman"/>
              <a:sym typeface="Times New Roman"/>
            </a:endParaRPr>
          </a:p>
        </p:txBody>
      </p:sp>
      <p:cxnSp>
        <p:nvCxnSpPr>
          <p:cNvPr id="375" name="Google Shape;375;p12"/>
          <p:cNvCxnSpPr/>
          <p:nvPr/>
        </p:nvCxnSpPr>
        <p:spPr>
          <a:xfrm rot="10800000">
            <a:off x="9363456" y="3429000"/>
            <a:ext cx="530352" cy="0"/>
          </a:xfrm>
          <a:prstGeom prst="straightConnector1">
            <a:avLst/>
          </a:prstGeom>
          <a:noFill/>
          <a:ln w="22225" cap="flat" cmpd="sng">
            <a:solidFill>
              <a:srgbClr val="17365D"/>
            </a:solidFill>
            <a:prstDash val="solid"/>
            <a:round/>
            <a:headEnd type="none" w="sm" len="sm"/>
            <a:tailEnd type="triangle" w="med" len="med"/>
          </a:ln>
        </p:spPr>
      </p:cxnSp>
      <p:cxnSp>
        <p:nvCxnSpPr>
          <p:cNvPr id="376" name="Google Shape;376;p12"/>
          <p:cNvCxnSpPr/>
          <p:nvPr/>
        </p:nvCxnSpPr>
        <p:spPr>
          <a:xfrm rot="10800000">
            <a:off x="7004304" y="3429000"/>
            <a:ext cx="530352" cy="0"/>
          </a:xfrm>
          <a:prstGeom prst="straightConnector1">
            <a:avLst/>
          </a:prstGeom>
          <a:noFill/>
          <a:ln w="22225" cap="flat" cmpd="sng">
            <a:solidFill>
              <a:srgbClr val="17365D"/>
            </a:solidFill>
            <a:prstDash val="solid"/>
            <a:round/>
            <a:headEnd type="none" w="sm" len="sm"/>
            <a:tailEnd type="triangle" w="med" len="med"/>
          </a:ln>
        </p:spPr>
      </p:cxnSp>
      <p:cxnSp>
        <p:nvCxnSpPr>
          <p:cNvPr id="377" name="Google Shape;377;p12"/>
          <p:cNvCxnSpPr/>
          <p:nvPr/>
        </p:nvCxnSpPr>
        <p:spPr>
          <a:xfrm rot="10800000">
            <a:off x="4645152" y="3429000"/>
            <a:ext cx="530352" cy="0"/>
          </a:xfrm>
          <a:prstGeom prst="straightConnector1">
            <a:avLst/>
          </a:prstGeom>
          <a:noFill/>
          <a:ln w="22225" cap="flat" cmpd="sng">
            <a:solidFill>
              <a:srgbClr val="17365D"/>
            </a:solidFill>
            <a:prstDash val="solid"/>
            <a:round/>
            <a:headEnd type="none" w="sm" len="sm"/>
            <a:tailEnd type="triangle" w="med" len="med"/>
          </a:ln>
        </p:spPr>
      </p:cxnSp>
      <p:cxnSp>
        <p:nvCxnSpPr>
          <p:cNvPr id="378" name="Google Shape;378;p12"/>
          <p:cNvCxnSpPr/>
          <p:nvPr/>
        </p:nvCxnSpPr>
        <p:spPr>
          <a:xfrm rot="10800000">
            <a:off x="2286000" y="3429000"/>
            <a:ext cx="530352" cy="0"/>
          </a:xfrm>
          <a:prstGeom prst="straightConnector1">
            <a:avLst/>
          </a:prstGeom>
          <a:noFill/>
          <a:ln w="22225" cap="flat" cmpd="sng">
            <a:solidFill>
              <a:srgbClr val="17365D"/>
            </a:solidFill>
            <a:prstDash val="solid"/>
            <a:round/>
            <a:headEnd type="none" w="sm" len="sm"/>
            <a:tailEnd type="triangle" w="med" len="med"/>
          </a:ln>
        </p:spPr>
      </p:cxnSp>
      <p:sp>
        <p:nvSpPr>
          <p:cNvPr id="379" name="Google Shape;379;p12"/>
          <p:cNvSpPr txBox="1"/>
          <p:nvPr/>
        </p:nvSpPr>
        <p:spPr>
          <a:xfrm>
            <a:off x="7443216" y="4050792"/>
            <a:ext cx="2011680" cy="23774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B636E"/>
              </a:buClr>
              <a:buSzPts val="1100"/>
              <a:buFont typeface="Times New Roman"/>
              <a:buNone/>
            </a:pPr>
            <a:r>
              <a:rPr lang="en-US" sz="1100" b="0" i="1" u="none" strike="noStrike" cap="none">
                <a:solidFill>
                  <a:srgbClr val="5B636E"/>
                </a:solidFill>
                <a:latin typeface="Times New Roman"/>
                <a:ea typeface="Times New Roman"/>
                <a:cs typeface="Times New Roman"/>
                <a:sym typeface="Times New Roman"/>
              </a:rPr>
              <a:t>No: continue</a:t>
            </a:r>
            <a:endParaRPr sz="1100" b="0" i="0" u="none" strike="noStrike" cap="none">
              <a:solidFill>
                <a:schemeClr val="dk1"/>
              </a:solidFill>
              <a:latin typeface="Times New Roman"/>
              <a:ea typeface="Times New Roman"/>
              <a:cs typeface="Times New Roman"/>
              <a:sym typeface="Times New Roman"/>
            </a:endParaRPr>
          </a:p>
        </p:txBody>
      </p:sp>
      <p:cxnSp>
        <p:nvCxnSpPr>
          <p:cNvPr id="380" name="Google Shape;380;p12"/>
          <p:cNvCxnSpPr/>
          <p:nvPr/>
        </p:nvCxnSpPr>
        <p:spPr>
          <a:xfrm>
            <a:off x="1371600" y="3886200"/>
            <a:ext cx="0" cy="731520"/>
          </a:xfrm>
          <a:prstGeom prst="straightConnector1">
            <a:avLst/>
          </a:prstGeom>
          <a:noFill/>
          <a:ln w="22225" cap="flat" cmpd="sng">
            <a:solidFill>
              <a:srgbClr val="17365D"/>
            </a:solidFill>
            <a:prstDash val="solid"/>
            <a:round/>
            <a:headEnd type="none" w="sm" len="sm"/>
            <a:tailEnd type="triangle" w="med" len="med"/>
          </a:ln>
        </p:spPr>
      </p:cxnSp>
      <p:sp>
        <p:nvSpPr>
          <p:cNvPr id="381" name="Google Shape;381;p12"/>
          <p:cNvSpPr/>
          <p:nvPr/>
        </p:nvSpPr>
        <p:spPr>
          <a:xfrm>
            <a:off x="457200" y="4617720"/>
            <a:ext cx="1828800" cy="914400"/>
          </a:xfrm>
          <a:prstGeom prst="roundRect">
            <a:avLst>
              <a:gd name="adj" fmla="val 8000"/>
            </a:avLst>
          </a:prstGeom>
          <a:solidFill>
            <a:srgbClr val="17365D"/>
          </a:solidFill>
          <a:ln w="12700" cap="flat" cmpd="sng">
            <a:solidFill>
              <a:srgbClr val="17365D"/>
            </a:solidFill>
            <a:prstDash val="solid"/>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FFFFFF"/>
              </a:buClr>
              <a:buSzPts val="1250"/>
              <a:buFont typeface="Times New Roman"/>
              <a:buNone/>
            </a:pPr>
            <a:r>
              <a:rPr lang="en-US" sz="1250" b="1" i="0" u="none" strike="noStrike" cap="none">
                <a:solidFill>
                  <a:srgbClr val="FFFFFF"/>
                </a:solidFill>
                <a:latin typeface="Times New Roman"/>
                <a:ea typeface="Times New Roman"/>
                <a:cs typeface="Times New Roman"/>
                <a:sym typeface="Times New Roman"/>
              </a:rPr>
              <a:t>Gateway forwards packet to backend</a:t>
            </a:r>
            <a:endParaRPr sz="1250" b="0" i="0" u="none" strike="noStrike" cap="none">
              <a:solidFill>
                <a:schemeClr val="dk1"/>
              </a:solidFill>
              <a:latin typeface="Times New Roman"/>
              <a:ea typeface="Times New Roman"/>
              <a:cs typeface="Times New Roman"/>
              <a:sym typeface="Times New Roman"/>
            </a:endParaRPr>
          </a:p>
        </p:txBody>
      </p:sp>
      <p:sp>
        <p:nvSpPr>
          <p:cNvPr id="382" name="Google Shape;382;p12"/>
          <p:cNvSpPr/>
          <p:nvPr/>
        </p:nvSpPr>
        <p:spPr>
          <a:xfrm>
            <a:off x="2816352" y="4617720"/>
            <a:ext cx="1828800" cy="914400"/>
          </a:xfrm>
          <a:prstGeom prst="roundRect">
            <a:avLst>
              <a:gd name="adj" fmla="val 8000"/>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1" i="0" u="none" strike="noStrike" cap="none">
                <a:solidFill>
                  <a:srgbClr val="3F4650"/>
                </a:solidFill>
                <a:latin typeface="Times New Roman"/>
                <a:ea typeface="Times New Roman"/>
                <a:cs typeface="Times New Roman"/>
                <a:sym typeface="Times New Roman"/>
              </a:rPr>
              <a:t>Backend identifies nearby facilities</a:t>
            </a:r>
            <a:endParaRPr sz="1250" b="0" i="0" u="none" strike="noStrike" cap="none">
              <a:solidFill>
                <a:schemeClr val="dk1"/>
              </a:solidFill>
              <a:latin typeface="Times New Roman"/>
              <a:ea typeface="Times New Roman"/>
              <a:cs typeface="Times New Roman"/>
              <a:sym typeface="Times New Roman"/>
            </a:endParaRPr>
          </a:p>
        </p:txBody>
      </p:sp>
      <p:sp>
        <p:nvSpPr>
          <p:cNvPr id="383" name="Google Shape;383;p12"/>
          <p:cNvSpPr/>
          <p:nvPr/>
        </p:nvSpPr>
        <p:spPr>
          <a:xfrm>
            <a:off x="5175504" y="4617720"/>
            <a:ext cx="1828800" cy="914400"/>
          </a:xfrm>
          <a:prstGeom prst="roundRect">
            <a:avLst>
              <a:gd name="adj" fmla="val 8000"/>
            </a:avLst>
          </a:prstGeom>
          <a:solidFill>
            <a:srgbClr val="FFFFFF"/>
          </a:solidFill>
          <a:ln w="19050" cap="flat" cmpd="sng">
            <a:solidFill>
              <a:srgbClr val="168C8C"/>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1" i="0" u="none" strike="noStrike" cap="none">
                <a:solidFill>
                  <a:srgbClr val="3F4650"/>
                </a:solidFill>
                <a:latin typeface="Times New Roman"/>
                <a:ea typeface="Times New Roman"/>
                <a:cs typeface="Times New Roman"/>
                <a:sym typeface="Times New Roman"/>
              </a:rPr>
              <a:t>Send hospital and fire-rescue notification</a:t>
            </a:r>
            <a:endParaRPr sz="1250" b="0" i="0" u="none" strike="noStrike" cap="none">
              <a:solidFill>
                <a:schemeClr val="dk1"/>
              </a:solidFill>
              <a:latin typeface="Times New Roman"/>
              <a:ea typeface="Times New Roman"/>
              <a:cs typeface="Times New Roman"/>
              <a:sym typeface="Times New Roman"/>
            </a:endParaRPr>
          </a:p>
        </p:txBody>
      </p:sp>
      <p:cxnSp>
        <p:nvCxnSpPr>
          <p:cNvPr id="384" name="Google Shape;384;p12"/>
          <p:cNvCxnSpPr/>
          <p:nvPr/>
        </p:nvCxnSpPr>
        <p:spPr>
          <a:xfrm>
            <a:off x="2286000" y="5074920"/>
            <a:ext cx="530352" cy="0"/>
          </a:xfrm>
          <a:prstGeom prst="straightConnector1">
            <a:avLst/>
          </a:prstGeom>
          <a:noFill/>
          <a:ln w="22225" cap="flat" cmpd="sng">
            <a:solidFill>
              <a:srgbClr val="5B636E"/>
            </a:solidFill>
            <a:prstDash val="solid"/>
            <a:round/>
            <a:headEnd type="none" w="sm" len="sm"/>
            <a:tailEnd type="triangle" w="med" len="med"/>
          </a:ln>
        </p:spPr>
      </p:cxnSp>
      <p:cxnSp>
        <p:nvCxnSpPr>
          <p:cNvPr id="385" name="Google Shape;385;p12"/>
          <p:cNvCxnSpPr/>
          <p:nvPr/>
        </p:nvCxnSpPr>
        <p:spPr>
          <a:xfrm>
            <a:off x="4645152" y="5074920"/>
            <a:ext cx="530352" cy="0"/>
          </a:xfrm>
          <a:prstGeom prst="straightConnector1">
            <a:avLst/>
          </a:prstGeom>
          <a:noFill/>
          <a:ln w="22225" cap="flat" cmpd="sng">
            <a:solidFill>
              <a:srgbClr val="C84646"/>
            </a:solidFill>
            <a:prstDash val="solid"/>
            <a:round/>
            <a:headEnd type="none" w="sm" len="sm"/>
            <a:tailEnd type="triangle" w="med" len="med"/>
          </a:ln>
        </p:spPr>
      </p:cxnSp>
      <p:sp>
        <p:nvSpPr>
          <p:cNvPr id="386" name="Google Shape;386;p12"/>
          <p:cNvSpPr txBox="1"/>
          <p:nvPr/>
        </p:nvSpPr>
        <p:spPr>
          <a:xfrm>
            <a:off x="7269480" y="4434840"/>
            <a:ext cx="44348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365D"/>
              </a:buClr>
              <a:buSzPts val="1400"/>
              <a:buFont typeface="Times New Roman"/>
              <a:buNone/>
            </a:pPr>
            <a:r>
              <a:rPr lang="en-US" sz="1400" b="1" i="0" u="none" strike="noStrike" cap="none">
                <a:solidFill>
                  <a:srgbClr val="17365D"/>
                </a:solidFill>
                <a:latin typeface="Times New Roman"/>
                <a:ea typeface="Times New Roman"/>
                <a:cs typeface="Times New Roman"/>
                <a:sym typeface="Times New Roman"/>
              </a:rPr>
              <a:t>Alternate paths</a:t>
            </a:r>
            <a:endParaRPr sz="1400" b="0" i="0" u="none" strike="noStrike" cap="none">
              <a:solidFill>
                <a:schemeClr val="dk1"/>
              </a:solidFill>
              <a:latin typeface="Times New Roman"/>
              <a:ea typeface="Times New Roman"/>
              <a:cs typeface="Times New Roman"/>
              <a:sym typeface="Times New Roman"/>
            </a:endParaRPr>
          </a:p>
        </p:txBody>
      </p:sp>
      <p:sp>
        <p:nvSpPr>
          <p:cNvPr id="387" name="Google Shape;387;p12"/>
          <p:cNvSpPr/>
          <p:nvPr/>
        </p:nvSpPr>
        <p:spPr>
          <a:xfrm>
            <a:off x="7269480" y="4754880"/>
            <a:ext cx="1417320" cy="1097280"/>
          </a:xfrm>
          <a:prstGeom prst="roundRect">
            <a:avLst>
              <a:gd name="adj" fmla="val 6667"/>
            </a:avLst>
          </a:prstGeom>
          <a:solidFill>
            <a:srgbClr val="FBF3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2"/>
          <p:cNvSpPr txBox="1"/>
          <p:nvPr/>
        </p:nvSpPr>
        <p:spPr>
          <a:xfrm>
            <a:off x="7333488" y="4773168"/>
            <a:ext cx="1298448" cy="10607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100"/>
              <a:buFont typeface="Times New Roman"/>
              <a:buNone/>
            </a:pPr>
            <a:r>
              <a:rPr lang="en-US" sz="1100" b="1" i="0" u="none" strike="noStrike" cap="none">
                <a:solidFill>
                  <a:srgbClr val="17365D"/>
                </a:solidFill>
                <a:latin typeface="Times New Roman"/>
                <a:ea typeface="Times New Roman"/>
                <a:cs typeface="Times New Roman"/>
                <a:sym typeface="Times New Roman"/>
              </a:rPr>
              <a:t>No GPS fix</a:t>
            </a:r>
            <a:endParaRPr sz="11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3F4650"/>
              </a:buClr>
              <a:buSzPts val="1100"/>
              <a:buFont typeface="Times New Roman"/>
              <a:buNone/>
            </a:pPr>
            <a:r>
              <a:rPr lang="en-US" sz="1100" b="0" i="0" u="none" strike="noStrike" cap="none">
                <a:solidFill>
                  <a:srgbClr val="3F4650"/>
                </a:solidFill>
                <a:latin typeface="Times New Roman"/>
                <a:ea typeface="Times New Roman"/>
                <a:cs typeface="Times New Roman"/>
                <a:sym typeface="Times New Roman"/>
              </a:rPr>
              <a:t>Send flagged packet; use last known fix if available</a:t>
            </a:r>
            <a:endParaRPr sz="1100" b="0" i="0" u="none" strike="noStrike" cap="none">
              <a:solidFill>
                <a:schemeClr val="dk1"/>
              </a:solidFill>
              <a:latin typeface="Times New Roman"/>
              <a:ea typeface="Times New Roman"/>
              <a:cs typeface="Times New Roman"/>
              <a:sym typeface="Times New Roman"/>
            </a:endParaRPr>
          </a:p>
        </p:txBody>
      </p:sp>
      <p:sp>
        <p:nvSpPr>
          <p:cNvPr id="389" name="Google Shape;389;p12"/>
          <p:cNvSpPr/>
          <p:nvPr/>
        </p:nvSpPr>
        <p:spPr>
          <a:xfrm>
            <a:off x="8778240" y="4754880"/>
            <a:ext cx="1417320" cy="1097280"/>
          </a:xfrm>
          <a:prstGeom prst="roundRect">
            <a:avLst>
              <a:gd name="adj" fmla="val 6667"/>
            </a:avLst>
          </a:prstGeom>
          <a:solidFill>
            <a:srgbClr val="FBF3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2"/>
          <p:cNvSpPr txBox="1"/>
          <p:nvPr/>
        </p:nvSpPr>
        <p:spPr>
          <a:xfrm>
            <a:off x="8842248" y="4773168"/>
            <a:ext cx="1298448" cy="10607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100"/>
              <a:buFont typeface="Times New Roman"/>
              <a:buNone/>
            </a:pPr>
            <a:r>
              <a:rPr lang="en-US" sz="1100" b="1" i="0" u="none" strike="noStrike" cap="none">
                <a:solidFill>
                  <a:srgbClr val="17365D"/>
                </a:solidFill>
                <a:latin typeface="Times New Roman"/>
                <a:ea typeface="Times New Roman"/>
                <a:cs typeface="Times New Roman"/>
                <a:sym typeface="Times New Roman"/>
              </a:rPr>
              <a:t>No gateway coverage</a:t>
            </a:r>
            <a:endParaRPr sz="11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3F4650"/>
              </a:buClr>
              <a:buSzPts val="1100"/>
              <a:buFont typeface="Times New Roman"/>
              <a:buNone/>
            </a:pPr>
            <a:r>
              <a:rPr lang="en-US" sz="1100" b="0" i="0" u="none" strike="noStrike" cap="none">
                <a:solidFill>
                  <a:srgbClr val="3F4650"/>
                </a:solidFill>
                <a:latin typeface="Times New Roman"/>
                <a:ea typeface="Times New Roman"/>
                <a:cs typeface="Times New Roman"/>
                <a:sym typeface="Times New Roman"/>
              </a:rPr>
              <a:t>Retry; optional GSM fallback where available</a:t>
            </a:r>
            <a:endParaRPr sz="1100" b="0" i="0" u="none" strike="noStrike" cap="none">
              <a:solidFill>
                <a:schemeClr val="dk1"/>
              </a:solidFill>
              <a:latin typeface="Times New Roman"/>
              <a:ea typeface="Times New Roman"/>
              <a:cs typeface="Times New Roman"/>
              <a:sym typeface="Times New Roman"/>
            </a:endParaRPr>
          </a:p>
        </p:txBody>
      </p:sp>
      <p:sp>
        <p:nvSpPr>
          <p:cNvPr id="391" name="Google Shape;391;p12"/>
          <p:cNvSpPr/>
          <p:nvPr/>
        </p:nvSpPr>
        <p:spPr>
          <a:xfrm>
            <a:off x="10287000" y="4754880"/>
            <a:ext cx="1417320" cy="1097280"/>
          </a:xfrm>
          <a:prstGeom prst="roundRect">
            <a:avLst>
              <a:gd name="adj" fmla="val 6667"/>
            </a:avLst>
          </a:prstGeom>
          <a:solidFill>
            <a:srgbClr val="FBF3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2"/>
          <p:cNvSpPr txBox="1"/>
          <p:nvPr/>
        </p:nvSpPr>
        <p:spPr>
          <a:xfrm>
            <a:off x="10351008" y="4773168"/>
            <a:ext cx="1298448" cy="10607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100"/>
              <a:buFont typeface="Times New Roman"/>
              <a:buNone/>
            </a:pPr>
            <a:r>
              <a:rPr lang="en-US" sz="1100" b="1" i="0" u="none" strike="noStrike" cap="none">
                <a:solidFill>
                  <a:srgbClr val="17365D"/>
                </a:solidFill>
                <a:latin typeface="Times New Roman"/>
                <a:ea typeface="Times New Roman"/>
                <a:cs typeface="Times New Roman"/>
                <a:sym typeface="Times New Roman"/>
              </a:rPr>
              <a:t>Cancelled in window</a:t>
            </a:r>
            <a:endParaRPr sz="11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3F4650"/>
              </a:buClr>
              <a:buSzPts val="1100"/>
              <a:buFont typeface="Times New Roman"/>
              <a:buNone/>
            </a:pPr>
            <a:r>
              <a:rPr lang="en-US" sz="1100" b="0" i="0" u="none" strike="noStrike" cap="none">
                <a:solidFill>
                  <a:srgbClr val="3F4650"/>
                </a:solidFill>
                <a:latin typeface="Times New Roman"/>
                <a:ea typeface="Times New Roman"/>
                <a:cs typeface="Times New Roman"/>
                <a:sym typeface="Times New Roman"/>
              </a:rPr>
              <a:t>Return to monitoring; no alert sent</a:t>
            </a:r>
            <a:endParaRPr sz="1100" b="0" i="0" u="none" strike="noStrike" cap="none">
              <a:solidFill>
                <a:schemeClr val="dk1"/>
              </a:solidFill>
              <a:latin typeface="Times New Roman"/>
              <a:ea typeface="Times New Roman"/>
              <a:cs typeface="Times New Roman"/>
              <a:sym typeface="Times New Roman"/>
            </a:endParaRPr>
          </a:p>
        </p:txBody>
      </p:sp>
      <p:sp>
        <p:nvSpPr>
          <p:cNvPr id="393" name="Google Shape;393;p12"/>
          <p:cNvSpPr txBox="1"/>
          <p:nvPr/>
        </p:nvSpPr>
        <p:spPr>
          <a:xfrm>
            <a:off x="457200" y="5943600"/>
            <a:ext cx="11274552"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300"/>
              <a:buFont typeface="Times New Roman"/>
              <a:buNone/>
            </a:pPr>
            <a:r>
              <a:rPr lang="en-US" sz="1300" b="0" i="1" u="none" strike="noStrike" cap="none">
                <a:solidFill>
                  <a:srgbClr val="5B636E"/>
                </a:solidFill>
                <a:latin typeface="Times New Roman"/>
                <a:ea typeface="Times New Roman"/>
                <a:cs typeface="Times New Roman"/>
                <a:sym typeface="Times New Roman"/>
              </a:rPr>
              <a:t>Dashed teal steps are proposed. Thresholds are preliminary calibration values from the source design, not universal crash-detection standards; calibrate for each vehicle.</a:t>
            </a:r>
            <a:endParaRPr sz="13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8"/>
        <p:cNvGrpSpPr/>
        <p:nvPr/>
      </p:nvGrpSpPr>
      <p:grpSpPr>
        <a:xfrm>
          <a:off x="0" y="0"/>
          <a:ext cx="0" cy="0"/>
          <a:chOff x="0" y="0"/>
          <a:chExt cx="0" cy="0"/>
        </a:xfrm>
      </p:grpSpPr>
      <p:sp>
        <p:nvSpPr>
          <p:cNvPr id="399" name="Google Shape;399;p13"/>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HOW: Wearable screening and AWTRA algorithm</a:t>
            </a:r>
            <a:endParaRPr sz="3000" b="0" i="0" u="none" strike="noStrike" cap="none">
              <a:solidFill>
                <a:schemeClr val="dk1"/>
              </a:solidFill>
              <a:latin typeface="Times New Roman"/>
              <a:ea typeface="Times New Roman"/>
              <a:cs typeface="Times New Roman"/>
              <a:sym typeface="Times New Roman"/>
            </a:endParaRPr>
          </a:p>
        </p:txBody>
      </p:sp>
      <p:sp>
        <p:nvSpPr>
          <p:cNvPr id="400" name="Google Shape;400;p13"/>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401" name="Google Shape;401;p13"/>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11</a:t>
            </a:r>
            <a:endParaRPr sz="1100" b="0" i="0" u="none" strike="noStrike" cap="none">
              <a:solidFill>
                <a:schemeClr val="dk1"/>
              </a:solidFill>
              <a:latin typeface="Times New Roman"/>
              <a:ea typeface="Times New Roman"/>
              <a:cs typeface="Times New Roman"/>
              <a:sym typeface="Times New Roman"/>
            </a:endParaRPr>
          </a:p>
        </p:txBody>
      </p:sp>
      <p:sp>
        <p:nvSpPr>
          <p:cNvPr id="402" name="Google Shape;402;p13"/>
          <p:cNvSpPr/>
          <p:nvPr/>
        </p:nvSpPr>
        <p:spPr>
          <a:xfrm>
            <a:off x="457200" y="1143000"/>
            <a:ext cx="169164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375" tIns="375" rIns="375" bIns="37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Read MQ-3 and MLX90614 sensors</a:t>
            </a:r>
            <a:endParaRPr sz="1150" b="0" i="0" u="none" strike="noStrike" cap="none">
              <a:solidFill>
                <a:schemeClr val="dk1"/>
              </a:solidFill>
              <a:latin typeface="Times New Roman"/>
              <a:ea typeface="Times New Roman"/>
              <a:cs typeface="Times New Roman"/>
              <a:sym typeface="Times New Roman"/>
            </a:endParaRPr>
          </a:p>
        </p:txBody>
      </p:sp>
      <p:cxnSp>
        <p:nvCxnSpPr>
          <p:cNvPr id="403" name="Google Shape;403;p13"/>
          <p:cNvCxnSpPr/>
          <p:nvPr/>
        </p:nvCxnSpPr>
        <p:spPr>
          <a:xfrm>
            <a:off x="2148840" y="1577340"/>
            <a:ext cx="224942" cy="0"/>
          </a:xfrm>
          <a:prstGeom prst="straightConnector1">
            <a:avLst/>
          </a:prstGeom>
          <a:noFill/>
          <a:ln w="19050" cap="flat" cmpd="sng">
            <a:solidFill>
              <a:srgbClr val="3F4650"/>
            </a:solidFill>
            <a:prstDash val="solid"/>
            <a:round/>
            <a:headEnd type="none" w="sm" len="sm"/>
            <a:tailEnd type="triangle" w="med" len="med"/>
          </a:ln>
        </p:spPr>
      </p:cxnSp>
      <p:sp>
        <p:nvSpPr>
          <p:cNvPr id="404" name="Google Shape;404;p13"/>
          <p:cNvSpPr/>
          <p:nvPr/>
        </p:nvSpPr>
        <p:spPr>
          <a:xfrm>
            <a:off x="2373782" y="1143000"/>
            <a:ext cx="169164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375" tIns="375" rIns="375" bIns="37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Moving-average filtering</a:t>
            </a:r>
            <a:endParaRPr sz="1150" b="0" i="0" u="none" strike="noStrike" cap="none">
              <a:solidFill>
                <a:schemeClr val="dk1"/>
              </a:solidFill>
              <a:latin typeface="Times New Roman"/>
              <a:ea typeface="Times New Roman"/>
              <a:cs typeface="Times New Roman"/>
              <a:sym typeface="Times New Roman"/>
            </a:endParaRPr>
          </a:p>
        </p:txBody>
      </p:sp>
      <p:cxnSp>
        <p:nvCxnSpPr>
          <p:cNvPr id="405" name="Google Shape;405;p13"/>
          <p:cNvCxnSpPr/>
          <p:nvPr/>
        </p:nvCxnSpPr>
        <p:spPr>
          <a:xfrm>
            <a:off x="4065422" y="1577340"/>
            <a:ext cx="224942" cy="0"/>
          </a:xfrm>
          <a:prstGeom prst="straightConnector1">
            <a:avLst/>
          </a:prstGeom>
          <a:noFill/>
          <a:ln w="19050" cap="flat" cmpd="sng">
            <a:solidFill>
              <a:srgbClr val="3F4650"/>
            </a:solidFill>
            <a:prstDash val="solid"/>
            <a:round/>
            <a:headEnd type="none" w="sm" len="sm"/>
            <a:tailEnd type="triangle" w="med" len="med"/>
          </a:ln>
        </p:spPr>
      </p:cxnSp>
      <p:sp>
        <p:nvSpPr>
          <p:cNvPr id="406" name="Google Shape;406;p13"/>
          <p:cNvSpPr/>
          <p:nvPr/>
        </p:nvSpPr>
        <p:spPr>
          <a:xfrm>
            <a:off x="4290365" y="1143000"/>
            <a:ext cx="169164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375" tIns="375" rIns="375" bIns="37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Temperature class and alcohol evaluation</a:t>
            </a:r>
            <a:endParaRPr sz="1150" b="0" i="0" u="none" strike="noStrike" cap="none">
              <a:solidFill>
                <a:schemeClr val="dk1"/>
              </a:solidFill>
              <a:latin typeface="Times New Roman"/>
              <a:ea typeface="Times New Roman"/>
              <a:cs typeface="Times New Roman"/>
              <a:sym typeface="Times New Roman"/>
            </a:endParaRPr>
          </a:p>
        </p:txBody>
      </p:sp>
      <p:cxnSp>
        <p:nvCxnSpPr>
          <p:cNvPr id="407" name="Google Shape;407;p13"/>
          <p:cNvCxnSpPr/>
          <p:nvPr/>
        </p:nvCxnSpPr>
        <p:spPr>
          <a:xfrm>
            <a:off x="5982005" y="1577340"/>
            <a:ext cx="224942" cy="0"/>
          </a:xfrm>
          <a:prstGeom prst="straightConnector1">
            <a:avLst/>
          </a:prstGeom>
          <a:noFill/>
          <a:ln w="19050" cap="flat" cmpd="sng">
            <a:solidFill>
              <a:srgbClr val="3F4650"/>
            </a:solidFill>
            <a:prstDash val="solid"/>
            <a:round/>
            <a:headEnd type="none" w="sm" len="sm"/>
            <a:tailEnd type="triangle" w="med" len="med"/>
          </a:ln>
        </p:spPr>
      </p:cxnSp>
      <p:sp>
        <p:nvSpPr>
          <p:cNvPr id="408" name="Google Shape;408;p13"/>
          <p:cNvSpPr/>
          <p:nvPr/>
        </p:nvSpPr>
        <p:spPr>
          <a:xfrm>
            <a:off x="6206947" y="1143000"/>
            <a:ext cx="169164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375" tIns="375" rIns="375" bIns="37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Weighted risk score</a:t>
            </a:r>
            <a:endParaRPr sz="1150" b="0" i="0" u="none" strike="noStrike" cap="none">
              <a:solidFill>
                <a:schemeClr val="dk1"/>
              </a:solidFill>
              <a:latin typeface="Times New Roman"/>
              <a:ea typeface="Times New Roman"/>
              <a:cs typeface="Times New Roman"/>
              <a:sym typeface="Times New Roman"/>
            </a:endParaRPr>
          </a:p>
        </p:txBody>
      </p:sp>
      <p:cxnSp>
        <p:nvCxnSpPr>
          <p:cNvPr id="409" name="Google Shape;409;p13"/>
          <p:cNvCxnSpPr/>
          <p:nvPr/>
        </p:nvCxnSpPr>
        <p:spPr>
          <a:xfrm>
            <a:off x="7898587" y="1577340"/>
            <a:ext cx="224942" cy="0"/>
          </a:xfrm>
          <a:prstGeom prst="straightConnector1">
            <a:avLst/>
          </a:prstGeom>
          <a:noFill/>
          <a:ln w="19050" cap="flat" cmpd="sng">
            <a:solidFill>
              <a:srgbClr val="3F4650"/>
            </a:solidFill>
            <a:prstDash val="solid"/>
            <a:round/>
            <a:headEnd type="none" w="sm" len="sm"/>
            <a:tailEnd type="triangle" w="med" len="med"/>
          </a:ln>
        </p:spPr>
      </p:cxnSp>
      <p:sp>
        <p:nvSpPr>
          <p:cNvPr id="410" name="Google Shape;410;p13"/>
          <p:cNvSpPr/>
          <p:nvPr/>
        </p:nvSpPr>
        <p:spPr>
          <a:xfrm>
            <a:off x="8123530" y="1143000"/>
            <a:ext cx="1691640" cy="868680"/>
          </a:xfrm>
          <a:prstGeom prst="roundRect">
            <a:avLst>
              <a:gd name="adj" fmla="val 8421"/>
            </a:avLst>
          </a:prstGeom>
          <a:solidFill>
            <a:srgbClr val="3F4650"/>
          </a:solidFill>
          <a:ln w="12700" cap="flat" cmpd="sng">
            <a:solidFill>
              <a:srgbClr val="3F4650"/>
            </a:solidFill>
            <a:prstDash val="solid"/>
            <a:round/>
            <a:headEnd type="none" w="sm" len="sm"/>
            <a:tailEnd type="none" w="sm" len="sm"/>
          </a:ln>
        </p:spPr>
        <p:txBody>
          <a:bodyPr spcFirstLastPara="1" wrap="square" lIns="375" tIns="375" rIns="375" bIns="37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Status classification</a:t>
            </a:r>
            <a:endParaRPr sz="1150" b="0" i="0" u="none" strike="noStrike" cap="none">
              <a:solidFill>
                <a:schemeClr val="dk1"/>
              </a:solidFill>
              <a:latin typeface="Times New Roman"/>
              <a:ea typeface="Times New Roman"/>
              <a:cs typeface="Times New Roman"/>
              <a:sym typeface="Times New Roman"/>
            </a:endParaRPr>
          </a:p>
        </p:txBody>
      </p:sp>
      <p:cxnSp>
        <p:nvCxnSpPr>
          <p:cNvPr id="411" name="Google Shape;411;p13"/>
          <p:cNvCxnSpPr/>
          <p:nvPr/>
        </p:nvCxnSpPr>
        <p:spPr>
          <a:xfrm>
            <a:off x="9815170" y="1577340"/>
            <a:ext cx="224942" cy="0"/>
          </a:xfrm>
          <a:prstGeom prst="straightConnector1">
            <a:avLst/>
          </a:prstGeom>
          <a:noFill/>
          <a:ln w="19050" cap="flat" cmpd="sng">
            <a:solidFill>
              <a:srgbClr val="3F4650"/>
            </a:solidFill>
            <a:prstDash val="solid"/>
            <a:round/>
            <a:headEnd type="none" w="sm" len="sm"/>
            <a:tailEnd type="triangle" w="med" len="med"/>
          </a:ln>
        </p:spPr>
      </p:cxnSp>
      <p:sp>
        <p:nvSpPr>
          <p:cNvPr id="412" name="Google Shape;412;p13"/>
          <p:cNvSpPr/>
          <p:nvPr/>
        </p:nvSpPr>
        <p:spPr>
          <a:xfrm>
            <a:off x="10040112" y="1143000"/>
            <a:ext cx="1691640" cy="868680"/>
          </a:xfrm>
          <a:prstGeom prst="roundRect">
            <a:avLst>
              <a:gd name="adj" fmla="val 8421"/>
            </a:avLst>
          </a:prstGeom>
          <a:solidFill>
            <a:srgbClr val="17365D"/>
          </a:solidFill>
          <a:ln w="12700" cap="flat" cmpd="sng">
            <a:solidFill>
              <a:srgbClr val="17365D"/>
            </a:solidFill>
            <a:prstDash val="solid"/>
            <a:round/>
            <a:headEnd type="none" w="sm" len="sm"/>
            <a:tailEnd type="none" w="sm" len="sm"/>
          </a:ln>
        </p:spPr>
        <p:txBody>
          <a:bodyPr spcFirstLastPara="1" wrap="square" lIns="375" tIns="375" rIns="375" bIns="375" anchor="ctr" anchorCtr="0">
            <a:noAutofit/>
          </a:bodyPr>
          <a:lstStyle/>
          <a:p>
            <a:pPr marL="0" marR="0" lvl="0" indent="0" algn="ctr" rtl="0">
              <a:spcBef>
                <a:spcPts val="0"/>
              </a:spcBef>
              <a:spcAft>
                <a:spcPts val="0"/>
              </a:spcAft>
              <a:buClr>
                <a:srgbClr val="FFFFFF"/>
              </a:buClr>
              <a:buSzPts val="1150"/>
              <a:buFont typeface="Times New Roman"/>
              <a:buNone/>
            </a:pPr>
            <a:r>
              <a:rPr lang="en-US" sz="1150" b="1" i="0" u="none" strike="noStrike" cap="none">
                <a:solidFill>
                  <a:srgbClr val="FFFFFF"/>
                </a:solidFill>
                <a:latin typeface="Times New Roman"/>
                <a:ea typeface="Times New Roman"/>
                <a:cs typeface="Times New Roman"/>
                <a:sym typeface="Times New Roman"/>
              </a:rPr>
              <a:t>OLED, LED, buzzer alert</a:t>
            </a:r>
            <a:endParaRPr sz="1150" b="0" i="0" u="none" strike="noStrike" cap="none">
              <a:solidFill>
                <a:schemeClr val="dk1"/>
              </a:solidFill>
              <a:latin typeface="Times New Roman"/>
              <a:ea typeface="Times New Roman"/>
              <a:cs typeface="Times New Roman"/>
              <a:sym typeface="Times New Roman"/>
            </a:endParaRPr>
          </a:p>
        </p:txBody>
      </p:sp>
      <p:sp>
        <p:nvSpPr>
          <p:cNvPr id="413" name="Google Shape;413;p13"/>
          <p:cNvSpPr/>
          <p:nvPr/>
        </p:nvSpPr>
        <p:spPr>
          <a:xfrm>
            <a:off x="457200" y="2286000"/>
            <a:ext cx="2606040" cy="1051560"/>
          </a:xfrm>
          <a:prstGeom prst="roundRect">
            <a:avLst>
              <a:gd name="adj" fmla="val 6957"/>
            </a:avLst>
          </a:prstGeom>
          <a:solidFill>
            <a:srgbClr val="4F8A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3"/>
          <p:cNvSpPr txBox="1"/>
          <p:nvPr/>
        </p:nvSpPr>
        <p:spPr>
          <a:xfrm>
            <a:off x="548640" y="2331720"/>
            <a:ext cx="242316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Times New Roman"/>
              <a:buNone/>
            </a:pPr>
            <a:r>
              <a:rPr lang="en-US" sz="2400" b="1" i="0" u="none" strike="noStrike" cap="none">
                <a:solidFill>
                  <a:srgbClr val="FFFFFF"/>
                </a:solidFill>
                <a:latin typeface="Times New Roman"/>
                <a:ea typeface="Times New Roman"/>
                <a:cs typeface="Times New Roman"/>
                <a:sym typeface="Times New Roman"/>
              </a:rPr>
              <a:t>0 to 39</a:t>
            </a:r>
            <a:endParaRPr sz="2400" b="0" i="0" u="none" strike="noStrike" cap="none">
              <a:solidFill>
                <a:schemeClr val="dk1"/>
              </a:solidFill>
              <a:latin typeface="Times New Roman"/>
              <a:ea typeface="Times New Roman"/>
              <a:cs typeface="Times New Roman"/>
              <a:sym typeface="Times New Roman"/>
            </a:endParaRPr>
          </a:p>
        </p:txBody>
      </p:sp>
      <p:sp>
        <p:nvSpPr>
          <p:cNvPr id="415" name="Google Shape;415;p13"/>
          <p:cNvSpPr txBox="1"/>
          <p:nvPr/>
        </p:nvSpPr>
        <p:spPr>
          <a:xfrm>
            <a:off x="548640" y="2834640"/>
            <a:ext cx="242316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0" i="0" u="none" strike="noStrike" cap="none">
                <a:solidFill>
                  <a:srgbClr val="FFFFFF"/>
                </a:solidFill>
                <a:latin typeface="Times New Roman"/>
                <a:ea typeface="Times New Roman"/>
                <a:cs typeface="Times New Roman"/>
                <a:sym typeface="Times New Roman"/>
              </a:rPr>
              <a:t>Safe</a:t>
            </a:r>
            <a:endParaRPr sz="1700" b="0" i="0" u="none" strike="noStrike" cap="none">
              <a:solidFill>
                <a:schemeClr val="dk1"/>
              </a:solidFill>
              <a:latin typeface="Times New Roman"/>
              <a:ea typeface="Times New Roman"/>
              <a:cs typeface="Times New Roman"/>
              <a:sym typeface="Times New Roman"/>
            </a:endParaRPr>
          </a:p>
        </p:txBody>
      </p:sp>
      <p:sp>
        <p:nvSpPr>
          <p:cNvPr id="416" name="Google Shape;416;p13"/>
          <p:cNvSpPr/>
          <p:nvPr/>
        </p:nvSpPr>
        <p:spPr>
          <a:xfrm>
            <a:off x="3200400" y="2286000"/>
            <a:ext cx="2606040" cy="1051560"/>
          </a:xfrm>
          <a:prstGeom prst="roundRect">
            <a:avLst>
              <a:gd name="adj" fmla="val 6957"/>
            </a:avLst>
          </a:prstGeom>
          <a:solidFill>
            <a:srgbClr val="B88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3"/>
          <p:cNvSpPr txBox="1"/>
          <p:nvPr/>
        </p:nvSpPr>
        <p:spPr>
          <a:xfrm>
            <a:off x="3291840" y="2331720"/>
            <a:ext cx="242316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Times New Roman"/>
              <a:buNone/>
            </a:pPr>
            <a:r>
              <a:rPr lang="en-US" sz="2400" b="1" i="0" u="none" strike="noStrike" cap="none">
                <a:solidFill>
                  <a:srgbClr val="FFFFFF"/>
                </a:solidFill>
                <a:latin typeface="Times New Roman"/>
                <a:ea typeface="Times New Roman"/>
                <a:cs typeface="Times New Roman"/>
                <a:sym typeface="Times New Roman"/>
              </a:rPr>
              <a:t>40 to 79</a:t>
            </a:r>
            <a:endParaRPr sz="2400" b="0" i="0" u="none" strike="noStrike" cap="none">
              <a:solidFill>
                <a:schemeClr val="dk1"/>
              </a:solidFill>
              <a:latin typeface="Times New Roman"/>
              <a:ea typeface="Times New Roman"/>
              <a:cs typeface="Times New Roman"/>
              <a:sym typeface="Times New Roman"/>
            </a:endParaRPr>
          </a:p>
        </p:txBody>
      </p:sp>
      <p:sp>
        <p:nvSpPr>
          <p:cNvPr id="418" name="Google Shape;418;p13"/>
          <p:cNvSpPr txBox="1"/>
          <p:nvPr/>
        </p:nvSpPr>
        <p:spPr>
          <a:xfrm>
            <a:off x="3291840" y="2834640"/>
            <a:ext cx="242316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0" i="0" u="none" strike="noStrike" cap="none">
                <a:solidFill>
                  <a:srgbClr val="FFFFFF"/>
                </a:solidFill>
                <a:latin typeface="Times New Roman"/>
                <a:ea typeface="Times New Roman"/>
                <a:cs typeface="Times New Roman"/>
                <a:sym typeface="Times New Roman"/>
              </a:rPr>
              <a:t>Medium risk</a:t>
            </a:r>
            <a:endParaRPr sz="1700" b="0" i="0" u="none" strike="noStrike" cap="none">
              <a:solidFill>
                <a:schemeClr val="dk1"/>
              </a:solidFill>
              <a:latin typeface="Times New Roman"/>
              <a:ea typeface="Times New Roman"/>
              <a:cs typeface="Times New Roman"/>
              <a:sym typeface="Times New Roman"/>
            </a:endParaRPr>
          </a:p>
        </p:txBody>
      </p:sp>
      <p:sp>
        <p:nvSpPr>
          <p:cNvPr id="419" name="Google Shape;419;p13"/>
          <p:cNvSpPr/>
          <p:nvPr/>
        </p:nvSpPr>
        <p:spPr>
          <a:xfrm>
            <a:off x="5943600" y="2286000"/>
            <a:ext cx="2606040" cy="1051560"/>
          </a:xfrm>
          <a:prstGeom prst="roundRect">
            <a:avLst>
              <a:gd name="adj" fmla="val 6957"/>
            </a:avLst>
          </a:prstGeom>
          <a:solidFill>
            <a:srgbClr val="C8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3"/>
          <p:cNvSpPr txBox="1"/>
          <p:nvPr/>
        </p:nvSpPr>
        <p:spPr>
          <a:xfrm>
            <a:off x="6035040" y="2331720"/>
            <a:ext cx="242316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Times New Roman"/>
              <a:buNone/>
            </a:pPr>
            <a:r>
              <a:rPr lang="en-US" sz="2400" b="1" i="0" u="none" strike="noStrike" cap="none">
                <a:solidFill>
                  <a:srgbClr val="FFFFFF"/>
                </a:solidFill>
                <a:latin typeface="Times New Roman"/>
                <a:ea typeface="Times New Roman"/>
                <a:cs typeface="Times New Roman"/>
                <a:sym typeface="Times New Roman"/>
              </a:rPr>
              <a:t>80 or above</a:t>
            </a:r>
            <a:endParaRPr sz="2400" b="0" i="0" u="none" strike="noStrike" cap="none">
              <a:solidFill>
                <a:schemeClr val="dk1"/>
              </a:solidFill>
              <a:latin typeface="Times New Roman"/>
              <a:ea typeface="Times New Roman"/>
              <a:cs typeface="Times New Roman"/>
              <a:sym typeface="Times New Roman"/>
            </a:endParaRPr>
          </a:p>
        </p:txBody>
      </p:sp>
      <p:sp>
        <p:nvSpPr>
          <p:cNvPr id="421" name="Google Shape;421;p13"/>
          <p:cNvSpPr txBox="1"/>
          <p:nvPr/>
        </p:nvSpPr>
        <p:spPr>
          <a:xfrm>
            <a:off x="6035040" y="2834640"/>
            <a:ext cx="242316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0" i="0" u="none" strike="noStrike" cap="none">
                <a:solidFill>
                  <a:srgbClr val="FFFFFF"/>
                </a:solidFill>
                <a:latin typeface="Times New Roman"/>
                <a:ea typeface="Times New Roman"/>
                <a:cs typeface="Times New Roman"/>
                <a:sym typeface="Times New Roman"/>
              </a:rPr>
              <a:t>High risk</a:t>
            </a:r>
            <a:endParaRPr sz="1700" b="0" i="0" u="none" strike="noStrike" cap="none">
              <a:solidFill>
                <a:schemeClr val="dk1"/>
              </a:solidFill>
              <a:latin typeface="Times New Roman"/>
              <a:ea typeface="Times New Roman"/>
              <a:cs typeface="Times New Roman"/>
              <a:sym typeface="Times New Roman"/>
            </a:endParaRPr>
          </a:p>
        </p:txBody>
      </p:sp>
      <p:sp>
        <p:nvSpPr>
          <p:cNvPr id="422" name="Google Shape;422;p13"/>
          <p:cNvSpPr/>
          <p:nvPr/>
        </p:nvSpPr>
        <p:spPr>
          <a:xfrm>
            <a:off x="457200" y="3566160"/>
            <a:ext cx="8092440" cy="2697480"/>
          </a:xfrm>
          <a:prstGeom prst="roundRect">
            <a:avLst>
              <a:gd name="adj" fmla="val 2712"/>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3"/>
          <p:cNvSpPr txBox="1"/>
          <p:nvPr/>
        </p:nvSpPr>
        <p:spPr>
          <a:xfrm>
            <a:off x="640080" y="3639312"/>
            <a:ext cx="77724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365D"/>
              </a:buClr>
              <a:buSzPts val="1500"/>
              <a:buFont typeface="Times New Roman"/>
              <a:buNone/>
            </a:pPr>
            <a:r>
              <a:rPr lang="en-US" sz="1500" b="1" i="0" u="none" strike="noStrike" cap="none">
                <a:solidFill>
                  <a:srgbClr val="17365D"/>
                </a:solidFill>
                <a:latin typeface="Times New Roman"/>
                <a:ea typeface="Times New Roman"/>
                <a:cs typeface="Times New Roman"/>
                <a:sym typeface="Times New Roman"/>
              </a:rPr>
              <a:t>Illustrative example (values for explanation only, not measured data)</a:t>
            </a:r>
            <a:endParaRPr sz="1500" b="0" i="0" u="none" strike="noStrike" cap="none">
              <a:solidFill>
                <a:schemeClr val="dk1"/>
              </a:solidFill>
              <a:latin typeface="Times New Roman"/>
              <a:ea typeface="Times New Roman"/>
              <a:cs typeface="Times New Roman"/>
              <a:sym typeface="Times New Roman"/>
            </a:endParaRPr>
          </a:p>
        </p:txBody>
      </p:sp>
      <p:graphicFrame>
        <p:nvGraphicFramePr>
          <p:cNvPr id="424" name="Google Shape;424;p13"/>
          <p:cNvGraphicFramePr/>
          <p:nvPr/>
        </p:nvGraphicFramePr>
        <p:xfrm>
          <a:off x="640080" y="4069080"/>
          <a:ext cx="7726675" cy="1536200"/>
        </p:xfrm>
        <a:graphic>
          <a:graphicData uri="http://schemas.openxmlformats.org/drawingml/2006/table">
            <a:tbl>
              <a:tblPr>
                <a:noFill/>
                <a:tableStyleId>{033C396F-BCFC-4817-AD85-F582D535E4FD}</a:tableStyleId>
              </a:tblPr>
              <a:tblGrid>
                <a:gridCol w="2834650">
                  <a:extLst>
                    <a:ext uri="{9D8B030D-6E8A-4147-A177-3AD203B41FA5}">
                      <a16:colId xmlns:a16="http://schemas.microsoft.com/office/drawing/2014/main" val="20000"/>
                    </a:ext>
                  </a:extLst>
                </a:gridCol>
                <a:gridCol w="2651750">
                  <a:extLst>
                    <a:ext uri="{9D8B030D-6E8A-4147-A177-3AD203B41FA5}">
                      <a16:colId xmlns:a16="http://schemas.microsoft.com/office/drawing/2014/main" val="20001"/>
                    </a:ext>
                  </a:extLst>
                </a:gridCol>
                <a:gridCol w="2240275">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Clr>
                          <a:srgbClr val="FFFFFF"/>
                        </a:buClr>
                        <a:buSzPts val="1300"/>
                        <a:buFont typeface="Times New Roman"/>
                        <a:buNone/>
                      </a:pPr>
                      <a:r>
                        <a:rPr lang="en-US" sz="1300" b="1" u="none" strike="noStrike" cap="none">
                          <a:solidFill>
                            <a:srgbClr val="FFFFFF"/>
                          </a:solidFill>
                          <a:latin typeface="Times New Roman"/>
                          <a:ea typeface="Times New Roman"/>
                          <a:cs typeface="Times New Roman"/>
                          <a:sym typeface="Times New Roman"/>
                        </a:rPr>
                        <a:t>Step</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solidFill>
                      <a:srgbClr val="17365D"/>
                    </a:solidFill>
                  </a:tcPr>
                </a:tc>
                <a:tc>
                  <a:txBody>
                    <a:bodyPr/>
                    <a:lstStyle/>
                    <a:p>
                      <a:pPr marL="0" marR="0" lvl="0" indent="0" algn="l" rtl="0">
                        <a:spcBef>
                          <a:spcPts val="0"/>
                        </a:spcBef>
                        <a:spcAft>
                          <a:spcPts val="0"/>
                        </a:spcAft>
                        <a:buClr>
                          <a:srgbClr val="FFFFFF"/>
                        </a:buClr>
                        <a:buSzPts val="1300"/>
                        <a:buFont typeface="Times New Roman"/>
                        <a:buNone/>
                      </a:pPr>
                      <a:r>
                        <a:rPr lang="en-US" sz="1300" b="1" u="none" strike="noStrike" cap="none">
                          <a:solidFill>
                            <a:srgbClr val="FFFFFF"/>
                          </a:solidFill>
                          <a:latin typeface="Times New Roman"/>
                          <a:ea typeface="Times New Roman"/>
                          <a:cs typeface="Times New Roman"/>
                          <a:sym typeface="Times New Roman"/>
                        </a:rPr>
                        <a:t>Filtered input</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solidFill>
                      <a:srgbClr val="17365D"/>
                    </a:solidFill>
                  </a:tcPr>
                </a:tc>
                <a:tc>
                  <a:txBody>
                    <a:bodyPr/>
                    <a:lstStyle/>
                    <a:p>
                      <a:pPr marL="0" marR="0" lvl="0" indent="0" algn="l" rtl="0">
                        <a:spcBef>
                          <a:spcPts val="0"/>
                        </a:spcBef>
                        <a:spcAft>
                          <a:spcPts val="0"/>
                        </a:spcAft>
                        <a:buClr>
                          <a:srgbClr val="FFFFFF"/>
                        </a:buClr>
                        <a:buSzPts val="1300"/>
                        <a:buFont typeface="Times New Roman"/>
                        <a:buNone/>
                      </a:pPr>
                      <a:r>
                        <a:rPr lang="en-US" sz="1300" b="1" u="none" strike="noStrike" cap="none">
                          <a:solidFill>
                            <a:srgbClr val="FFFFFF"/>
                          </a:solidFill>
                          <a:latin typeface="Times New Roman"/>
                          <a:ea typeface="Times New Roman"/>
                          <a:cs typeface="Times New Roman"/>
                          <a:sym typeface="Times New Roman"/>
                        </a:rPr>
                        <a:t>Weighted contribution</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solidFill>
                      <a:srgbClr val="17365D"/>
                    </a:solidFill>
                  </a:tcPr>
                </a:tc>
                <a:extLst>
                  <a:ext uri="{0D108BD9-81ED-4DB2-BD59-A6C34878D82A}">
                    <a16:rowId xmlns:a16="http://schemas.microsoft.com/office/drawing/2014/main" val="10000"/>
                  </a:ext>
                </a:extLst>
              </a:tr>
              <a:tr h="384050">
                <a:tc>
                  <a:txBody>
                    <a:bodyPr/>
                    <a:lstStyle/>
                    <a:p>
                      <a:pPr marL="0" marR="0" lvl="0" indent="0" algn="l" rtl="0">
                        <a:spcBef>
                          <a:spcPts val="0"/>
                        </a:spcBef>
                        <a:spcAft>
                          <a:spcPts val="0"/>
                        </a:spcAft>
                        <a:buClr>
                          <a:srgbClr val="3F4650"/>
                        </a:buClr>
                        <a:buSzPts val="1300"/>
                        <a:buFont typeface="Times New Roman"/>
                        <a:buNone/>
                      </a:pPr>
                      <a:r>
                        <a:rPr lang="en-US" sz="1300" u="none" strike="noStrike" cap="none">
                          <a:solidFill>
                            <a:srgbClr val="3F4650"/>
                          </a:solidFill>
                          <a:latin typeface="Times New Roman"/>
                          <a:ea typeface="Times New Roman"/>
                          <a:cs typeface="Times New Roman"/>
                          <a:sym typeface="Times New Roman"/>
                        </a:rPr>
                        <a:t>Alcohol-sensor evaluation</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tcPr>
                </a:tc>
                <a:tc>
                  <a:txBody>
                    <a:bodyPr/>
                    <a:lstStyle/>
                    <a:p>
                      <a:pPr marL="0" marR="0" lvl="0" indent="0" algn="l" rtl="0">
                        <a:spcBef>
                          <a:spcPts val="0"/>
                        </a:spcBef>
                        <a:spcAft>
                          <a:spcPts val="0"/>
                        </a:spcAft>
                        <a:buClr>
                          <a:srgbClr val="3F4650"/>
                        </a:buClr>
                        <a:buSzPts val="1300"/>
                        <a:buFont typeface="Times New Roman"/>
                        <a:buNone/>
                      </a:pPr>
                      <a:r>
                        <a:rPr lang="en-US" sz="1300" u="none" strike="noStrike" cap="none">
                          <a:solidFill>
                            <a:srgbClr val="3F4650"/>
                          </a:solidFill>
                          <a:latin typeface="Times New Roman"/>
                          <a:ea typeface="Times New Roman"/>
                          <a:cs typeface="Times New Roman"/>
                          <a:sym typeface="Times New Roman"/>
                        </a:rPr>
                        <a:t>Elevated reading</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tcPr>
                </a:tc>
                <a:tc>
                  <a:txBody>
                    <a:bodyPr/>
                    <a:lstStyle/>
                    <a:p>
                      <a:pPr marL="0" marR="0" lvl="0" indent="0" algn="l" rtl="0">
                        <a:spcBef>
                          <a:spcPts val="0"/>
                        </a:spcBef>
                        <a:spcAft>
                          <a:spcPts val="0"/>
                        </a:spcAft>
                        <a:buClr>
                          <a:srgbClr val="3F4650"/>
                        </a:buClr>
                        <a:buSzPts val="1300"/>
                        <a:buFont typeface="Times New Roman"/>
                        <a:buNone/>
                      </a:pPr>
                      <a:r>
                        <a:rPr lang="en-US" sz="1300" u="none" strike="noStrike" cap="none">
                          <a:solidFill>
                            <a:srgbClr val="3F4650"/>
                          </a:solidFill>
                          <a:latin typeface="Times New Roman"/>
                          <a:ea typeface="Times New Roman"/>
                          <a:cs typeface="Times New Roman"/>
                          <a:sym typeface="Times New Roman"/>
                        </a:rPr>
                        <a:t>55</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tcPr>
                </a:tc>
                <a:extLst>
                  <a:ext uri="{0D108BD9-81ED-4DB2-BD59-A6C34878D82A}">
                    <a16:rowId xmlns:a16="http://schemas.microsoft.com/office/drawing/2014/main" val="10001"/>
                  </a:ext>
                </a:extLst>
              </a:tr>
              <a:tr h="384050">
                <a:tc>
                  <a:txBody>
                    <a:bodyPr/>
                    <a:lstStyle/>
                    <a:p>
                      <a:pPr marL="0" marR="0" lvl="0" indent="0" algn="l" rtl="0">
                        <a:spcBef>
                          <a:spcPts val="0"/>
                        </a:spcBef>
                        <a:spcAft>
                          <a:spcPts val="0"/>
                        </a:spcAft>
                        <a:buClr>
                          <a:srgbClr val="3F4650"/>
                        </a:buClr>
                        <a:buSzPts val="1300"/>
                        <a:buFont typeface="Times New Roman"/>
                        <a:buNone/>
                      </a:pPr>
                      <a:r>
                        <a:rPr lang="en-US" sz="1300" u="none" strike="noStrike" cap="none">
                          <a:solidFill>
                            <a:srgbClr val="3F4650"/>
                          </a:solidFill>
                          <a:latin typeface="Times New Roman"/>
                          <a:ea typeface="Times New Roman"/>
                          <a:cs typeface="Times New Roman"/>
                          <a:sym typeface="Times New Roman"/>
                        </a:rPr>
                        <a:t>Temperature classification</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tcPr>
                </a:tc>
                <a:tc>
                  <a:txBody>
                    <a:bodyPr/>
                    <a:lstStyle/>
                    <a:p>
                      <a:pPr marL="0" marR="0" lvl="0" indent="0" algn="l" rtl="0">
                        <a:spcBef>
                          <a:spcPts val="0"/>
                        </a:spcBef>
                        <a:spcAft>
                          <a:spcPts val="0"/>
                        </a:spcAft>
                        <a:buClr>
                          <a:srgbClr val="3F4650"/>
                        </a:buClr>
                        <a:buSzPts val="1300"/>
                        <a:buFont typeface="Times New Roman"/>
                        <a:buNone/>
                      </a:pPr>
                      <a:r>
                        <a:rPr lang="en-US" sz="1300" u="none" strike="noStrike" cap="none">
                          <a:solidFill>
                            <a:srgbClr val="3F4650"/>
                          </a:solidFill>
                          <a:latin typeface="Times New Roman"/>
                          <a:ea typeface="Times New Roman"/>
                          <a:cs typeface="Times New Roman"/>
                          <a:sym typeface="Times New Roman"/>
                        </a:rPr>
                        <a:t>Within expected range</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tcPr>
                </a:tc>
                <a:tc>
                  <a:txBody>
                    <a:bodyPr/>
                    <a:lstStyle/>
                    <a:p>
                      <a:pPr marL="0" marR="0" lvl="0" indent="0" algn="l" rtl="0">
                        <a:spcBef>
                          <a:spcPts val="0"/>
                        </a:spcBef>
                        <a:spcAft>
                          <a:spcPts val="0"/>
                        </a:spcAft>
                        <a:buClr>
                          <a:srgbClr val="3F4650"/>
                        </a:buClr>
                        <a:buSzPts val="1300"/>
                        <a:buFont typeface="Times New Roman"/>
                        <a:buNone/>
                      </a:pPr>
                      <a:r>
                        <a:rPr lang="en-US" sz="1300" u="none" strike="noStrike" cap="none">
                          <a:solidFill>
                            <a:srgbClr val="3F4650"/>
                          </a:solidFill>
                          <a:latin typeface="Times New Roman"/>
                          <a:ea typeface="Times New Roman"/>
                          <a:cs typeface="Times New Roman"/>
                          <a:sym typeface="Times New Roman"/>
                        </a:rPr>
                        <a:t>0</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tcPr>
                </a:tc>
                <a:extLst>
                  <a:ext uri="{0D108BD9-81ED-4DB2-BD59-A6C34878D82A}">
                    <a16:rowId xmlns:a16="http://schemas.microsoft.com/office/drawing/2014/main" val="10002"/>
                  </a:ext>
                </a:extLst>
              </a:tr>
              <a:tr h="384050">
                <a:tc>
                  <a:txBody>
                    <a:bodyPr/>
                    <a:lstStyle/>
                    <a:p>
                      <a:pPr marL="0" marR="0" lvl="0" indent="0" algn="l" rtl="0">
                        <a:spcBef>
                          <a:spcPts val="0"/>
                        </a:spcBef>
                        <a:spcAft>
                          <a:spcPts val="0"/>
                        </a:spcAft>
                        <a:buClr>
                          <a:srgbClr val="3F4650"/>
                        </a:buClr>
                        <a:buSzPts val="1300"/>
                        <a:buFont typeface="Times New Roman"/>
                        <a:buNone/>
                      </a:pPr>
                      <a:r>
                        <a:rPr lang="en-US" sz="1300" b="1" u="none" strike="noStrike" cap="none">
                          <a:solidFill>
                            <a:srgbClr val="3F4650"/>
                          </a:solidFill>
                          <a:latin typeface="Times New Roman"/>
                          <a:ea typeface="Times New Roman"/>
                          <a:cs typeface="Times New Roman"/>
                          <a:sym typeface="Times New Roman"/>
                        </a:rPr>
                        <a:t>Risk score</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tcPr>
                </a:tc>
                <a:tc>
                  <a:txBody>
                    <a:bodyPr/>
                    <a:lstStyle/>
                    <a:p>
                      <a:pPr marL="0" marR="0" lvl="0" indent="0" algn="l" rtl="0">
                        <a:spcBef>
                          <a:spcPts val="0"/>
                        </a:spcBef>
                        <a:spcAft>
                          <a:spcPts val="0"/>
                        </a:spcAft>
                        <a:buClr>
                          <a:srgbClr val="3F4650"/>
                        </a:buClr>
                        <a:buSzPts val="1300"/>
                        <a:buFont typeface="Times New Roman"/>
                        <a:buNone/>
                      </a:pPr>
                      <a:r>
                        <a:rPr lang="en-US" sz="1300" b="1" u="none" strike="noStrike" cap="none">
                          <a:solidFill>
                            <a:srgbClr val="3F4650"/>
                          </a:solidFill>
                          <a:latin typeface="Times New Roman"/>
                          <a:ea typeface="Times New Roman"/>
                          <a:cs typeface="Times New Roman"/>
                          <a:sym typeface="Times New Roman"/>
                        </a:rPr>
                        <a:t>Sum of contributions</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tcPr>
                </a:tc>
                <a:tc>
                  <a:txBody>
                    <a:bodyPr/>
                    <a:lstStyle/>
                    <a:p>
                      <a:pPr marL="0" marR="0" lvl="0" indent="0" algn="l" rtl="0">
                        <a:spcBef>
                          <a:spcPts val="0"/>
                        </a:spcBef>
                        <a:spcAft>
                          <a:spcPts val="0"/>
                        </a:spcAft>
                        <a:buClr>
                          <a:srgbClr val="3F4650"/>
                        </a:buClr>
                        <a:buSzPts val="1300"/>
                        <a:buFont typeface="Times New Roman"/>
                        <a:buNone/>
                      </a:pPr>
                      <a:r>
                        <a:rPr lang="en-US" sz="1300" b="1" u="none" strike="noStrike" cap="none">
                          <a:solidFill>
                            <a:srgbClr val="3F4650"/>
                          </a:solidFill>
                          <a:latin typeface="Times New Roman"/>
                          <a:ea typeface="Times New Roman"/>
                          <a:cs typeface="Times New Roman"/>
                          <a:sym typeface="Times New Roman"/>
                        </a:rPr>
                        <a:t>55: Medium risk</a:t>
                      </a:r>
                      <a:endParaRPr sz="1300" u="none" strike="noStrike" cap="none">
                        <a:latin typeface="Times New Roman"/>
                        <a:ea typeface="Times New Roman"/>
                        <a:cs typeface="Times New Roman"/>
                        <a:sym typeface="Times New Roman"/>
                      </a:endParaRPr>
                    </a:p>
                  </a:txBody>
                  <a:tcPr marL="54875" marR="54875" marT="54875" marB="54875" anchor="ctr">
                    <a:lnL w="12700" cap="flat" cmpd="sng">
                      <a:solidFill>
                        <a:srgbClr val="D5DDE6"/>
                      </a:solidFill>
                      <a:prstDash val="solid"/>
                      <a:round/>
                      <a:headEnd type="none" w="sm" len="sm"/>
                      <a:tailEnd type="none" w="sm" len="sm"/>
                    </a:lnL>
                    <a:lnR w="12700" cap="flat" cmpd="sng">
                      <a:solidFill>
                        <a:srgbClr val="D5DDE6"/>
                      </a:solidFill>
                      <a:prstDash val="solid"/>
                      <a:round/>
                      <a:headEnd type="none" w="sm" len="sm"/>
                      <a:tailEnd type="none" w="sm" len="sm"/>
                    </a:lnR>
                    <a:lnT w="12700" cap="flat" cmpd="sng">
                      <a:solidFill>
                        <a:srgbClr val="D5DDE6"/>
                      </a:solidFill>
                      <a:prstDash val="solid"/>
                      <a:round/>
                      <a:headEnd type="none" w="sm" len="sm"/>
                      <a:tailEnd type="none" w="sm" len="sm"/>
                    </a:lnT>
                    <a:lnB w="12700" cap="flat" cmpd="sng">
                      <a:solidFill>
                        <a:srgbClr val="D5DDE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25" name="Google Shape;425;p13"/>
          <p:cNvSpPr txBox="1"/>
          <p:nvPr/>
        </p:nvSpPr>
        <p:spPr>
          <a:xfrm>
            <a:off x="640080" y="5715000"/>
            <a:ext cx="77724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B636E"/>
              </a:buClr>
              <a:buSzPts val="1250"/>
              <a:buFont typeface="Times New Roman"/>
              <a:buNone/>
            </a:pPr>
            <a:r>
              <a:rPr lang="en-US" sz="1250" b="0" i="1" u="none" strike="noStrike" cap="none">
                <a:solidFill>
                  <a:srgbClr val="5B636E"/>
                </a:solidFill>
                <a:latin typeface="Times New Roman"/>
                <a:ea typeface="Times New Roman"/>
                <a:cs typeface="Times New Roman"/>
                <a:sym typeface="Times New Roman"/>
              </a:rPr>
              <a:t>Score = weighted alcohol contribution + weighted temperature contribution; the filtered score then maps to a band.</a:t>
            </a:r>
            <a:endParaRPr sz="1250" b="0" i="0" u="none" strike="noStrike" cap="none">
              <a:solidFill>
                <a:schemeClr val="dk1"/>
              </a:solidFill>
              <a:latin typeface="Times New Roman"/>
              <a:ea typeface="Times New Roman"/>
              <a:cs typeface="Times New Roman"/>
              <a:sym typeface="Times New Roman"/>
            </a:endParaRPr>
          </a:p>
        </p:txBody>
      </p:sp>
      <p:sp>
        <p:nvSpPr>
          <p:cNvPr id="426" name="Google Shape;426;p13"/>
          <p:cNvSpPr/>
          <p:nvPr/>
        </p:nvSpPr>
        <p:spPr>
          <a:xfrm>
            <a:off x="8778240" y="2286000"/>
            <a:ext cx="2953512" cy="3977640"/>
          </a:xfrm>
          <a:prstGeom prst="roundRect">
            <a:avLst>
              <a:gd name="adj" fmla="val 2477"/>
            </a:avLst>
          </a:prstGeom>
          <a:solidFill>
            <a:srgbClr val="FBF3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3"/>
          <p:cNvSpPr txBox="1"/>
          <p:nvPr/>
        </p:nvSpPr>
        <p:spPr>
          <a:xfrm>
            <a:off x="8915400" y="2359152"/>
            <a:ext cx="26974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6A00"/>
              </a:buClr>
              <a:buSzPts val="1700"/>
              <a:buFont typeface="Times New Roman"/>
              <a:buNone/>
            </a:pPr>
            <a:r>
              <a:rPr lang="en-US" sz="1700" b="1" i="0" u="none" strike="noStrike" cap="none">
                <a:solidFill>
                  <a:srgbClr val="8A6A00"/>
                </a:solidFill>
                <a:latin typeface="Times New Roman"/>
                <a:ea typeface="Times New Roman"/>
                <a:cs typeface="Times New Roman"/>
                <a:sym typeface="Times New Roman"/>
              </a:rPr>
              <a:t>Read with care</a:t>
            </a:r>
            <a:endParaRPr sz="1700" b="0" i="0" u="none" strike="noStrike" cap="none">
              <a:solidFill>
                <a:schemeClr val="dk1"/>
              </a:solidFill>
              <a:latin typeface="Times New Roman"/>
              <a:ea typeface="Times New Roman"/>
              <a:cs typeface="Times New Roman"/>
              <a:sym typeface="Times New Roman"/>
            </a:endParaRPr>
          </a:p>
        </p:txBody>
      </p:sp>
      <p:sp>
        <p:nvSpPr>
          <p:cNvPr id="428" name="Google Shape;428;p13"/>
          <p:cNvSpPr txBox="1"/>
          <p:nvPr/>
        </p:nvSpPr>
        <p:spPr>
          <a:xfrm>
            <a:off x="8915400" y="2788920"/>
            <a:ext cx="2697480" cy="34290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rgbClr val="3F4650"/>
              </a:buClr>
              <a:buSzPts val="1300"/>
              <a:buFont typeface="Times New Roman"/>
              <a:buChar char="•"/>
            </a:pPr>
            <a:r>
              <a:rPr lang="en-US" sz="1300" b="0" i="0" u="none" strike="noStrike" cap="none">
                <a:solidFill>
                  <a:srgbClr val="3F4650"/>
                </a:solidFill>
                <a:latin typeface="Times New Roman"/>
                <a:ea typeface="Times New Roman"/>
                <a:cs typeface="Times New Roman"/>
                <a:sym typeface="Times New Roman"/>
              </a:rPr>
              <a:t>Prototype rules; need calibration and validation</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300"/>
              <a:buFont typeface="Times New Roman"/>
              <a:buChar char="•"/>
            </a:pPr>
            <a:r>
              <a:rPr lang="en-US" sz="1300" b="0" i="0" u="none" strike="noStrike" cap="none">
                <a:solidFill>
                  <a:srgbClr val="3F4650"/>
                </a:solidFill>
                <a:latin typeface="Times New Roman"/>
                <a:ea typeface="Times New Roman"/>
                <a:cs typeface="Times New Roman"/>
                <a:sym typeface="Times New Roman"/>
              </a:rPr>
              <a:t>Rule-based logic, not a trained model</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300"/>
              <a:buFont typeface="Times New Roman"/>
              <a:buChar char="•"/>
            </a:pPr>
            <a:r>
              <a:rPr lang="en-US" sz="1300" b="0" i="0" u="none" strike="noStrike" cap="none">
                <a:solidFill>
                  <a:srgbClr val="3F4650"/>
                </a:solidFill>
                <a:latin typeface="Times New Roman"/>
                <a:ea typeface="Times New Roman"/>
                <a:cs typeface="Times New Roman"/>
                <a:sym typeface="Times New Roman"/>
              </a:rPr>
              <a:t>Temperature is not a fever or intoxication diagnosis</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300"/>
              <a:buFont typeface="Times New Roman"/>
              <a:buChar char="•"/>
            </a:pPr>
            <a:r>
              <a:rPr lang="en-US" sz="1300" b="0" i="0" u="none" strike="noStrike" cap="none">
                <a:solidFill>
                  <a:srgbClr val="3F4650"/>
                </a:solidFill>
                <a:latin typeface="Times New Roman"/>
                <a:ea typeface="Times New Roman"/>
                <a:cs typeface="Times New Roman"/>
                <a:sym typeface="Times New Roman"/>
              </a:rPr>
              <a:t>MQ-3 may respond to other gases</a:t>
            </a:r>
            <a:endParaRPr sz="1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400"/>
              </a:spcBef>
              <a:spcAft>
                <a:spcPts val="0"/>
              </a:spcAft>
              <a:buClr>
                <a:srgbClr val="3F4650"/>
              </a:buClr>
              <a:buSzPts val="1300"/>
              <a:buFont typeface="Times New Roman"/>
              <a:buChar char="•"/>
            </a:pPr>
            <a:r>
              <a:rPr lang="en-US" sz="1300" b="0" i="0" u="none" strike="noStrike" cap="none">
                <a:solidFill>
                  <a:srgbClr val="3F4650"/>
                </a:solidFill>
                <a:latin typeface="Times New Roman"/>
                <a:ea typeface="Times New Roman"/>
                <a:cs typeface="Times New Roman"/>
                <a:sym typeface="Times New Roman"/>
              </a:rPr>
              <a:t>Screening is not confirmed intoxication</a:t>
            </a:r>
            <a:endParaRPr sz="1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3"/>
        <p:cNvGrpSpPr/>
        <p:nvPr/>
      </p:nvGrpSpPr>
      <p:grpSpPr>
        <a:xfrm>
          <a:off x="0" y="0"/>
          <a:ext cx="0" cy="0"/>
          <a:chOff x="0" y="0"/>
          <a:chExt cx="0" cy="0"/>
        </a:xfrm>
      </p:grpSpPr>
      <p:sp>
        <p:nvSpPr>
          <p:cNvPr id="434" name="Google Shape;434;p14"/>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Hardware, software, and data flow</a:t>
            </a:r>
            <a:endParaRPr sz="3000" b="0" i="0" u="none" strike="noStrike" cap="none">
              <a:solidFill>
                <a:schemeClr val="dk1"/>
              </a:solidFill>
              <a:latin typeface="Times New Roman"/>
              <a:ea typeface="Times New Roman"/>
              <a:cs typeface="Times New Roman"/>
              <a:sym typeface="Times New Roman"/>
            </a:endParaRPr>
          </a:p>
        </p:txBody>
      </p:sp>
      <p:sp>
        <p:nvSpPr>
          <p:cNvPr id="435" name="Google Shape;435;p14"/>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436" name="Google Shape;436;p14"/>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12</a:t>
            </a:r>
            <a:endParaRPr sz="1100" b="0" i="0" u="none" strike="noStrike" cap="none">
              <a:solidFill>
                <a:schemeClr val="dk1"/>
              </a:solidFill>
              <a:latin typeface="Times New Roman"/>
              <a:ea typeface="Times New Roman"/>
              <a:cs typeface="Times New Roman"/>
              <a:sym typeface="Times New Roman"/>
            </a:endParaRPr>
          </a:p>
        </p:txBody>
      </p:sp>
      <p:graphicFrame>
        <p:nvGraphicFramePr>
          <p:cNvPr id="437" name="Google Shape;437;p14"/>
          <p:cNvGraphicFramePr/>
          <p:nvPr/>
        </p:nvGraphicFramePr>
        <p:xfrm>
          <a:off x="457200" y="1097280"/>
          <a:ext cx="11274550" cy="4389000"/>
        </p:xfrm>
        <a:graphic>
          <a:graphicData uri="http://schemas.openxmlformats.org/drawingml/2006/table">
            <a:tbl>
              <a:tblPr>
                <a:noFill/>
                <a:tableStyleId>{033C396F-BCFC-4817-AD85-F582D535E4FD}</a:tableStyleId>
              </a:tblPr>
              <a:tblGrid>
                <a:gridCol w="3383275">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554475">
                  <a:extLst>
                    <a:ext uri="{9D8B030D-6E8A-4147-A177-3AD203B41FA5}">
                      <a16:colId xmlns:a16="http://schemas.microsoft.com/office/drawing/2014/main" val="20002"/>
                    </a:ext>
                  </a:extLst>
                </a:gridCol>
                <a:gridCol w="1764800">
                  <a:extLst>
                    <a:ext uri="{9D8B030D-6E8A-4147-A177-3AD203B41FA5}">
                      <a16:colId xmlns:a16="http://schemas.microsoft.com/office/drawing/2014/main" val="20003"/>
                    </a:ext>
                  </a:extLst>
                </a:gridCol>
              </a:tblGrid>
              <a:tr h="292600">
                <a:tc>
                  <a:txBody>
                    <a:bodyPr/>
                    <a:lstStyle/>
                    <a:p>
                      <a:pPr marL="0" marR="0" lvl="0" indent="0" algn="l" rtl="0">
                        <a:spcBef>
                          <a:spcPts val="0"/>
                        </a:spcBef>
                        <a:spcAft>
                          <a:spcPts val="0"/>
                        </a:spcAft>
                        <a:buClr>
                          <a:srgbClr val="FFFFFF"/>
                        </a:buClr>
                        <a:buSzPts val="1200"/>
                        <a:buFont typeface="Times New Roman"/>
                        <a:buNone/>
                      </a:pPr>
                      <a:r>
                        <a:rPr lang="en-US" sz="1200" b="1" u="none" strike="noStrike" cap="none">
                          <a:solidFill>
                            <a:srgbClr val="FFFFFF"/>
                          </a:solidFill>
                          <a:latin typeface="Times New Roman"/>
                          <a:ea typeface="Times New Roman"/>
                          <a:cs typeface="Times New Roman"/>
                          <a:sym typeface="Times New Roman"/>
                        </a:rPr>
                        <a:t>Component</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17365D"/>
                    </a:solidFill>
                  </a:tcPr>
                </a:tc>
                <a:tc>
                  <a:txBody>
                    <a:bodyPr/>
                    <a:lstStyle/>
                    <a:p>
                      <a:pPr marL="0" marR="0" lvl="0" indent="0" algn="l" rtl="0">
                        <a:spcBef>
                          <a:spcPts val="0"/>
                        </a:spcBef>
                        <a:spcAft>
                          <a:spcPts val="0"/>
                        </a:spcAft>
                        <a:buClr>
                          <a:srgbClr val="FFFFFF"/>
                        </a:buClr>
                        <a:buSzPts val="1200"/>
                        <a:buFont typeface="Times New Roman"/>
                        <a:buNone/>
                      </a:pPr>
                      <a:r>
                        <a:rPr lang="en-US" sz="1200" b="1" u="none" strike="noStrike" cap="none">
                          <a:solidFill>
                            <a:srgbClr val="FFFFFF"/>
                          </a:solidFill>
                          <a:latin typeface="Times New Roman"/>
                          <a:ea typeface="Times New Roman"/>
                          <a:cs typeface="Times New Roman"/>
                          <a:sym typeface="Times New Roman"/>
                        </a:rPr>
                        <a:t>Purpose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17365D"/>
                    </a:solidFill>
                  </a:tcPr>
                </a:tc>
                <a:tc>
                  <a:txBody>
                    <a:bodyPr/>
                    <a:lstStyle/>
                    <a:p>
                      <a:pPr marL="0" marR="0" lvl="0" indent="0" algn="l" rtl="0">
                        <a:spcBef>
                          <a:spcPts val="0"/>
                        </a:spcBef>
                        <a:spcAft>
                          <a:spcPts val="0"/>
                        </a:spcAft>
                        <a:buClr>
                          <a:srgbClr val="FFFFFF"/>
                        </a:buClr>
                        <a:buSzPts val="1200"/>
                        <a:buFont typeface="Times New Roman"/>
                        <a:buNone/>
                      </a:pPr>
                      <a:r>
                        <a:rPr lang="en-US" sz="1200" b="1" u="none" strike="noStrike" cap="none">
                          <a:solidFill>
                            <a:srgbClr val="FFFFFF"/>
                          </a:solidFill>
                          <a:latin typeface="Times New Roman"/>
                          <a:ea typeface="Times New Roman"/>
                          <a:cs typeface="Times New Roman"/>
                          <a:sym typeface="Times New Roman"/>
                        </a:rPr>
                        <a:t>Subsystem</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17365D"/>
                    </a:solidFill>
                  </a:tcPr>
                </a:tc>
                <a:tc>
                  <a:txBody>
                    <a:bodyPr/>
                    <a:lstStyle/>
                    <a:p>
                      <a:pPr marL="0" marR="0" lvl="0" indent="0" algn="l" rtl="0">
                        <a:spcBef>
                          <a:spcPts val="0"/>
                        </a:spcBef>
                        <a:spcAft>
                          <a:spcPts val="0"/>
                        </a:spcAft>
                        <a:buClr>
                          <a:srgbClr val="FFFFFF"/>
                        </a:buClr>
                        <a:buSzPts val="1200"/>
                        <a:buFont typeface="Times New Roman"/>
                        <a:buNone/>
                      </a:pPr>
                      <a:r>
                        <a:rPr lang="en-US" sz="1200" b="1" u="none" strike="noStrike" cap="none">
                          <a:solidFill>
                            <a:srgbClr val="FFFFFF"/>
                          </a:solidFill>
                          <a:latin typeface="Times New Roman"/>
                          <a:ea typeface="Times New Roman"/>
                          <a:cs typeface="Times New Roman"/>
                          <a:sym typeface="Times New Roman"/>
                        </a:rPr>
                        <a:t>Status</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17365D"/>
                    </a:solidFill>
                  </a:tcPr>
                </a:tc>
                <a:extLst>
                  <a:ext uri="{0D108BD9-81ED-4DB2-BD59-A6C34878D82A}">
                    <a16:rowId xmlns:a16="http://schemas.microsoft.com/office/drawing/2014/main" val="10000"/>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Accelerometer and gyroscope (IMU)</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Detects impact and rollover motion</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Vehicle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GPS receiver</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Latitude, longitude and timestamp (TinyGPS++)</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Vehicle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02"/>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Vehicle microcontroller</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Thresholds, cancel window, packet building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Vehicle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LoRa transceiver</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Long-range low-power uplink to gateway</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Vehicle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04"/>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GSM module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Fallback alert path where available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Vehicle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8A6A00"/>
                        </a:buClr>
                        <a:buSzPts val="1200"/>
                        <a:buFont typeface="Times New Roman"/>
                        <a:buNone/>
                      </a:pPr>
                      <a:r>
                        <a:rPr lang="en-US" sz="1200" b="1" u="none" strike="noStrike" cap="none">
                          <a:solidFill>
                            <a:srgbClr val="8A6A00"/>
                          </a:solidFill>
                          <a:latin typeface="Times New Roman"/>
                          <a:ea typeface="Times New Roman"/>
                          <a:cs typeface="Times New Roman"/>
                          <a:sym typeface="Times New Roman"/>
                        </a:rPr>
                        <a:t>Optional</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LoRa gateway</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Receives packets; forwards over internet</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Vehicle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06"/>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Backend and database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Event logs, facility lookup, notification rules</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Shared</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68C8C"/>
                        </a:buClr>
                        <a:buSzPts val="1200"/>
                        <a:buFont typeface="Times New Roman"/>
                        <a:buNone/>
                      </a:pPr>
                      <a:r>
                        <a:rPr lang="en-US" sz="1200" b="1" u="none" strike="noStrike" cap="none">
                          <a:solidFill>
                            <a:srgbClr val="168C8C"/>
                          </a:solidFill>
                          <a:latin typeface="Times New Roman"/>
                          <a:ea typeface="Times New Roman"/>
                          <a:cs typeface="Times New Roman"/>
                          <a:sym typeface="Times New Roman"/>
                        </a:rPr>
                        <a:t>Proposed</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Dashboard and notifications</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Separate event categories; authorized alerts</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Shared</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168C8C"/>
                        </a:buClr>
                        <a:buSzPts val="1200"/>
                        <a:buFont typeface="Times New Roman"/>
                        <a:buNone/>
                      </a:pPr>
                      <a:r>
                        <a:rPr lang="en-US" sz="1200" b="1" u="none" strike="noStrike" cap="none">
                          <a:solidFill>
                            <a:srgbClr val="168C8C"/>
                          </a:solidFill>
                          <a:latin typeface="Times New Roman"/>
                          <a:ea typeface="Times New Roman"/>
                          <a:cs typeface="Times New Roman"/>
                          <a:sym typeface="Times New Roman"/>
                        </a:rPr>
                        <a:t>Proposed</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08"/>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Arduino Nano</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Reads sensors; runs filtering and AWTRA</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Wearable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MQ-3 alcohol sensor</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Alcohol-vapour sensing for screening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Wearable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10"/>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MLX90614 temperature sensor</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Non-contact temperature reading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Wearable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SSD1306 OLED display</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Shows reading and risk status</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Wearable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12"/>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Buzzer and red, yellow, green LEDs</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Local alert indication</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Wearable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292600">
                <a:tc>
                  <a:txBody>
                    <a:bodyPr/>
                    <a:lstStyle/>
                    <a:p>
                      <a:pPr marL="0" marR="0" lvl="0" indent="0" algn="l" rtl="0">
                        <a:spcBef>
                          <a:spcPts val="0"/>
                        </a:spcBef>
                        <a:spcAft>
                          <a:spcPts val="0"/>
                        </a:spcAft>
                        <a:buClr>
                          <a:srgbClr val="3F4650"/>
                        </a:buClr>
                        <a:buSzPts val="1200"/>
                        <a:buFont typeface="Times New Roman"/>
                        <a:buNone/>
                      </a:pPr>
                      <a:r>
                        <a:rPr lang="en-US" sz="1200" b="1" u="none" strike="noStrike" cap="none">
                          <a:solidFill>
                            <a:srgbClr val="3F4650"/>
                          </a:solidFill>
                          <a:latin typeface="Times New Roman"/>
                          <a:ea typeface="Times New Roman"/>
                          <a:cs typeface="Times New Roman"/>
                          <a:sym typeface="Times New Roman"/>
                        </a:rPr>
                        <a:t>Battery supply</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Portable operation</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00"/>
                        <a:buFont typeface="Times New Roman"/>
                        <a:buNone/>
                      </a:pPr>
                      <a:r>
                        <a:rPr lang="en-US" sz="1200" u="none" strike="noStrike" cap="none">
                          <a:solidFill>
                            <a:srgbClr val="3F4650"/>
                          </a:solidFill>
                          <a:latin typeface="Times New Roman"/>
                          <a:ea typeface="Times New Roman"/>
                          <a:cs typeface="Times New Roman"/>
                          <a:sym typeface="Times New Roman"/>
                        </a:rPr>
                        <a:t>Wearable</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17365D"/>
                        </a:buClr>
                        <a:buSzPts val="1200"/>
                        <a:buFont typeface="Times New Roman"/>
                        <a:buNone/>
                      </a:pPr>
                      <a:r>
                        <a:rPr lang="en-US" sz="1200" b="1" u="none" strike="noStrike" cap="none">
                          <a:solidFill>
                            <a:srgbClr val="17365D"/>
                          </a:solidFill>
                          <a:latin typeface="Times New Roman"/>
                          <a:ea typeface="Times New Roman"/>
                          <a:cs typeface="Times New Roman"/>
                          <a:sym typeface="Times New Roman"/>
                        </a:rPr>
                        <a:t>Existing</a:t>
                      </a:r>
                      <a:endParaRPr sz="1200" u="none" strike="noStrike" cap="none">
                        <a:latin typeface="Times New Roman"/>
                        <a:ea typeface="Times New Roman"/>
                        <a:cs typeface="Times New Roman"/>
                        <a:sym typeface="Times New Roman"/>
                      </a:endParaRPr>
                    </a:p>
                  </a:txBody>
                  <a:tcPr marL="45725" marR="45725" marT="45725" marB="4572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14"/>
                  </a:ext>
                </a:extLst>
              </a:tr>
            </a:tbl>
          </a:graphicData>
        </a:graphic>
      </p:graphicFrame>
      <p:sp>
        <p:nvSpPr>
          <p:cNvPr id="438" name="Google Shape;438;p14"/>
          <p:cNvSpPr/>
          <p:nvPr/>
        </p:nvSpPr>
        <p:spPr>
          <a:xfrm>
            <a:off x="457200" y="5852160"/>
            <a:ext cx="11274552" cy="594360"/>
          </a:xfrm>
          <a:prstGeom prst="roundRect">
            <a:avLst>
              <a:gd name="adj" fmla="val 12308"/>
            </a:avLst>
          </a:prstGeom>
          <a:solidFill>
            <a:srgbClr val="E3F1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4"/>
          <p:cNvSpPr txBox="1"/>
          <p:nvPr/>
        </p:nvSpPr>
        <p:spPr>
          <a:xfrm>
            <a:off x="640080" y="5870448"/>
            <a:ext cx="109270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300"/>
              <a:buFont typeface="Times New Roman"/>
              <a:buNone/>
            </a:pPr>
            <a:r>
              <a:rPr lang="en-US" sz="1300" b="1" i="0" u="none" strike="noStrike" cap="none">
                <a:solidFill>
                  <a:srgbClr val="17365D"/>
                </a:solidFill>
                <a:latin typeface="Times New Roman"/>
                <a:ea typeface="Times New Roman"/>
                <a:cs typeface="Times New Roman"/>
                <a:sym typeface="Times New Roman"/>
              </a:rPr>
              <a:t>Software: </a:t>
            </a:r>
            <a:r>
              <a:rPr lang="en-US" sz="1300" b="0" i="0" u="none" strike="noStrike" cap="none">
                <a:solidFill>
                  <a:srgbClr val="3F4650"/>
                </a:solidFill>
                <a:latin typeface="Times New Roman"/>
                <a:ea typeface="Times New Roman"/>
                <a:cs typeface="Times New Roman"/>
                <a:sym typeface="Times New Roman"/>
              </a:rPr>
              <a:t>Arduino IDE, Embedded C/C++, TinyGPS++, LoRa library, MLX90614 and SSD1306 libraries, backend and database stack (to be chosen). </a:t>
            </a:r>
            <a:r>
              <a:rPr lang="en-US" sz="1300" b="0" i="1" u="none" strike="noStrike" cap="none">
                <a:solidFill>
                  <a:srgbClr val="5B636E"/>
                </a:solidFill>
                <a:latin typeface="Times New Roman"/>
                <a:ea typeface="Times New Roman"/>
                <a:cs typeface="Times New Roman"/>
                <a:sym typeface="Times New Roman"/>
              </a:rPr>
              <a:t>Existing = specified in source documents.</a:t>
            </a:r>
            <a:endParaRPr sz="13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4"/>
        <p:cNvGrpSpPr/>
        <p:nvPr/>
      </p:nvGrpSpPr>
      <p:grpSpPr>
        <a:xfrm>
          <a:off x="0" y="0"/>
          <a:ext cx="0" cy="0"/>
          <a:chOff x="0" y="0"/>
          <a:chExt cx="0" cy="0"/>
        </a:xfrm>
      </p:grpSpPr>
      <p:sp>
        <p:nvSpPr>
          <p:cNvPr id="445" name="Google Shape;445;p15"/>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Real-world applications and deployment</a:t>
            </a:r>
            <a:endParaRPr sz="3000" b="0" i="0" u="none" strike="noStrike" cap="none">
              <a:solidFill>
                <a:schemeClr val="dk1"/>
              </a:solidFill>
              <a:latin typeface="Times New Roman"/>
              <a:ea typeface="Times New Roman"/>
              <a:cs typeface="Times New Roman"/>
              <a:sym typeface="Times New Roman"/>
            </a:endParaRPr>
          </a:p>
        </p:txBody>
      </p:sp>
      <p:sp>
        <p:nvSpPr>
          <p:cNvPr id="446" name="Google Shape;446;p15"/>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447" name="Google Shape;447;p15"/>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13</a:t>
            </a:r>
            <a:endParaRPr sz="1100" b="0" i="0" u="none" strike="noStrike" cap="none">
              <a:solidFill>
                <a:schemeClr val="dk1"/>
              </a:solidFill>
              <a:latin typeface="Times New Roman"/>
              <a:ea typeface="Times New Roman"/>
              <a:cs typeface="Times New Roman"/>
              <a:sym typeface="Times New Roman"/>
            </a:endParaRPr>
          </a:p>
        </p:txBody>
      </p:sp>
      <p:sp>
        <p:nvSpPr>
          <p:cNvPr id="448" name="Google Shape;448;p15"/>
          <p:cNvSpPr/>
          <p:nvPr/>
        </p:nvSpPr>
        <p:spPr>
          <a:xfrm>
            <a:off x="457200" y="1143000"/>
            <a:ext cx="3566160" cy="1828800"/>
          </a:xfrm>
          <a:prstGeom prst="roundRect">
            <a:avLst>
              <a:gd name="adj" fmla="val 4000"/>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5"/>
          <p:cNvSpPr/>
          <p:nvPr/>
        </p:nvSpPr>
        <p:spPr>
          <a:xfrm>
            <a:off x="594360" y="1280160"/>
            <a:ext cx="411480" cy="41148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1</a:t>
            </a:r>
            <a:endParaRPr sz="1500" b="0" i="0" u="none" strike="noStrike" cap="none">
              <a:solidFill>
                <a:schemeClr val="dk1"/>
              </a:solidFill>
              <a:latin typeface="Times New Roman"/>
              <a:ea typeface="Times New Roman"/>
              <a:cs typeface="Times New Roman"/>
              <a:sym typeface="Times New Roman"/>
            </a:endParaRPr>
          </a:p>
        </p:txBody>
      </p:sp>
      <p:sp>
        <p:nvSpPr>
          <p:cNvPr id="450" name="Google Shape;450;p15"/>
          <p:cNvSpPr txBox="1"/>
          <p:nvPr/>
        </p:nvSpPr>
        <p:spPr>
          <a:xfrm>
            <a:off x="1143000" y="1234440"/>
            <a:ext cx="2788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500"/>
              <a:buFont typeface="Times New Roman"/>
              <a:buNone/>
            </a:pPr>
            <a:r>
              <a:rPr lang="en-US" sz="1500" b="1" i="0" u="none" strike="noStrike" cap="none">
                <a:solidFill>
                  <a:srgbClr val="17365D"/>
                </a:solidFill>
                <a:latin typeface="Times New Roman"/>
                <a:ea typeface="Times New Roman"/>
                <a:cs typeface="Times New Roman"/>
                <a:sym typeface="Times New Roman"/>
              </a:rPr>
              <a:t>Fleet and road-safety monitoring</a:t>
            </a:r>
            <a:endParaRPr sz="1500" b="0" i="0" u="none" strike="noStrike" cap="none">
              <a:solidFill>
                <a:schemeClr val="dk1"/>
              </a:solidFill>
              <a:latin typeface="Times New Roman"/>
              <a:ea typeface="Times New Roman"/>
              <a:cs typeface="Times New Roman"/>
              <a:sym typeface="Times New Roman"/>
            </a:endParaRPr>
          </a:p>
        </p:txBody>
      </p:sp>
      <p:sp>
        <p:nvSpPr>
          <p:cNvPr id="451" name="Google Shape;451;p15"/>
          <p:cNvSpPr txBox="1"/>
          <p:nvPr/>
        </p:nvSpPr>
        <p:spPr>
          <a:xfrm>
            <a:off x="594360" y="1874520"/>
            <a:ext cx="329184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350"/>
              <a:buFont typeface="Times New Roman"/>
              <a:buNone/>
            </a:pPr>
            <a:r>
              <a:rPr lang="en-US" sz="1350" b="0" i="0" u="none" strike="noStrike" cap="none">
                <a:solidFill>
                  <a:srgbClr val="3F4650"/>
                </a:solidFill>
                <a:latin typeface="Times New Roman"/>
                <a:ea typeface="Times New Roman"/>
                <a:cs typeface="Times New Roman"/>
                <a:sym typeface="Times New Roman"/>
              </a:rPr>
              <a:t>Vehicle alerts with GPS logged by fleet operators.</a:t>
            </a:r>
            <a:endParaRPr sz="1350" b="0" i="0" u="none" strike="noStrike" cap="none">
              <a:solidFill>
                <a:schemeClr val="dk1"/>
              </a:solidFill>
              <a:latin typeface="Times New Roman"/>
              <a:ea typeface="Times New Roman"/>
              <a:cs typeface="Times New Roman"/>
              <a:sym typeface="Times New Roman"/>
            </a:endParaRPr>
          </a:p>
        </p:txBody>
      </p:sp>
      <p:sp>
        <p:nvSpPr>
          <p:cNvPr id="452" name="Google Shape;452;p15"/>
          <p:cNvSpPr txBox="1"/>
          <p:nvPr/>
        </p:nvSpPr>
        <p:spPr>
          <a:xfrm>
            <a:off x="594360" y="2468880"/>
            <a:ext cx="32918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8C8C"/>
              </a:buClr>
              <a:buSzPts val="1200"/>
              <a:buFont typeface="Times New Roman"/>
              <a:buNone/>
            </a:pPr>
            <a:r>
              <a:rPr lang="en-US" sz="1200" b="0" i="1" u="none" strike="noStrike" cap="none">
                <a:solidFill>
                  <a:srgbClr val="168C8C"/>
                </a:solidFill>
                <a:latin typeface="Times New Roman"/>
                <a:ea typeface="Times New Roman"/>
                <a:cs typeface="Times New Roman"/>
                <a:sym typeface="Times New Roman"/>
              </a:rPr>
              <a:t>Status: plausible future deployment; no tested installation</a:t>
            </a:r>
            <a:endParaRPr sz="1200" b="0" i="0" u="none" strike="noStrike" cap="none">
              <a:solidFill>
                <a:schemeClr val="dk1"/>
              </a:solidFill>
              <a:latin typeface="Times New Roman"/>
              <a:ea typeface="Times New Roman"/>
              <a:cs typeface="Times New Roman"/>
              <a:sym typeface="Times New Roman"/>
            </a:endParaRPr>
          </a:p>
        </p:txBody>
      </p:sp>
      <p:sp>
        <p:nvSpPr>
          <p:cNvPr id="453" name="Google Shape;453;p15"/>
          <p:cNvSpPr/>
          <p:nvPr/>
        </p:nvSpPr>
        <p:spPr>
          <a:xfrm>
            <a:off x="4311396" y="1143000"/>
            <a:ext cx="3566160" cy="1828800"/>
          </a:xfrm>
          <a:prstGeom prst="roundRect">
            <a:avLst>
              <a:gd name="adj" fmla="val 4000"/>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5"/>
          <p:cNvSpPr/>
          <p:nvPr/>
        </p:nvSpPr>
        <p:spPr>
          <a:xfrm>
            <a:off x="4448556" y="1280160"/>
            <a:ext cx="411480" cy="41148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2</a:t>
            </a:r>
            <a:endParaRPr sz="1500" b="0" i="0" u="none" strike="noStrike" cap="none">
              <a:solidFill>
                <a:schemeClr val="dk1"/>
              </a:solidFill>
              <a:latin typeface="Times New Roman"/>
              <a:ea typeface="Times New Roman"/>
              <a:cs typeface="Times New Roman"/>
              <a:sym typeface="Times New Roman"/>
            </a:endParaRPr>
          </a:p>
        </p:txBody>
      </p:sp>
      <p:sp>
        <p:nvSpPr>
          <p:cNvPr id="455" name="Google Shape;455;p15"/>
          <p:cNvSpPr txBox="1"/>
          <p:nvPr/>
        </p:nvSpPr>
        <p:spPr>
          <a:xfrm>
            <a:off x="4997196" y="1234440"/>
            <a:ext cx="2788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500"/>
              <a:buFont typeface="Times New Roman"/>
              <a:buNone/>
            </a:pPr>
            <a:r>
              <a:rPr lang="en-US" sz="1500" b="1" i="0" u="none" strike="noStrike" cap="none">
                <a:solidFill>
                  <a:srgbClr val="17365D"/>
                </a:solidFill>
                <a:latin typeface="Times New Roman"/>
                <a:ea typeface="Times New Roman"/>
                <a:cs typeface="Times New Roman"/>
                <a:sym typeface="Times New Roman"/>
              </a:rPr>
              <a:t>Campus and industrial vehicle safety</a:t>
            </a:r>
            <a:endParaRPr sz="1500" b="0" i="0" u="none" strike="noStrike" cap="none">
              <a:solidFill>
                <a:schemeClr val="dk1"/>
              </a:solidFill>
              <a:latin typeface="Times New Roman"/>
              <a:ea typeface="Times New Roman"/>
              <a:cs typeface="Times New Roman"/>
              <a:sym typeface="Times New Roman"/>
            </a:endParaRPr>
          </a:p>
        </p:txBody>
      </p:sp>
      <p:sp>
        <p:nvSpPr>
          <p:cNvPr id="456" name="Google Shape;456;p15"/>
          <p:cNvSpPr txBox="1"/>
          <p:nvPr/>
        </p:nvSpPr>
        <p:spPr>
          <a:xfrm>
            <a:off x="4448556" y="1874520"/>
            <a:ext cx="329184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350"/>
              <a:buFont typeface="Times New Roman"/>
              <a:buNone/>
            </a:pPr>
            <a:r>
              <a:rPr lang="en-US" sz="1350" b="0" i="0" u="none" strike="noStrike" cap="none">
                <a:solidFill>
                  <a:srgbClr val="3F4650"/>
                </a:solidFill>
                <a:latin typeface="Times New Roman"/>
                <a:ea typeface="Times New Roman"/>
                <a:cs typeface="Times New Roman"/>
                <a:sym typeface="Times New Roman"/>
              </a:rPr>
              <a:t>On-site gateway covers campus or plant vehicles.</a:t>
            </a:r>
            <a:endParaRPr sz="1350" b="0" i="0" u="none" strike="noStrike" cap="none">
              <a:solidFill>
                <a:schemeClr val="dk1"/>
              </a:solidFill>
              <a:latin typeface="Times New Roman"/>
              <a:ea typeface="Times New Roman"/>
              <a:cs typeface="Times New Roman"/>
              <a:sym typeface="Times New Roman"/>
            </a:endParaRPr>
          </a:p>
        </p:txBody>
      </p:sp>
      <p:sp>
        <p:nvSpPr>
          <p:cNvPr id="457" name="Google Shape;457;p15"/>
          <p:cNvSpPr txBox="1"/>
          <p:nvPr/>
        </p:nvSpPr>
        <p:spPr>
          <a:xfrm>
            <a:off x="4448556" y="2468880"/>
            <a:ext cx="32918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8C8C"/>
              </a:buClr>
              <a:buSzPts val="1200"/>
              <a:buFont typeface="Times New Roman"/>
              <a:buNone/>
            </a:pPr>
            <a:r>
              <a:rPr lang="en-US" sz="1200" b="0" i="1" u="none" strike="noStrike" cap="none">
                <a:solidFill>
                  <a:srgbClr val="168C8C"/>
                </a:solidFill>
                <a:latin typeface="Times New Roman"/>
                <a:ea typeface="Times New Roman"/>
                <a:cs typeface="Times New Roman"/>
                <a:sym typeface="Times New Roman"/>
              </a:rPr>
              <a:t>Status: plausible future deployment; no tested installation</a:t>
            </a:r>
            <a:endParaRPr sz="1200" b="0" i="0" u="none" strike="noStrike" cap="none">
              <a:solidFill>
                <a:schemeClr val="dk1"/>
              </a:solidFill>
              <a:latin typeface="Times New Roman"/>
              <a:ea typeface="Times New Roman"/>
              <a:cs typeface="Times New Roman"/>
              <a:sym typeface="Times New Roman"/>
            </a:endParaRPr>
          </a:p>
        </p:txBody>
      </p:sp>
      <p:sp>
        <p:nvSpPr>
          <p:cNvPr id="458" name="Google Shape;458;p15"/>
          <p:cNvSpPr/>
          <p:nvPr/>
        </p:nvSpPr>
        <p:spPr>
          <a:xfrm>
            <a:off x="8165592" y="1143000"/>
            <a:ext cx="3566160" cy="1828800"/>
          </a:xfrm>
          <a:prstGeom prst="roundRect">
            <a:avLst>
              <a:gd name="adj" fmla="val 4000"/>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5"/>
          <p:cNvSpPr/>
          <p:nvPr/>
        </p:nvSpPr>
        <p:spPr>
          <a:xfrm>
            <a:off x="8302752" y="1280160"/>
            <a:ext cx="411480" cy="41148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3</a:t>
            </a:r>
            <a:endParaRPr sz="1500" b="0" i="0" u="none" strike="noStrike" cap="none">
              <a:solidFill>
                <a:schemeClr val="dk1"/>
              </a:solidFill>
              <a:latin typeface="Times New Roman"/>
              <a:ea typeface="Times New Roman"/>
              <a:cs typeface="Times New Roman"/>
              <a:sym typeface="Times New Roman"/>
            </a:endParaRPr>
          </a:p>
        </p:txBody>
      </p:sp>
      <p:sp>
        <p:nvSpPr>
          <p:cNvPr id="460" name="Google Shape;460;p15"/>
          <p:cNvSpPr txBox="1"/>
          <p:nvPr/>
        </p:nvSpPr>
        <p:spPr>
          <a:xfrm>
            <a:off x="8851392" y="1234440"/>
            <a:ext cx="2788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500"/>
              <a:buFont typeface="Times New Roman"/>
              <a:buNone/>
            </a:pPr>
            <a:r>
              <a:rPr lang="en-US" sz="1500" b="1" i="0" u="none" strike="noStrike" cap="none">
                <a:solidFill>
                  <a:srgbClr val="17365D"/>
                </a:solidFill>
                <a:latin typeface="Times New Roman"/>
                <a:ea typeface="Times New Roman"/>
                <a:cs typeface="Times New Roman"/>
                <a:sym typeface="Times New Roman"/>
              </a:rPr>
              <a:t>Emergency-response coordination</a:t>
            </a:r>
            <a:endParaRPr sz="1500" b="0" i="0" u="none" strike="noStrike" cap="none">
              <a:solidFill>
                <a:schemeClr val="dk1"/>
              </a:solidFill>
              <a:latin typeface="Times New Roman"/>
              <a:ea typeface="Times New Roman"/>
              <a:cs typeface="Times New Roman"/>
              <a:sym typeface="Times New Roman"/>
            </a:endParaRPr>
          </a:p>
        </p:txBody>
      </p:sp>
      <p:sp>
        <p:nvSpPr>
          <p:cNvPr id="461" name="Google Shape;461;p15"/>
          <p:cNvSpPr txBox="1"/>
          <p:nvPr/>
        </p:nvSpPr>
        <p:spPr>
          <a:xfrm>
            <a:off x="8302752" y="1874520"/>
            <a:ext cx="329184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350"/>
              <a:buFont typeface="Times New Roman"/>
              <a:buNone/>
            </a:pPr>
            <a:r>
              <a:rPr lang="en-US" sz="1350" b="0" i="0" u="none" strike="noStrike" cap="none">
                <a:solidFill>
                  <a:srgbClr val="3F4650"/>
                </a:solidFill>
                <a:latin typeface="Times New Roman"/>
                <a:ea typeface="Times New Roman"/>
                <a:cs typeface="Times New Roman"/>
                <a:sym typeface="Times New Roman"/>
              </a:rPr>
              <a:t>Alerts routed to agreed responders through the backend.</a:t>
            </a:r>
            <a:endParaRPr sz="1350" b="0" i="0" u="none" strike="noStrike" cap="none">
              <a:solidFill>
                <a:schemeClr val="dk1"/>
              </a:solidFill>
              <a:latin typeface="Times New Roman"/>
              <a:ea typeface="Times New Roman"/>
              <a:cs typeface="Times New Roman"/>
              <a:sym typeface="Times New Roman"/>
            </a:endParaRPr>
          </a:p>
        </p:txBody>
      </p:sp>
      <p:sp>
        <p:nvSpPr>
          <p:cNvPr id="462" name="Google Shape;462;p15"/>
          <p:cNvSpPr txBox="1"/>
          <p:nvPr/>
        </p:nvSpPr>
        <p:spPr>
          <a:xfrm>
            <a:off x="8302752" y="2468880"/>
            <a:ext cx="32918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8C8C"/>
              </a:buClr>
              <a:buSzPts val="1200"/>
              <a:buFont typeface="Times New Roman"/>
              <a:buNone/>
            </a:pPr>
            <a:r>
              <a:rPr lang="en-US" sz="1200" b="0" i="1" u="none" strike="noStrike" cap="none">
                <a:solidFill>
                  <a:srgbClr val="168C8C"/>
                </a:solidFill>
                <a:latin typeface="Times New Roman"/>
                <a:ea typeface="Times New Roman"/>
                <a:cs typeface="Times New Roman"/>
                <a:sym typeface="Times New Roman"/>
              </a:rPr>
              <a:t>Status: plausible future deployment; no tested installation</a:t>
            </a:r>
            <a:endParaRPr sz="1200" b="0" i="0" u="none" strike="noStrike" cap="none">
              <a:solidFill>
                <a:schemeClr val="dk1"/>
              </a:solidFill>
              <a:latin typeface="Times New Roman"/>
              <a:ea typeface="Times New Roman"/>
              <a:cs typeface="Times New Roman"/>
              <a:sym typeface="Times New Roman"/>
            </a:endParaRPr>
          </a:p>
        </p:txBody>
      </p:sp>
      <p:sp>
        <p:nvSpPr>
          <p:cNvPr id="463" name="Google Shape;463;p15"/>
          <p:cNvSpPr/>
          <p:nvPr/>
        </p:nvSpPr>
        <p:spPr>
          <a:xfrm>
            <a:off x="457200" y="3154680"/>
            <a:ext cx="3566160" cy="1828800"/>
          </a:xfrm>
          <a:prstGeom prst="roundRect">
            <a:avLst>
              <a:gd name="adj" fmla="val 4000"/>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5"/>
          <p:cNvSpPr/>
          <p:nvPr/>
        </p:nvSpPr>
        <p:spPr>
          <a:xfrm>
            <a:off x="594360" y="3291840"/>
            <a:ext cx="411480" cy="411480"/>
          </a:xfrm>
          <a:prstGeom prst="ellipse">
            <a:avLst/>
          </a:prstGeom>
          <a:solidFill>
            <a:srgbClr val="3F4650"/>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4</a:t>
            </a:r>
            <a:endParaRPr sz="1500" b="0" i="0" u="none" strike="noStrike" cap="none">
              <a:solidFill>
                <a:schemeClr val="dk1"/>
              </a:solidFill>
              <a:latin typeface="Times New Roman"/>
              <a:ea typeface="Times New Roman"/>
              <a:cs typeface="Times New Roman"/>
              <a:sym typeface="Times New Roman"/>
            </a:endParaRPr>
          </a:p>
        </p:txBody>
      </p:sp>
      <p:sp>
        <p:nvSpPr>
          <p:cNvPr id="465" name="Google Shape;465;p15"/>
          <p:cNvSpPr txBox="1"/>
          <p:nvPr/>
        </p:nvSpPr>
        <p:spPr>
          <a:xfrm>
            <a:off x="1143000" y="3246120"/>
            <a:ext cx="2788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500"/>
              <a:buFont typeface="Times New Roman"/>
              <a:buNone/>
            </a:pPr>
            <a:r>
              <a:rPr lang="en-US" sz="1500" b="1" i="0" u="none" strike="noStrike" cap="none">
                <a:solidFill>
                  <a:srgbClr val="17365D"/>
                </a:solidFill>
                <a:latin typeface="Times New Roman"/>
                <a:ea typeface="Times New Roman"/>
                <a:cs typeface="Times New Roman"/>
                <a:sym typeface="Times New Roman"/>
              </a:rPr>
              <a:t>Authorized workplace safety programs</a:t>
            </a:r>
            <a:endParaRPr sz="1500" b="0" i="0" u="none" strike="noStrike" cap="none">
              <a:solidFill>
                <a:schemeClr val="dk1"/>
              </a:solidFill>
              <a:latin typeface="Times New Roman"/>
              <a:ea typeface="Times New Roman"/>
              <a:cs typeface="Times New Roman"/>
              <a:sym typeface="Times New Roman"/>
            </a:endParaRPr>
          </a:p>
        </p:txBody>
      </p:sp>
      <p:sp>
        <p:nvSpPr>
          <p:cNvPr id="466" name="Google Shape;466;p15"/>
          <p:cNvSpPr txBox="1"/>
          <p:nvPr/>
        </p:nvSpPr>
        <p:spPr>
          <a:xfrm>
            <a:off x="594360" y="3886200"/>
            <a:ext cx="329184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350"/>
              <a:buFont typeface="Times New Roman"/>
              <a:buNone/>
            </a:pPr>
            <a:r>
              <a:rPr lang="en-US" sz="1350" b="0" i="0" u="none" strike="noStrike" cap="none">
                <a:solidFill>
                  <a:srgbClr val="3F4650"/>
                </a:solidFill>
                <a:latin typeface="Times New Roman"/>
                <a:ea typeface="Times New Roman"/>
                <a:cs typeface="Times New Roman"/>
                <a:sym typeface="Times New Roman"/>
              </a:rPr>
              <a:t>Consent-based preliminary alcohol-exposure screening.</a:t>
            </a:r>
            <a:endParaRPr sz="1350" b="0" i="0" u="none" strike="noStrike" cap="none">
              <a:solidFill>
                <a:schemeClr val="dk1"/>
              </a:solidFill>
              <a:latin typeface="Times New Roman"/>
              <a:ea typeface="Times New Roman"/>
              <a:cs typeface="Times New Roman"/>
              <a:sym typeface="Times New Roman"/>
            </a:endParaRPr>
          </a:p>
        </p:txBody>
      </p:sp>
      <p:sp>
        <p:nvSpPr>
          <p:cNvPr id="467" name="Google Shape;467;p15"/>
          <p:cNvSpPr txBox="1"/>
          <p:nvPr/>
        </p:nvSpPr>
        <p:spPr>
          <a:xfrm>
            <a:off x="594360" y="4480560"/>
            <a:ext cx="32918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8C8C"/>
              </a:buClr>
              <a:buSzPts val="1200"/>
              <a:buFont typeface="Times New Roman"/>
              <a:buNone/>
            </a:pPr>
            <a:r>
              <a:rPr lang="en-US" sz="1200" b="0" i="1" u="none" strike="noStrike" cap="none">
                <a:solidFill>
                  <a:srgbClr val="168C8C"/>
                </a:solidFill>
                <a:latin typeface="Times New Roman"/>
                <a:ea typeface="Times New Roman"/>
                <a:cs typeface="Times New Roman"/>
                <a:sym typeface="Times New Roman"/>
              </a:rPr>
              <a:t>Status: plausible future deployment; no tested installation</a:t>
            </a:r>
            <a:endParaRPr sz="1200" b="0" i="0" u="none" strike="noStrike" cap="none">
              <a:solidFill>
                <a:schemeClr val="dk1"/>
              </a:solidFill>
              <a:latin typeface="Times New Roman"/>
              <a:ea typeface="Times New Roman"/>
              <a:cs typeface="Times New Roman"/>
              <a:sym typeface="Times New Roman"/>
            </a:endParaRPr>
          </a:p>
        </p:txBody>
      </p:sp>
      <p:sp>
        <p:nvSpPr>
          <p:cNvPr id="468" name="Google Shape;468;p15"/>
          <p:cNvSpPr/>
          <p:nvPr/>
        </p:nvSpPr>
        <p:spPr>
          <a:xfrm>
            <a:off x="4311396" y="3154680"/>
            <a:ext cx="3566160" cy="1828800"/>
          </a:xfrm>
          <a:prstGeom prst="roundRect">
            <a:avLst>
              <a:gd name="adj" fmla="val 4000"/>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5"/>
          <p:cNvSpPr/>
          <p:nvPr/>
        </p:nvSpPr>
        <p:spPr>
          <a:xfrm>
            <a:off x="4448556" y="3291840"/>
            <a:ext cx="411480" cy="411480"/>
          </a:xfrm>
          <a:prstGeom prst="ellipse">
            <a:avLst/>
          </a:prstGeom>
          <a:solidFill>
            <a:srgbClr val="3F4650"/>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5</a:t>
            </a:r>
            <a:endParaRPr sz="1500" b="0" i="0" u="none" strike="noStrike" cap="none">
              <a:solidFill>
                <a:schemeClr val="dk1"/>
              </a:solidFill>
              <a:latin typeface="Times New Roman"/>
              <a:ea typeface="Times New Roman"/>
              <a:cs typeface="Times New Roman"/>
              <a:sym typeface="Times New Roman"/>
            </a:endParaRPr>
          </a:p>
        </p:txBody>
      </p:sp>
      <p:sp>
        <p:nvSpPr>
          <p:cNvPr id="470" name="Google Shape;470;p15"/>
          <p:cNvSpPr txBox="1"/>
          <p:nvPr/>
        </p:nvSpPr>
        <p:spPr>
          <a:xfrm>
            <a:off x="4997196" y="3246120"/>
            <a:ext cx="2788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500"/>
              <a:buFont typeface="Times New Roman"/>
              <a:buNone/>
            </a:pPr>
            <a:r>
              <a:rPr lang="en-US" sz="1500" b="1" i="0" u="none" strike="noStrike" cap="none">
                <a:solidFill>
                  <a:srgbClr val="17365D"/>
                </a:solidFill>
                <a:latin typeface="Times New Roman"/>
                <a:ea typeface="Times New Roman"/>
                <a:cs typeface="Times New Roman"/>
                <a:sym typeface="Times New Roman"/>
              </a:rPr>
              <a:t>Preliminary screening research</a:t>
            </a:r>
            <a:endParaRPr sz="1500" b="0" i="0" u="none" strike="noStrike" cap="none">
              <a:solidFill>
                <a:schemeClr val="dk1"/>
              </a:solidFill>
              <a:latin typeface="Times New Roman"/>
              <a:ea typeface="Times New Roman"/>
              <a:cs typeface="Times New Roman"/>
              <a:sym typeface="Times New Roman"/>
            </a:endParaRPr>
          </a:p>
        </p:txBody>
      </p:sp>
      <p:sp>
        <p:nvSpPr>
          <p:cNvPr id="471" name="Google Shape;471;p15"/>
          <p:cNvSpPr txBox="1"/>
          <p:nvPr/>
        </p:nvSpPr>
        <p:spPr>
          <a:xfrm>
            <a:off x="4448556" y="3886200"/>
            <a:ext cx="329184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350"/>
              <a:buFont typeface="Times New Roman"/>
              <a:buNone/>
            </a:pPr>
            <a:r>
              <a:rPr lang="en-US" sz="1350" b="0" i="0" u="none" strike="noStrike" cap="none">
                <a:solidFill>
                  <a:srgbClr val="3F4650"/>
                </a:solidFill>
                <a:latin typeface="Times New Roman"/>
                <a:ea typeface="Times New Roman"/>
                <a:cs typeface="Times New Roman"/>
                <a:sym typeface="Times New Roman"/>
              </a:rPr>
              <a:t>Platform for studying validated screening methods.</a:t>
            </a:r>
            <a:endParaRPr sz="1350" b="0" i="0" u="none" strike="noStrike" cap="none">
              <a:solidFill>
                <a:schemeClr val="dk1"/>
              </a:solidFill>
              <a:latin typeface="Times New Roman"/>
              <a:ea typeface="Times New Roman"/>
              <a:cs typeface="Times New Roman"/>
              <a:sym typeface="Times New Roman"/>
            </a:endParaRPr>
          </a:p>
        </p:txBody>
      </p:sp>
      <p:sp>
        <p:nvSpPr>
          <p:cNvPr id="472" name="Google Shape;472;p15"/>
          <p:cNvSpPr txBox="1"/>
          <p:nvPr/>
        </p:nvSpPr>
        <p:spPr>
          <a:xfrm>
            <a:off x="4448556" y="4480560"/>
            <a:ext cx="32918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8C8C"/>
              </a:buClr>
              <a:buSzPts val="1200"/>
              <a:buFont typeface="Times New Roman"/>
              <a:buNone/>
            </a:pPr>
            <a:r>
              <a:rPr lang="en-US" sz="1200" b="0" i="1" u="none" strike="noStrike" cap="none">
                <a:solidFill>
                  <a:srgbClr val="168C8C"/>
                </a:solidFill>
                <a:latin typeface="Times New Roman"/>
                <a:ea typeface="Times New Roman"/>
                <a:cs typeface="Times New Roman"/>
                <a:sym typeface="Times New Roman"/>
              </a:rPr>
              <a:t>Status: plausible future deployment; no tested installation</a:t>
            </a:r>
            <a:endParaRPr sz="1200" b="0" i="0" u="none" strike="noStrike" cap="none">
              <a:solidFill>
                <a:schemeClr val="dk1"/>
              </a:solidFill>
              <a:latin typeface="Times New Roman"/>
              <a:ea typeface="Times New Roman"/>
              <a:cs typeface="Times New Roman"/>
              <a:sym typeface="Times New Roman"/>
            </a:endParaRPr>
          </a:p>
        </p:txBody>
      </p:sp>
      <p:sp>
        <p:nvSpPr>
          <p:cNvPr id="473" name="Google Shape;473;p15"/>
          <p:cNvSpPr/>
          <p:nvPr/>
        </p:nvSpPr>
        <p:spPr>
          <a:xfrm>
            <a:off x="8165592" y="3154680"/>
            <a:ext cx="3566160" cy="1828800"/>
          </a:xfrm>
          <a:prstGeom prst="roundRect">
            <a:avLst>
              <a:gd name="adj" fmla="val 4000"/>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5"/>
          <p:cNvSpPr/>
          <p:nvPr/>
        </p:nvSpPr>
        <p:spPr>
          <a:xfrm>
            <a:off x="8302752" y="3291840"/>
            <a:ext cx="411480" cy="411480"/>
          </a:xfrm>
          <a:prstGeom prst="ellipse">
            <a:avLst/>
          </a:prstGeom>
          <a:solidFill>
            <a:srgbClr val="3F4650"/>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Times New Roman"/>
              <a:buNone/>
            </a:pPr>
            <a:r>
              <a:rPr lang="en-US" sz="1500" b="1" i="0" u="none" strike="noStrike" cap="none">
                <a:solidFill>
                  <a:srgbClr val="FFFFFF"/>
                </a:solidFill>
                <a:latin typeface="Times New Roman"/>
                <a:ea typeface="Times New Roman"/>
                <a:cs typeface="Times New Roman"/>
                <a:sym typeface="Times New Roman"/>
              </a:rPr>
              <a:t>6</a:t>
            </a:r>
            <a:endParaRPr sz="1500" b="0" i="0" u="none" strike="noStrike" cap="none">
              <a:solidFill>
                <a:schemeClr val="dk1"/>
              </a:solidFill>
              <a:latin typeface="Times New Roman"/>
              <a:ea typeface="Times New Roman"/>
              <a:cs typeface="Times New Roman"/>
              <a:sym typeface="Times New Roman"/>
            </a:endParaRPr>
          </a:p>
        </p:txBody>
      </p:sp>
      <p:sp>
        <p:nvSpPr>
          <p:cNvPr id="475" name="Google Shape;475;p15"/>
          <p:cNvSpPr txBox="1"/>
          <p:nvPr/>
        </p:nvSpPr>
        <p:spPr>
          <a:xfrm>
            <a:off x="8851392" y="3246120"/>
            <a:ext cx="27889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1500"/>
              <a:buFont typeface="Times New Roman"/>
              <a:buNone/>
            </a:pPr>
            <a:r>
              <a:rPr lang="en-US" sz="1500" b="1" i="0" u="none" strike="noStrike" cap="none">
                <a:solidFill>
                  <a:srgbClr val="17365D"/>
                </a:solidFill>
                <a:latin typeface="Times New Roman"/>
                <a:ea typeface="Times New Roman"/>
                <a:cs typeface="Times New Roman"/>
                <a:sym typeface="Times New Roman"/>
              </a:rPr>
              <a:t>Connected wearable monitoring</a:t>
            </a:r>
            <a:endParaRPr sz="1500" b="0" i="0" u="none" strike="noStrike" cap="none">
              <a:solidFill>
                <a:schemeClr val="dk1"/>
              </a:solidFill>
              <a:latin typeface="Times New Roman"/>
              <a:ea typeface="Times New Roman"/>
              <a:cs typeface="Times New Roman"/>
              <a:sym typeface="Times New Roman"/>
            </a:endParaRPr>
          </a:p>
        </p:txBody>
      </p:sp>
      <p:sp>
        <p:nvSpPr>
          <p:cNvPr id="476" name="Google Shape;476;p15"/>
          <p:cNvSpPr txBox="1"/>
          <p:nvPr/>
        </p:nvSpPr>
        <p:spPr>
          <a:xfrm>
            <a:off x="8302752" y="3886200"/>
            <a:ext cx="329184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F4650"/>
              </a:buClr>
              <a:buSzPts val="1350"/>
              <a:buFont typeface="Times New Roman"/>
              <a:buNone/>
            </a:pPr>
            <a:r>
              <a:rPr lang="en-US" sz="1350" b="0" i="0" u="none" strike="noStrike" cap="none">
                <a:solidFill>
                  <a:srgbClr val="3F4650"/>
                </a:solidFill>
                <a:latin typeface="Times New Roman"/>
                <a:ea typeface="Times New Roman"/>
                <a:cs typeface="Times New Roman"/>
                <a:sym typeface="Times New Roman"/>
              </a:rPr>
              <a:t>Optional secure link of screening records to the platform.</a:t>
            </a:r>
            <a:endParaRPr sz="1350" b="0" i="0" u="none" strike="noStrike" cap="none">
              <a:solidFill>
                <a:schemeClr val="dk1"/>
              </a:solidFill>
              <a:latin typeface="Times New Roman"/>
              <a:ea typeface="Times New Roman"/>
              <a:cs typeface="Times New Roman"/>
              <a:sym typeface="Times New Roman"/>
            </a:endParaRPr>
          </a:p>
        </p:txBody>
      </p:sp>
      <p:sp>
        <p:nvSpPr>
          <p:cNvPr id="477" name="Google Shape;477;p15"/>
          <p:cNvSpPr txBox="1"/>
          <p:nvPr/>
        </p:nvSpPr>
        <p:spPr>
          <a:xfrm>
            <a:off x="8302752" y="4480560"/>
            <a:ext cx="329184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8C8C"/>
              </a:buClr>
              <a:buSzPts val="1200"/>
              <a:buFont typeface="Times New Roman"/>
              <a:buNone/>
            </a:pPr>
            <a:r>
              <a:rPr lang="en-US" sz="1200" b="0" i="1" u="none" strike="noStrike" cap="none">
                <a:solidFill>
                  <a:srgbClr val="168C8C"/>
                </a:solidFill>
                <a:latin typeface="Times New Roman"/>
                <a:ea typeface="Times New Roman"/>
                <a:cs typeface="Times New Roman"/>
                <a:sym typeface="Times New Roman"/>
              </a:rPr>
              <a:t>Status: plausible future deployment; no tested installation</a:t>
            </a:r>
            <a:endParaRPr sz="1200" b="0" i="0" u="none" strike="noStrike" cap="none">
              <a:solidFill>
                <a:schemeClr val="dk1"/>
              </a:solidFill>
              <a:latin typeface="Times New Roman"/>
              <a:ea typeface="Times New Roman"/>
              <a:cs typeface="Times New Roman"/>
              <a:sym typeface="Times New Roman"/>
            </a:endParaRPr>
          </a:p>
        </p:txBody>
      </p:sp>
      <p:sp>
        <p:nvSpPr>
          <p:cNvPr id="478" name="Google Shape;478;p15"/>
          <p:cNvSpPr txBox="1"/>
          <p:nvPr/>
        </p:nvSpPr>
        <p:spPr>
          <a:xfrm>
            <a:off x="457200" y="5212080"/>
            <a:ext cx="54864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365D"/>
              </a:buClr>
              <a:buSzPts val="1600"/>
              <a:buFont typeface="Times New Roman"/>
              <a:buNone/>
            </a:pPr>
            <a:r>
              <a:rPr lang="en-US" sz="1600" b="1" i="0" u="none" strike="noStrike" cap="none">
                <a:solidFill>
                  <a:srgbClr val="17365D"/>
                </a:solidFill>
                <a:latin typeface="Times New Roman"/>
                <a:ea typeface="Times New Roman"/>
                <a:cs typeface="Times New Roman"/>
                <a:sym typeface="Times New Roman"/>
              </a:rPr>
              <a:t>Realistic limitations</a:t>
            </a:r>
            <a:endParaRPr sz="1600" b="0" i="0" u="none" strike="noStrike" cap="none">
              <a:solidFill>
                <a:schemeClr val="dk1"/>
              </a:solidFill>
              <a:latin typeface="Times New Roman"/>
              <a:ea typeface="Times New Roman"/>
              <a:cs typeface="Times New Roman"/>
              <a:sym typeface="Times New Roman"/>
            </a:endParaRPr>
          </a:p>
        </p:txBody>
      </p:sp>
      <p:sp>
        <p:nvSpPr>
          <p:cNvPr id="479" name="Google Shape;479;p15"/>
          <p:cNvSpPr/>
          <p:nvPr/>
        </p:nvSpPr>
        <p:spPr>
          <a:xfrm>
            <a:off x="457200" y="5577840"/>
            <a:ext cx="1463040" cy="685800"/>
          </a:xfrm>
          <a:prstGeom prst="roundRect">
            <a:avLst>
              <a:gd name="adj" fmla="val 10667"/>
            </a:avLst>
          </a:prstGeom>
          <a:solidFill>
            <a:srgbClr val="FFFFFF"/>
          </a:solidFill>
          <a:ln w="19050" cap="flat" cmpd="sng">
            <a:solidFill>
              <a:srgbClr val="8A6A00"/>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Gateway coverage</a:t>
            </a:r>
            <a:endParaRPr sz="1250" b="0" i="0" u="none" strike="noStrike" cap="none">
              <a:solidFill>
                <a:schemeClr val="dk1"/>
              </a:solidFill>
              <a:latin typeface="Times New Roman"/>
              <a:ea typeface="Times New Roman"/>
              <a:cs typeface="Times New Roman"/>
              <a:sym typeface="Times New Roman"/>
            </a:endParaRPr>
          </a:p>
        </p:txBody>
      </p:sp>
      <p:sp>
        <p:nvSpPr>
          <p:cNvPr id="480" name="Google Shape;480;p15"/>
          <p:cNvSpPr/>
          <p:nvPr/>
        </p:nvSpPr>
        <p:spPr>
          <a:xfrm>
            <a:off x="2084832" y="5577840"/>
            <a:ext cx="1463040" cy="685800"/>
          </a:xfrm>
          <a:prstGeom prst="roundRect">
            <a:avLst>
              <a:gd name="adj" fmla="val 10667"/>
            </a:avLst>
          </a:prstGeom>
          <a:solidFill>
            <a:srgbClr val="FFFFFF"/>
          </a:solidFill>
          <a:ln w="19050" cap="flat" cmpd="sng">
            <a:solidFill>
              <a:srgbClr val="8A6A00"/>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Sensor calibration</a:t>
            </a:r>
            <a:endParaRPr sz="1250" b="0" i="0" u="none" strike="noStrike" cap="none">
              <a:solidFill>
                <a:schemeClr val="dk1"/>
              </a:solidFill>
              <a:latin typeface="Times New Roman"/>
              <a:ea typeface="Times New Roman"/>
              <a:cs typeface="Times New Roman"/>
              <a:sym typeface="Times New Roman"/>
            </a:endParaRPr>
          </a:p>
        </p:txBody>
      </p:sp>
      <p:sp>
        <p:nvSpPr>
          <p:cNvPr id="481" name="Google Shape;481;p15"/>
          <p:cNvSpPr/>
          <p:nvPr/>
        </p:nvSpPr>
        <p:spPr>
          <a:xfrm>
            <a:off x="3712464" y="5577840"/>
            <a:ext cx="1463040" cy="685800"/>
          </a:xfrm>
          <a:prstGeom prst="roundRect">
            <a:avLst>
              <a:gd name="adj" fmla="val 10667"/>
            </a:avLst>
          </a:prstGeom>
          <a:solidFill>
            <a:srgbClr val="FFFFFF"/>
          </a:solidFill>
          <a:ln w="19050" cap="flat" cmpd="sng">
            <a:solidFill>
              <a:srgbClr val="8A6A00"/>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Environmental interference</a:t>
            </a:r>
            <a:endParaRPr sz="1250" b="0" i="0" u="none" strike="noStrike" cap="none">
              <a:solidFill>
                <a:schemeClr val="dk1"/>
              </a:solidFill>
              <a:latin typeface="Times New Roman"/>
              <a:ea typeface="Times New Roman"/>
              <a:cs typeface="Times New Roman"/>
              <a:sym typeface="Times New Roman"/>
            </a:endParaRPr>
          </a:p>
        </p:txBody>
      </p:sp>
      <p:sp>
        <p:nvSpPr>
          <p:cNvPr id="482" name="Google Shape;482;p15"/>
          <p:cNvSpPr/>
          <p:nvPr/>
        </p:nvSpPr>
        <p:spPr>
          <a:xfrm>
            <a:off x="5340096" y="5577840"/>
            <a:ext cx="1463040" cy="685800"/>
          </a:xfrm>
          <a:prstGeom prst="roundRect">
            <a:avLst>
              <a:gd name="adj" fmla="val 10667"/>
            </a:avLst>
          </a:prstGeom>
          <a:solidFill>
            <a:srgbClr val="FFFFFF"/>
          </a:solidFill>
          <a:ln w="19050" cap="flat" cmpd="sng">
            <a:solidFill>
              <a:srgbClr val="8A6A00"/>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Power management</a:t>
            </a:r>
            <a:endParaRPr sz="1250" b="0" i="0" u="none" strike="noStrike" cap="none">
              <a:solidFill>
                <a:schemeClr val="dk1"/>
              </a:solidFill>
              <a:latin typeface="Times New Roman"/>
              <a:ea typeface="Times New Roman"/>
              <a:cs typeface="Times New Roman"/>
              <a:sym typeface="Times New Roman"/>
            </a:endParaRPr>
          </a:p>
        </p:txBody>
      </p:sp>
      <p:sp>
        <p:nvSpPr>
          <p:cNvPr id="483" name="Google Shape;483;p15"/>
          <p:cNvSpPr/>
          <p:nvPr/>
        </p:nvSpPr>
        <p:spPr>
          <a:xfrm>
            <a:off x="6967728" y="5577840"/>
            <a:ext cx="1463040" cy="685800"/>
          </a:xfrm>
          <a:prstGeom prst="roundRect">
            <a:avLst>
              <a:gd name="adj" fmla="val 10667"/>
            </a:avLst>
          </a:prstGeom>
          <a:solidFill>
            <a:srgbClr val="FFFFFF"/>
          </a:solidFill>
          <a:ln w="19050" cap="flat" cmpd="sng">
            <a:solidFill>
              <a:srgbClr val="8A6A00"/>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False positives</a:t>
            </a:r>
            <a:endParaRPr sz="1250" b="0" i="0" u="none" strike="noStrike" cap="none">
              <a:solidFill>
                <a:schemeClr val="dk1"/>
              </a:solidFill>
              <a:latin typeface="Times New Roman"/>
              <a:ea typeface="Times New Roman"/>
              <a:cs typeface="Times New Roman"/>
              <a:sym typeface="Times New Roman"/>
            </a:endParaRPr>
          </a:p>
        </p:txBody>
      </p:sp>
      <p:sp>
        <p:nvSpPr>
          <p:cNvPr id="484" name="Google Shape;484;p15"/>
          <p:cNvSpPr/>
          <p:nvPr/>
        </p:nvSpPr>
        <p:spPr>
          <a:xfrm>
            <a:off x="8595360" y="5577840"/>
            <a:ext cx="1463040" cy="685800"/>
          </a:xfrm>
          <a:prstGeom prst="roundRect">
            <a:avLst>
              <a:gd name="adj" fmla="val 10667"/>
            </a:avLst>
          </a:prstGeom>
          <a:solidFill>
            <a:srgbClr val="FFFFFF"/>
          </a:solidFill>
          <a:ln w="19050" cap="flat" cmpd="sng">
            <a:solidFill>
              <a:srgbClr val="8A6A00"/>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Privacy</a:t>
            </a:r>
            <a:endParaRPr sz="1250" b="0" i="0" u="none" strike="noStrike" cap="none">
              <a:solidFill>
                <a:schemeClr val="dk1"/>
              </a:solidFill>
              <a:latin typeface="Times New Roman"/>
              <a:ea typeface="Times New Roman"/>
              <a:cs typeface="Times New Roman"/>
              <a:sym typeface="Times New Roman"/>
            </a:endParaRPr>
          </a:p>
        </p:txBody>
      </p:sp>
      <p:sp>
        <p:nvSpPr>
          <p:cNvPr id="485" name="Google Shape;485;p15"/>
          <p:cNvSpPr/>
          <p:nvPr/>
        </p:nvSpPr>
        <p:spPr>
          <a:xfrm>
            <a:off x="10222992" y="5577840"/>
            <a:ext cx="1463040" cy="685800"/>
          </a:xfrm>
          <a:prstGeom prst="roundRect">
            <a:avLst>
              <a:gd name="adj" fmla="val 10667"/>
            </a:avLst>
          </a:prstGeom>
          <a:solidFill>
            <a:srgbClr val="FFFFFF"/>
          </a:solidFill>
          <a:ln w="19050" cap="flat" cmpd="sng">
            <a:solidFill>
              <a:srgbClr val="8A6A00"/>
            </a:solidFill>
            <a:prstDash val="dash"/>
            <a:round/>
            <a:headEnd type="none" w="sm" len="sm"/>
            <a:tailEnd type="none" w="sm" len="sm"/>
          </a:ln>
        </p:spPr>
        <p:txBody>
          <a:bodyPr spcFirstLastPara="1" wrap="square" lIns="625" tIns="625" rIns="625" bIns="625" anchor="ctr" anchorCtr="0">
            <a:noAutofit/>
          </a:bodyPr>
          <a:lstStyle/>
          <a:p>
            <a:pPr marL="0" marR="0" lvl="0" indent="0" algn="ctr" rtl="0">
              <a:spcBef>
                <a:spcPts val="0"/>
              </a:spcBef>
              <a:spcAft>
                <a:spcPts val="0"/>
              </a:spcAft>
              <a:buClr>
                <a:srgbClr val="3F4650"/>
              </a:buClr>
              <a:buSzPts val="1250"/>
              <a:buFont typeface="Times New Roman"/>
              <a:buNone/>
            </a:pPr>
            <a:r>
              <a:rPr lang="en-US" sz="1250" b="0" i="0" u="none" strike="noStrike" cap="none">
                <a:solidFill>
                  <a:srgbClr val="3F4650"/>
                </a:solidFill>
                <a:latin typeface="Times New Roman"/>
                <a:ea typeface="Times New Roman"/>
                <a:cs typeface="Times New Roman"/>
                <a:sym typeface="Times New Roman"/>
              </a:rPr>
              <a:t>Regulatory approval</a:t>
            </a:r>
            <a:endParaRPr sz="125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0"/>
        <p:cNvGrpSpPr/>
        <p:nvPr/>
      </p:nvGrpSpPr>
      <p:grpSpPr>
        <a:xfrm>
          <a:off x="0" y="0"/>
          <a:ext cx="0" cy="0"/>
          <a:chOff x="0" y="0"/>
          <a:chExt cx="0" cy="0"/>
        </a:xfrm>
      </p:grpSpPr>
      <p:sp>
        <p:nvSpPr>
          <p:cNvPr id="491" name="Google Shape;491;p16"/>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Testing, validation, and limitations</a:t>
            </a:r>
            <a:endParaRPr sz="3000" b="0" i="0" u="none" strike="noStrike" cap="none">
              <a:solidFill>
                <a:schemeClr val="dk1"/>
              </a:solidFill>
              <a:latin typeface="Times New Roman"/>
              <a:ea typeface="Times New Roman"/>
              <a:cs typeface="Times New Roman"/>
              <a:sym typeface="Times New Roman"/>
            </a:endParaRPr>
          </a:p>
        </p:txBody>
      </p:sp>
      <p:sp>
        <p:nvSpPr>
          <p:cNvPr id="492" name="Google Shape;492;p16"/>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493" name="Google Shape;493;p16"/>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14</a:t>
            </a:r>
            <a:endParaRPr sz="1100" b="0" i="0" u="none" strike="noStrike" cap="none">
              <a:solidFill>
                <a:schemeClr val="dk1"/>
              </a:solidFill>
              <a:latin typeface="Times New Roman"/>
              <a:ea typeface="Times New Roman"/>
              <a:cs typeface="Times New Roman"/>
              <a:sym typeface="Times New Roman"/>
            </a:endParaRPr>
          </a:p>
        </p:txBody>
      </p:sp>
      <p:graphicFrame>
        <p:nvGraphicFramePr>
          <p:cNvPr id="494" name="Google Shape;494;p16"/>
          <p:cNvGraphicFramePr/>
          <p:nvPr/>
        </p:nvGraphicFramePr>
        <p:xfrm>
          <a:off x="457200" y="1097280"/>
          <a:ext cx="11274550" cy="4023250"/>
        </p:xfrm>
        <a:graphic>
          <a:graphicData uri="http://schemas.openxmlformats.org/drawingml/2006/table">
            <a:tbl>
              <a:tblPr>
                <a:noFill/>
                <a:tableStyleId>{033C396F-BCFC-4817-AD85-F582D535E4FD}</a:tableStyleId>
              </a:tblPr>
              <a:tblGrid>
                <a:gridCol w="3291850">
                  <a:extLst>
                    <a:ext uri="{9D8B030D-6E8A-4147-A177-3AD203B41FA5}">
                      <a16:colId xmlns:a16="http://schemas.microsoft.com/office/drawing/2014/main" val="20000"/>
                    </a:ext>
                  </a:extLst>
                </a:gridCol>
                <a:gridCol w="4023350">
                  <a:extLst>
                    <a:ext uri="{9D8B030D-6E8A-4147-A177-3AD203B41FA5}">
                      <a16:colId xmlns:a16="http://schemas.microsoft.com/office/drawing/2014/main" val="20001"/>
                    </a:ext>
                  </a:extLst>
                </a:gridCol>
                <a:gridCol w="2377450">
                  <a:extLst>
                    <a:ext uri="{9D8B030D-6E8A-4147-A177-3AD203B41FA5}">
                      <a16:colId xmlns:a16="http://schemas.microsoft.com/office/drawing/2014/main" val="20002"/>
                    </a:ext>
                  </a:extLst>
                </a:gridCol>
                <a:gridCol w="1581900">
                  <a:extLst>
                    <a:ext uri="{9D8B030D-6E8A-4147-A177-3AD203B41FA5}">
                      <a16:colId xmlns:a16="http://schemas.microsoft.com/office/drawing/2014/main" val="20003"/>
                    </a:ext>
                  </a:extLst>
                </a:gridCol>
              </a:tblGrid>
              <a:tr h="365750">
                <a:tc>
                  <a:txBody>
                    <a:bodyPr/>
                    <a:lstStyle/>
                    <a:p>
                      <a:pPr marL="0" marR="0" lvl="0" indent="0" algn="l" rtl="0">
                        <a:spcBef>
                          <a:spcPts val="0"/>
                        </a:spcBef>
                        <a:spcAft>
                          <a:spcPts val="0"/>
                        </a:spcAft>
                        <a:buClr>
                          <a:srgbClr val="FFFFFF"/>
                        </a:buClr>
                        <a:buSzPts val="1250"/>
                        <a:buFont typeface="Times New Roman"/>
                        <a:buNone/>
                      </a:pPr>
                      <a:r>
                        <a:rPr lang="en-US" sz="1250" b="1" u="none" strike="noStrike" cap="none">
                          <a:solidFill>
                            <a:srgbClr val="FFFFFF"/>
                          </a:solidFill>
                          <a:latin typeface="Times New Roman"/>
                          <a:ea typeface="Times New Roman"/>
                          <a:cs typeface="Times New Roman"/>
                          <a:sym typeface="Times New Roman"/>
                        </a:rPr>
                        <a:t>Test</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17365D"/>
                    </a:solidFill>
                  </a:tcPr>
                </a:tc>
                <a:tc>
                  <a:txBody>
                    <a:bodyPr/>
                    <a:lstStyle/>
                    <a:p>
                      <a:pPr marL="0" marR="0" lvl="0" indent="0" algn="l" rtl="0">
                        <a:spcBef>
                          <a:spcPts val="0"/>
                        </a:spcBef>
                        <a:spcAft>
                          <a:spcPts val="0"/>
                        </a:spcAft>
                        <a:buClr>
                          <a:srgbClr val="FFFFFF"/>
                        </a:buClr>
                        <a:buSzPts val="1250"/>
                        <a:buFont typeface="Times New Roman"/>
                        <a:buNone/>
                      </a:pPr>
                      <a:r>
                        <a:rPr lang="en-US" sz="1250" b="1" u="none" strike="noStrike" cap="none">
                          <a:solidFill>
                            <a:srgbClr val="FFFFFF"/>
                          </a:solidFill>
                          <a:latin typeface="Times New Roman"/>
                          <a:ea typeface="Times New Roman"/>
                          <a:cs typeface="Times New Roman"/>
                          <a:sym typeface="Times New Roman"/>
                        </a:rPr>
                        <a:t>Method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17365D"/>
                    </a:solidFill>
                  </a:tcPr>
                </a:tc>
                <a:tc>
                  <a:txBody>
                    <a:bodyPr/>
                    <a:lstStyle/>
                    <a:p>
                      <a:pPr marL="0" marR="0" lvl="0" indent="0" algn="l" rtl="0">
                        <a:spcBef>
                          <a:spcPts val="0"/>
                        </a:spcBef>
                        <a:spcAft>
                          <a:spcPts val="0"/>
                        </a:spcAft>
                        <a:buClr>
                          <a:srgbClr val="FFFFFF"/>
                        </a:buClr>
                        <a:buSzPts val="1250"/>
                        <a:buFont typeface="Times New Roman"/>
                        <a:buNone/>
                      </a:pPr>
                      <a:r>
                        <a:rPr lang="en-US" sz="1250" b="1" u="none" strike="noStrike" cap="none">
                          <a:solidFill>
                            <a:srgbClr val="FFFFFF"/>
                          </a:solidFill>
                          <a:latin typeface="Times New Roman"/>
                          <a:ea typeface="Times New Roman"/>
                          <a:cs typeface="Times New Roman"/>
                          <a:sym typeface="Times New Roman"/>
                        </a:rPr>
                        <a:t>Metric</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17365D"/>
                    </a:solidFill>
                  </a:tcPr>
                </a:tc>
                <a:tc>
                  <a:txBody>
                    <a:bodyPr/>
                    <a:lstStyle/>
                    <a:p>
                      <a:pPr marL="0" marR="0" lvl="0" indent="0" algn="l" rtl="0">
                        <a:spcBef>
                          <a:spcPts val="0"/>
                        </a:spcBef>
                        <a:spcAft>
                          <a:spcPts val="0"/>
                        </a:spcAft>
                        <a:buClr>
                          <a:srgbClr val="FFFFFF"/>
                        </a:buClr>
                        <a:buSzPts val="1250"/>
                        <a:buFont typeface="Times New Roman"/>
                        <a:buNone/>
                      </a:pPr>
                      <a:r>
                        <a:rPr lang="en-US" sz="1250" b="1" u="none" strike="noStrike" cap="none">
                          <a:solidFill>
                            <a:srgbClr val="FFFFFF"/>
                          </a:solidFill>
                          <a:latin typeface="Times New Roman"/>
                          <a:ea typeface="Times New Roman"/>
                          <a:cs typeface="Times New Roman"/>
                          <a:sym typeface="Times New Roman"/>
                        </a:rPr>
                        <a:t>Result</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17365D"/>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3F4650"/>
                        </a:buClr>
                        <a:buSzPts val="1250"/>
                        <a:buFont typeface="Times New Roman"/>
                        <a:buNone/>
                      </a:pPr>
                      <a:r>
                        <a:rPr lang="en-US" sz="1250" b="1" u="none" strike="noStrike" cap="none">
                          <a:solidFill>
                            <a:srgbClr val="3F4650"/>
                          </a:solidFill>
                          <a:latin typeface="Times New Roman"/>
                          <a:ea typeface="Times New Roman"/>
                          <a:cs typeface="Times New Roman"/>
                          <a:sym typeface="Times New Roman"/>
                        </a:rPr>
                        <a:t>Controlled impact-sensor tests</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Controlled impacts and tilt at varied severity</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Detection rate, missed events</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8A6A00"/>
                        </a:buClr>
                        <a:buSzPts val="1250"/>
                        <a:buFont typeface="Times New Roman"/>
                        <a:buNone/>
                      </a:pPr>
                      <a:r>
                        <a:rPr lang="en-US" sz="1250" i="1" u="none" strike="noStrike" cap="none">
                          <a:solidFill>
                            <a:srgbClr val="8A6A00"/>
                          </a:solidFill>
                          <a:latin typeface="Times New Roman"/>
                          <a:ea typeface="Times New Roman"/>
                          <a:cs typeface="Times New Roman"/>
                          <a:sym typeface="Times New Roman"/>
                        </a:rPr>
                        <a:t>To be tested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3F4650"/>
                        </a:buClr>
                        <a:buSzPts val="1250"/>
                        <a:buFont typeface="Times New Roman"/>
                        <a:buNone/>
                      </a:pPr>
                      <a:r>
                        <a:rPr lang="en-US" sz="1250" b="1" u="none" strike="noStrike" cap="none">
                          <a:solidFill>
                            <a:srgbClr val="3F4650"/>
                          </a:solidFill>
                          <a:latin typeface="Times New Roman"/>
                          <a:ea typeface="Times New Roman"/>
                          <a:cs typeface="Times New Roman"/>
                          <a:sym typeface="Times New Roman"/>
                        </a:rPr>
                        <a:t>GPS acquisition and accuracy</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Open-sky and obstructed fixes vs reference</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Time to fix, position error</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8A6A00"/>
                        </a:buClr>
                        <a:buSzPts val="1250"/>
                        <a:buFont typeface="Times New Roman"/>
                        <a:buNone/>
                      </a:pPr>
                      <a:r>
                        <a:rPr lang="en-US" sz="1250" i="1" u="none" strike="noStrike" cap="none">
                          <a:solidFill>
                            <a:srgbClr val="8A6A00"/>
                          </a:solidFill>
                          <a:latin typeface="Times New Roman"/>
                          <a:ea typeface="Times New Roman"/>
                          <a:cs typeface="Times New Roman"/>
                          <a:sym typeface="Times New Roman"/>
                        </a:rPr>
                        <a:t>To be tested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3F4650"/>
                        </a:buClr>
                        <a:buSzPts val="1250"/>
                        <a:buFont typeface="Times New Roman"/>
                        <a:buNone/>
                      </a:pPr>
                      <a:r>
                        <a:rPr lang="en-US" sz="1250" b="1" u="none" strike="noStrike" cap="none">
                          <a:solidFill>
                            <a:srgbClr val="3F4650"/>
                          </a:solidFill>
                          <a:latin typeface="Times New Roman"/>
                          <a:ea typeface="Times New Roman"/>
                          <a:cs typeface="Times New Roman"/>
                          <a:sym typeface="Times New Roman"/>
                        </a:rPr>
                        <a:t>LoRa packet reception and loss</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Range and obstruction trials</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Delivery ratio, signal strength</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8A6A00"/>
                        </a:buClr>
                        <a:buSzPts val="1250"/>
                        <a:buFont typeface="Times New Roman"/>
                        <a:buNone/>
                      </a:pPr>
                      <a:r>
                        <a:rPr lang="en-US" sz="1250" i="1" u="none" strike="noStrike" cap="none">
                          <a:solidFill>
                            <a:srgbClr val="8A6A00"/>
                          </a:solidFill>
                          <a:latin typeface="Times New Roman"/>
                          <a:ea typeface="Times New Roman"/>
                          <a:cs typeface="Times New Roman"/>
                          <a:sym typeface="Times New Roman"/>
                        </a:rPr>
                        <a:t>To be tested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65750">
                <a:tc>
                  <a:txBody>
                    <a:bodyPr/>
                    <a:lstStyle/>
                    <a:p>
                      <a:pPr marL="0" marR="0" lvl="0" indent="0" algn="l" rtl="0">
                        <a:spcBef>
                          <a:spcPts val="0"/>
                        </a:spcBef>
                        <a:spcAft>
                          <a:spcPts val="0"/>
                        </a:spcAft>
                        <a:buClr>
                          <a:srgbClr val="3F4650"/>
                        </a:buClr>
                        <a:buSzPts val="1250"/>
                        <a:buFont typeface="Times New Roman"/>
                        <a:buNone/>
                      </a:pPr>
                      <a:r>
                        <a:rPr lang="en-US" sz="1250" b="1" u="none" strike="noStrike" cap="none">
                          <a:solidFill>
                            <a:srgbClr val="3F4650"/>
                          </a:solidFill>
                          <a:latin typeface="Times New Roman"/>
                          <a:ea typeface="Times New Roman"/>
                          <a:cs typeface="Times New Roman"/>
                          <a:sym typeface="Times New Roman"/>
                        </a:rPr>
                        <a:t>Gateway and backend delivery</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Packet through gateway to backend log</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Delivery success, latency</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8A6A00"/>
                        </a:buClr>
                        <a:buSzPts val="1250"/>
                        <a:buFont typeface="Times New Roman"/>
                        <a:buNone/>
                      </a:pPr>
                      <a:r>
                        <a:rPr lang="en-US" sz="1250" i="1" u="none" strike="noStrike" cap="none">
                          <a:solidFill>
                            <a:srgbClr val="8A6A00"/>
                          </a:solidFill>
                          <a:latin typeface="Times New Roman"/>
                          <a:ea typeface="Times New Roman"/>
                          <a:cs typeface="Times New Roman"/>
                          <a:sym typeface="Times New Roman"/>
                        </a:rPr>
                        <a:t>To be tested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04"/>
                  </a:ext>
                </a:extLst>
              </a:tr>
              <a:tr h="365750">
                <a:tc>
                  <a:txBody>
                    <a:bodyPr/>
                    <a:lstStyle/>
                    <a:p>
                      <a:pPr marL="0" marR="0" lvl="0" indent="0" algn="l" rtl="0">
                        <a:spcBef>
                          <a:spcPts val="0"/>
                        </a:spcBef>
                        <a:spcAft>
                          <a:spcPts val="0"/>
                        </a:spcAft>
                        <a:buClr>
                          <a:srgbClr val="3F4650"/>
                        </a:buClr>
                        <a:buSzPts val="1250"/>
                        <a:buFont typeface="Times New Roman"/>
                        <a:buNone/>
                      </a:pPr>
                      <a:r>
                        <a:rPr lang="en-US" sz="1250" b="1" u="none" strike="noStrike" cap="none">
                          <a:solidFill>
                            <a:srgbClr val="3F4650"/>
                          </a:solidFill>
                          <a:latin typeface="Times New Roman"/>
                          <a:ea typeface="Times New Roman"/>
                          <a:cs typeface="Times New Roman"/>
                          <a:sym typeface="Times New Roman"/>
                        </a:rPr>
                        <a:t>Nearest-facility lookup</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Compare output with known facility locations</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Correct facility returned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8A6A00"/>
                        </a:buClr>
                        <a:buSzPts val="1250"/>
                        <a:buFont typeface="Times New Roman"/>
                        <a:buNone/>
                      </a:pPr>
                      <a:r>
                        <a:rPr lang="en-US" sz="1250" i="1" u="none" strike="noStrike" cap="none">
                          <a:solidFill>
                            <a:srgbClr val="8A6A00"/>
                          </a:solidFill>
                          <a:latin typeface="Times New Roman"/>
                          <a:ea typeface="Times New Roman"/>
                          <a:cs typeface="Times New Roman"/>
                          <a:sym typeface="Times New Roman"/>
                        </a:rPr>
                        <a:t>To be tested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65750">
                <a:tc>
                  <a:txBody>
                    <a:bodyPr/>
                    <a:lstStyle/>
                    <a:p>
                      <a:pPr marL="0" marR="0" lvl="0" indent="0" algn="l" rtl="0">
                        <a:spcBef>
                          <a:spcPts val="0"/>
                        </a:spcBef>
                        <a:spcAft>
                          <a:spcPts val="0"/>
                        </a:spcAft>
                        <a:buClr>
                          <a:srgbClr val="3F4650"/>
                        </a:buClr>
                        <a:buSzPts val="1250"/>
                        <a:buFont typeface="Times New Roman"/>
                        <a:buNone/>
                      </a:pPr>
                      <a:r>
                        <a:rPr lang="en-US" sz="1250" b="1" u="none" strike="noStrike" cap="none">
                          <a:solidFill>
                            <a:srgbClr val="3F4650"/>
                          </a:solidFill>
                          <a:latin typeface="Times New Roman"/>
                          <a:ea typeface="Times New Roman"/>
                          <a:cs typeface="Times New Roman"/>
                          <a:sym typeface="Times New Roman"/>
                        </a:rPr>
                        <a:t>False-trigger and manual-cancel</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Everyday motion; cancel within the window</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False alerts, cancel success</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8A6A00"/>
                        </a:buClr>
                        <a:buSzPts val="1250"/>
                        <a:buFont typeface="Times New Roman"/>
                        <a:buNone/>
                      </a:pPr>
                      <a:r>
                        <a:rPr lang="en-US" sz="1250" i="1" u="none" strike="noStrike" cap="none">
                          <a:solidFill>
                            <a:srgbClr val="8A6A00"/>
                          </a:solidFill>
                          <a:latin typeface="Times New Roman"/>
                          <a:ea typeface="Times New Roman"/>
                          <a:cs typeface="Times New Roman"/>
                          <a:sym typeface="Times New Roman"/>
                        </a:rPr>
                        <a:t>To be tested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06"/>
                  </a:ext>
                </a:extLst>
              </a:tr>
              <a:tr h="365750">
                <a:tc>
                  <a:txBody>
                    <a:bodyPr/>
                    <a:lstStyle/>
                    <a:p>
                      <a:pPr marL="0" marR="0" lvl="0" indent="0" algn="l" rtl="0">
                        <a:spcBef>
                          <a:spcPts val="0"/>
                        </a:spcBef>
                        <a:spcAft>
                          <a:spcPts val="0"/>
                        </a:spcAft>
                        <a:buClr>
                          <a:srgbClr val="3F4650"/>
                        </a:buClr>
                        <a:buSzPts val="1250"/>
                        <a:buFont typeface="Times New Roman"/>
                        <a:buNone/>
                      </a:pPr>
                      <a:r>
                        <a:rPr lang="en-US" sz="1250" b="1" u="none" strike="noStrike" cap="none">
                          <a:solidFill>
                            <a:srgbClr val="3F4650"/>
                          </a:solidFill>
                          <a:latin typeface="Times New Roman"/>
                          <a:ea typeface="Times New Roman"/>
                          <a:cs typeface="Times New Roman"/>
                          <a:sym typeface="Times New Roman"/>
                        </a:rPr>
                        <a:t>Wearable sensor repeatability</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Repeated readings at known conditions</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Reading spread, drift</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8A6A00"/>
                        </a:buClr>
                        <a:buSzPts val="1250"/>
                        <a:buFont typeface="Times New Roman"/>
                        <a:buNone/>
                      </a:pPr>
                      <a:r>
                        <a:rPr lang="en-US" sz="1250" i="1" u="none" strike="noStrike" cap="none">
                          <a:solidFill>
                            <a:srgbClr val="8A6A00"/>
                          </a:solidFill>
                          <a:latin typeface="Times New Roman"/>
                          <a:ea typeface="Times New Roman"/>
                          <a:cs typeface="Times New Roman"/>
                          <a:sym typeface="Times New Roman"/>
                        </a:rPr>
                        <a:t>To be tested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65750">
                <a:tc>
                  <a:txBody>
                    <a:bodyPr/>
                    <a:lstStyle/>
                    <a:p>
                      <a:pPr marL="0" marR="0" lvl="0" indent="0" algn="l" rtl="0">
                        <a:spcBef>
                          <a:spcPts val="0"/>
                        </a:spcBef>
                        <a:spcAft>
                          <a:spcPts val="0"/>
                        </a:spcAft>
                        <a:buClr>
                          <a:srgbClr val="3F4650"/>
                        </a:buClr>
                        <a:buSzPts val="1250"/>
                        <a:buFont typeface="Times New Roman"/>
                        <a:buNone/>
                      </a:pPr>
                      <a:r>
                        <a:rPr lang="en-US" sz="1250" b="1" u="none" strike="noStrike" cap="none">
                          <a:solidFill>
                            <a:srgbClr val="3F4650"/>
                          </a:solidFill>
                          <a:latin typeface="Times New Roman"/>
                          <a:ea typeface="Times New Roman"/>
                          <a:cs typeface="Times New Roman"/>
                          <a:sym typeface="Times New Roman"/>
                        </a:rPr>
                        <a:t>AWTRA classification consistency</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Fixed input sets against expected bands</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Band agreement</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8A6A00"/>
                        </a:buClr>
                        <a:buSzPts val="1250"/>
                        <a:buFont typeface="Times New Roman"/>
                        <a:buNone/>
                      </a:pPr>
                      <a:r>
                        <a:rPr lang="en-US" sz="1250" i="1" u="none" strike="noStrike" cap="none">
                          <a:solidFill>
                            <a:srgbClr val="8A6A00"/>
                          </a:solidFill>
                          <a:latin typeface="Times New Roman"/>
                          <a:ea typeface="Times New Roman"/>
                          <a:cs typeface="Times New Roman"/>
                          <a:sym typeface="Times New Roman"/>
                        </a:rPr>
                        <a:t>To be tested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08"/>
                  </a:ext>
                </a:extLst>
              </a:tr>
              <a:tr h="365750">
                <a:tc>
                  <a:txBody>
                    <a:bodyPr/>
                    <a:lstStyle/>
                    <a:p>
                      <a:pPr marL="0" marR="0" lvl="0" indent="0" algn="l" rtl="0">
                        <a:spcBef>
                          <a:spcPts val="0"/>
                        </a:spcBef>
                        <a:spcAft>
                          <a:spcPts val="0"/>
                        </a:spcAft>
                        <a:buClr>
                          <a:srgbClr val="3F4650"/>
                        </a:buClr>
                        <a:buSzPts val="1250"/>
                        <a:buFont typeface="Times New Roman"/>
                        <a:buNone/>
                      </a:pPr>
                      <a:r>
                        <a:rPr lang="en-US" sz="1250" b="1" u="none" strike="noStrike" cap="none">
                          <a:solidFill>
                            <a:srgbClr val="3F4650"/>
                          </a:solidFill>
                          <a:latin typeface="Times New Roman"/>
                          <a:ea typeface="Times New Roman"/>
                          <a:cs typeface="Times New Roman"/>
                          <a:sym typeface="Times New Roman"/>
                        </a:rPr>
                        <a:t>Battery endurance</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Continuous operation to cutoff</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Operating hours</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8A6A00"/>
                        </a:buClr>
                        <a:buSzPts val="1250"/>
                        <a:buFont typeface="Times New Roman"/>
                        <a:buNone/>
                      </a:pPr>
                      <a:r>
                        <a:rPr lang="en-US" sz="1250" i="1" u="none" strike="noStrike" cap="none">
                          <a:solidFill>
                            <a:srgbClr val="8A6A00"/>
                          </a:solidFill>
                          <a:latin typeface="Times New Roman"/>
                          <a:ea typeface="Times New Roman"/>
                          <a:cs typeface="Times New Roman"/>
                          <a:sym typeface="Times New Roman"/>
                        </a:rPr>
                        <a:t>To be tested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365750">
                <a:tc>
                  <a:txBody>
                    <a:bodyPr/>
                    <a:lstStyle/>
                    <a:p>
                      <a:pPr marL="0" marR="0" lvl="0" indent="0" algn="l" rtl="0">
                        <a:spcBef>
                          <a:spcPts val="0"/>
                        </a:spcBef>
                        <a:spcAft>
                          <a:spcPts val="0"/>
                        </a:spcAft>
                        <a:buClr>
                          <a:srgbClr val="3F4650"/>
                        </a:buClr>
                        <a:buSzPts val="1250"/>
                        <a:buFont typeface="Times New Roman"/>
                        <a:buNone/>
                      </a:pPr>
                      <a:r>
                        <a:rPr lang="en-US" sz="1250" b="1" u="none" strike="noStrike" cap="none">
                          <a:solidFill>
                            <a:srgbClr val="3F4650"/>
                          </a:solidFill>
                          <a:latin typeface="Times New Roman"/>
                          <a:ea typeface="Times New Roman"/>
                          <a:cs typeface="Times New Roman"/>
                          <a:sym typeface="Times New Roman"/>
                        </a:rPr>
                        <a:t>Data access and communication security</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Authentication, encryption, access review</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3F4650"/>
                        </a:buClr>
                        <a:buSzPts val="1250"/>
                        <a:buFont typeface="Times New Roman"/>
                        <a:buNone/>
                      </a:pPr>
                      <a:r>
                        <a:rPr lang="en-US" sz="1250" u="none" strike="noStrike" cap="none">
                          <a:solidFill>
                            <a:srgbClr val="3F4650"/>
                          </a:solidFill>
                          <a:latin typeface="Times New Roman"/>
                          <a:ea typeface="Times New Roman"/>
                          <a:cs typeface="Times New Roman"/>
                          <a:sym typeface="Times New Roman"/>
                        </a:rPr>
                        <a:t>Unauthorized access blocked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Clr>
                          <a:srgbClr val="8A6A00"/>
                        </a:buClr>
                        <a:buSzPts val="1250"/>
                        <a:buFont typeface="Times New Roman"/>
                        <a:buNone/>
                      </a:pPr>
                      <a:r>
                        <a:rPr lang="en-US" sz="1250" i="1" u="none" strike="noStrike" cap="none">
                          <a:solidFill>
                            <a:srgbClr val="8A6A00"/>
                          </a:solidFill>
                          <a:latin typeface="Times New Roman"/>
                          <a:ea typeface="Times New Roman"/>
                          <a:cs typeface="Times New Roman"/>
                          <a:sym typeface="Times New Roman"/>
                        </a:rPr>
                        <a:t>To be tested</a:t>
                      </a:r>
                      <a:endParaRPr sz="1250" u="none" strike="noStrike" cap="none">
                        <a:latin typeface="Times New Roman"/>
                        <a:ea typeface="Times New Roman"/>
                        <a:cs typeface="Times New Roman"/>
                        <a:sym typeface="Times New Roman"/>
                      </a:endParaRPr>
                    </a:p>
                  </a:txBody>
                  <a:tcPr marL="54875" marR="54875" marT="54875" marB="54875" anchor="ctr">
                    <a:lnL w="9525" cap="flat" cmpd="sng">
                      <a:solidFill>
                        <a:srgbClr val="D5DDE6"/>
                      </a:solidFill>
                      <a:prstDash val="solid"/>
                      <a:round/>
                      <a:headEnd type="none" w="sm" len="sm"/>
                      <a:tailEnd type="none" w="sm" len="sm"/>
                    </a:lnL>
                    <a:lnR w="9525" cap="flat" cmpd="sng">
                      <a:solidFill>
                        <a:srgbClr val="D5DDE6"/>
                      </a:solidFill>
                      <a:prstDash val="solid"/>
                      <a:round/>
                      <a:headEnd type="none" w="sm" len="sm"/>
                      <a:tailEnd type="none" w="sm" len="sm"/>
                    </a:lnR>
                    <a:lnT w="9525" cap="flat" cmpd="sng">
                      <a:solidFill>
                        <a:srgbClr val="D5DDE6"/>
                      </a:solidFill>
                      <a:prstDash val="solid"/>
                      <a:round/>
                      <a:headEnd type="none" w="sm" len="sm"/>
                      <a:tailEnd type="none" w="sm" len="sm"/>
                    </a:lnT>
                    <a:lnB w="9525" cap="flat" cmpd="sng">
                      <a:solidFill>
                        <a:srgbClr val="D5DDE6"/>
                      </a:solidFill>
                      <a:prstDash val="solid"/>
                      <a:round/>
                      <a:headEnd type="none" w="sm" len="sm"/>
                      <a:tailEnd type="none" w="sm" len="sm"/>
                    </a:lnB>
                    <a:solidFill>
                      <a:srgbClr val="F1F5F9"/>
                    </a:solidFill>
                  </a:tcPr>
                </a:tc>
                <a:extLst>
                  <a:ext uri="{0D108BD9-81ED-4DB2-BD59-A6C34878D82A}">
                    <a16:rowId xmlns:a16="http://schemas.microsoft.com/office/drawing/2014/main" val="10010"/>
                  </a:ext>
                </a:extLst>
              </a:tr>
            </a:tbl>
          </a:graphicData>
        </a:graphic>
      </p:graphicFrame>
      <p:sp>
        <p:nvSpPr>
          <p:cNvPr id="495" name="Google Shape;495;p16"/>
          <p:cNvSpPr/>
          <p:nvPr/>
        </p:nvSpPr>
        <p:spPr>
          <a:xfrm>
            <a:off x="457200" y="5440680"/>
            <a:ext cx="11274552" cy="868680"/>
          </a:xfrm>
          <a:prstGeom prst="roundRect">
            <a:avLst>
              <a:gd name="adj" fmla="val 8421"/>
            </a:avLst>
          </a:prstGeom>
          <a:solidFill>
            <a:srgbClr val="FBF3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6"/>
          <p:cNvSpPr txBox="1"/>
          <p:nvPr/>
        </p:nvSpPr>
        <p:spPr>
          <a:xfrm>
            <a:off x="640080" y="5468112"/>
            <a:ext cx="1092708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6A00"/>
              </a:buClr>
              <a:buSzPts val="1450"/>
              <a:buFont typeface="Times New Roman"/>
              <a:buNone/>
            </a:pPr>
            <a:r>
              <a:rPr lang="en-US" sz="1450" b="1" i="0" u="none" strike="noStrike" cap="none">
                <a:solidFill>
                  <a:srgbClr val="8A6A00"/>
                </a:solidFill>
                <a:latin typeface="Times New Roman"/>
                <a:ea typeface="Times New Roman"/>
                <a:cs typeface="Times New Roman"/>
                <a:sym typeface="Times New Roman"/>
              </a:rPr>
              <a:t>Validation boundaries: </a:t>
            </a:r>
            <a:r>
              <a:rPr lang="en-US" sz="1450" b="0" i="0" u="none" strike="noStrike" cap="none">
                <a:solidFill>
                  <a:srgbClr val="3F4650"/>
                </a:solidFill>
                <a:latin typeface="Times New Roman"/>
                <a:ea typeface="Times New Roman"/>
                <a:cs typeface="Times New Roman"/>
                <a:sym typeface="Times New Roman"/>
              </a:rPr>
              <a:t>emergency use needs appropriate safety validation. Substance screening needs validated methods and confirmatory testing where legally required.</a:t>
            </a:r>
            <a:endParaRPr sz="145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1"/>
        <p:cNvGrpSpPr/>
        <p:nvPr/>
      </p:nvGrpSpPr>
      <p:grpSpPr>
        <a:xfrm>
          <a:off x="0" y="0"/>
          <a:ext cx="0" cy="0"/>
          <a:chOff x="0" y="0"/>
          <a:chExt cx="0" cy="0"/>
        </a:xfrm>
      </p:grpSpPr>
      <p:sp>
        <p:nvSpPr>
          <p:cNvPr id="502" name="Google Shape;502;p17"/>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dirty="0">
                <a:solidFill>
                  <a:srgbClr val="17365D"/>
                </a:solidFill>
                <a:latin typeface="Times New Roman"/>
                <a:ea typeface="Times New Roman"/>
                <a:cs typeface="Times New Roman"/>
                <a:sym typeface="Times New Roman"/>
              </a:rPr>
              <a:t>Prototype</a:t>
            </a:r>
            <a:endParaRPr sz="3000" b="0" i="0" u="none" strike="noStrike" cap="none" dirty="0">
              <a:solidFill>
                <a:schemeClr val="dk1"/>
              </a:solidFill>
              <a:latin typeface="Times New Roman"/>
              <a:ea typeface="Times New Roman"/>
              <a:cs typeface="Times New Roman"/>
              <a:sym typeface="Times New Roman"/>
            </a:endParaRPr>
          </a:p>
        </p:txBody>
      </p:sp>
      <p:sp>
        <p:nvSpPr>
          <p:cNvPr id="503" name="Google Shape;503;p17"/>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504" name="Google Shape;504;p17"/>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15</a:t>
            </a:r>
            <a:endParaRPr sz="1100" b="0" i="0" u="none" strike="noStrike" cap="none">
              <a:solidFill>
                <a:schemeClr val="dk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7908CD01-B98E-F683-F92D-ACFA41F549FF}"/>
              </a:ext>
            </a:extLst>
          </p:cNvPr>
          <p:cNvPicPr>
            <a:picLocks noChangeAspect="1"/>
          </p:cNvPicPr>
          <p:nvPr/>
        </p:nvPicPr>
        <p:blipFill>
          <a:blip r:embed="rId3"/>
          <a:srcRect l="10574" r="10000" b="10523"/>
          <a:stretch>
            <a:fillRect/>
          </a:stretch>
        </p:blipFill>
        <p:spPr>
          <a:xfrm rot="16200000">
            <a:off x="-471357" y="2502457"/>
            <a:ext cx="4582228" cy="2383437"/>
          </a:xfrm>
          <a:prstGeom prst="rect">
            <a:avLst/>
          </a:prstGeom>
        </p:spPr>
      </p:pic>
      <p:pic>
        <p:nvPicPr>
          <p:cNvPr id="3" name="Picture 2">
            <a:extLst>
              <a:ext uri="{FF2B5EF4-FFF2-40B4-BE49-F238E27FC236}">
                <a16:creationId xmlns:a16="http://schemas.microsoft.com/office/drawing/2014/main" id="{43D60606-3DD8-054A-7E97-F187A63DAB57}"/>
              </a:ext>
            </a:extLst>
          </p:cNvPr>
          <p:cNvPicPr>
            <a:picLocks noChangeAspect="1"/>
          </p:cNvPicPr>
          <p:nvPr/>
        </p:nvPicPr>
        <p:blipFill>
          <a:blip r:embed="rId4"/>
          <a:srcRect t="3734" r="30164" b="12724"/>
          <a:stretch>
            <a:fillRect/>
          </a:stretch>
        </p:blipFill>
        <p:spPr>
          <a:xfrm flipH="1">
            <a:off x="3476171" y="564371"/>
            <a:ext cx="8514413" cy="572925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1">
          <a:extLst>
            <a:ext uri="{FF2B5EF4-FFF2-40B4-BE49-F238E27FC236}">
              <a16:creationId xmlns:a16="http://schemas.microsoft.com/office/drawing/2014/main" id="{5AC1A08B-CCC1-CFB5-156C-DDCFBDE21108}"/>
            </a:ext>
          </a:extLst>
        </p:cNvPr>
        <p:cNvGrpSpPr/>
        <p:nvPr/>
      </p:nvGrpSpPr>
      <p:grpSpPr>
        <a:xfrm>
          <a:off x="0" y="0"/>
          <a:ext cx="0" cy="0"/>
          <a:chOff x="0" y="0"/>
          <a:chExt cx="0" cy="0"/>
        </a:xfrm>
      </p:grpSpPr>
      <p:sp>
        <p:nvSpPr>
          <p:cNvPr id="502" name="Google Shape;502;p17">
            <a:extLst>
              <a:ext uri="{FF2B5EF4-FFF2-40B4-BE49-F238E27FC236}">
                <a16:creationId xmlns:a16="http://schemas.microsoft.com/office/drawing/2014/main" id="{0BB2AEF1-A98F-C6FB-B3CC-76ECBD8A3F17}"/>
              </a:ext>
            </a:extLst>
          </p:cNvPr>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dirty="0">
                <a:solidFill>
                  <a:srgbClr val="17365D"/>
                </a:solidFill>
                <a:latin typeface="Times New Roman"/>
                <a:ea typeface="Times New Roman"/>
                <a:cs typeface="Times New Roman"/>
                <a:sym typeface="Times New Roman"/>
              </a:rPr>
              <a:t>Prototype Demo Video </a:t>
            </a:r>
            <a:endParaRPr sz="3000" b="0" i="0" u="none" strike="noStrike" cap="none" dirty="0">
              <a:solidFill>
                <a:schemeClr val="dk1"/>
              </a:solidFill>
              <a:latin typeface="Times New Roman"/>
              <a:ea typeface="Times New Roman"/>
              <a:cs typeface="Times New Roman"/>
              <a:sym typeface="Times New Roman"/>
            </a:endParaRPr>
          </a:p>
        </p:txBody>
      </p:sp>
      <p:sp>
        <p:nvSpPr>
          <p:cNvPr id="503" name="Google Shape;503;p17">
            <a:extLst>
              <a:ext uri="{FF2B5EF4-FFF2-40B4-BE49-F238E27FC236}">
                <a16:creationId xmlns:a16="http://schemas.microsoft.com/office/drawing/2014/main" id="{C7E8688B-6BE7-C990-0477-B2EA4A379E9A}"/>
              </a:ext>
            </a:extLst>
          </p:cNvPr>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504" name="Google Shape;504;p17">
            <a:extLst>
              <a:ext uri="{FF2B5EF4-FFF2-40B4-BE49-F238E27FC236}">
                <a16:creationId xmlns:a16="http://schemas.microsoft.com/office/drawing/2014/main" id="{A0E0EDE4-BFA3-37CA-F36F-0955E4594C1D}"/>
              </a:ext>
            </a:extLst>
          </p:cNvPr>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15</a:t>
            </a:r>
            <a:endParaRPr sz="1100" b="0" i="0" u="none" strike="noStrike" cap="none">
              <a:solidFill>
                <a:schemeClr val="dk1"/>
              </a:solidFill>
              <a:latin typeface="Times New Roman"/>
              <a:ea typeface="Times New Roman"/>
              <a:cs typeface="Times New Roman"/>
              <a:sym typeface="Times New Roman"/>
            </a:endParaRPr>
          </a:p>
        </p:txBody>
      </p:sp>
      <p:pic>
        <p:nvPicPr>
          <p:cNvPr id="2" name="WhatsApp Video 2026-10-09 at 12.14.25 PM">
            <a:hlinkClick r:id="" action="ppaction://media"/>
            <a:extLst>
              <a:ext uri="{FF2B5EF4-FFF2-40B4-BE49-F238E27FC236}">
                <a16:creationId xmlns:a16="http://schemas.microsoft.com/office/drawing/2014/main" id="{42DBC7E1-4E55-9B5D-2FA0-AF949BD6152D}"/>
              </a:ext>
            </a:extLst>
          </p:cNvPr>
          <p:cNvPicPr>
            <a:picLocks noChangeAspect="1"/>
          </p:cNvPicPr>
          <p:nvPr>
            <a:videoFile r:link="rId2"/>
            <p:extLst>
              <p:ext uri="{DAA4B4D4-6D71-4841-9C94-3DE7FCFB9230}">
                <p14:media xmlns:p14="http://schemas.microsoft.com/office/powerpoint/2010/main" r:embed="rId1"/>
              </p:ext>
            </p:extLst>
          </p:nvPr>
        </p:nvPicPr>
        <p:blipFill>
          <a:blip r:embed="rId5">
            <a:lum contrast="40000"/>
          </a:blip>
          <a:stretch>
            <a:fillRect/>
          </a:stretch>
        </p:blipFill>
        <p:spPr>
          <a:xfrm rot="16200000">
            <a:off x="3789417" y="-550648"/>
            <a:ext cx="4610117" cy="8199137"/>
          </a:xfrm>
          <a:prstGeom prst="rect">
            <a:avLst/>
          </a:prstGeom>
        </p:spPr>
      </p:pic>
    </p:spTree>
    <p:extLst>
      <p:ext uri="{BB962C8B-B14F-4D97-AF65-F5344CB8AC3E}">
        <p14:creationId xmlns:p14="http://schemas.microsoft.com/office/powerpoint/2010/main" val="282469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206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2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1">
          <a:extLst>
            <a:ext uri="{FF2B5EF4-FFF2-40B4-BE49-F238E27FC236}">
              <a16:creationId xmlns:a16="http://schemas.microsoft.com/office/drawing/2014/main" id="{9A1466F6-3207-FE32-2676-A8A0CD7C3809}"/>
            </a:ext>
          </a:extLst>
        </p:cNvPr>
        <p:cNvGrpSpPr/>
        <p:nvPr/>
      </p:nvGrpSpPr>
      <p:grpSpPr>
        <a:xfrm>
          <a:off x="0" y="0"/>
          <a:ext cx="0" cy="0"/>
          <a:chOff x="0" y="0"/>
          <a:chExt cx="0" cy="0"/>
        </a:xfrm>
      </p:grpSpPr>
      <p:sp>
        <p:nvSpPr>
          <p:cNvPr id="532" name="Google Shape;532;p18">
            <a:extLst>
              <a:ext uri="{FF2B5EF4-FFF2-40B4-BE49-F238E27FC236}">
                <a16:creationId xmlns:a16="http://schemas.microsoft.com/office/drawing/2014/main" id="{34D52C4A-20EC-4738-FD48-422921ED2D65}"/>
              </a:ext>
            </a:extLst>
          </p:cNvPr>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dirty="0">
                <a:solidFill>
                  <a:srgbClr val="17365D"/>
                </a:solidFill>
                <a:latin typeface="Times New Roman"/>
                <a:ea typeface="Times New Roman"/>
                <a:cs typeface="Times New Roman"/>
                <a:sym typeface="Times New Roman"/>
              </a:rPr>
              <a:t>SDG Goal </a:t>
            </a:r>
            <a:endParaRPr sz="3000" b="0" i="0" u="none" strike="noStrike" cap="none" dirty="0">
              <a:solidFill>
                <a:schemeClr val="dk1"/>
              </a:solidFill>
              <a:latin typeface="Times New Roman"/>
              <a:ea typeface="Times New Roman"/>
              <a:cs typeface="Times New Roman"/>
              <a:sym typeface="Times New Roman"/>
            </a:endParaRPr>
          </a:p>
        </p:txBody>
      </p:sp>
      <p:sp>
        <p:nvSpPr>
          <p:cNvPr id="533" name="Google Shape;533;p18">
            <a:extLst>
              <a:ext uri="{FF2B5EF4-FFF2-40B4-BE49-F238E27FC236}">
                <a16:creationId xmlns:a16="http://schemas.microsoft.com/office/drawing/2014/main" id="{9A2C6B1E-5D1E-EC24-E689-6BEAB7BCC3AC}"/>
              </a:ext>
            </a:extLst>
          </p:cNvPr>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dirty="0">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dirty="0">
              <a:solidFill>
                <a:schemeClr val="dk1"/>
              </a:solidFill>
              <a:latin typeface="Times New Roman"/>
              <a:ea typeface="Times New Roman"/>
              <a:cs typeface="Times New Roman"/>
              <a:sym typeface="Times New Roman"/>
            </a:endParaRPr>
          </a:p>
        </p:txBody>
      </p:sp>
      <p:sp>
        <p:nvSpPr>
          <p:cNvPr id="534" name="Google Shape;534;p18">
            <a:extLst>
              <a:ext uri="{FF2B5EF4-FFF2-40B4-BE49-F238E27FC236}">
                <a16:creationId xmlns:a16="http://schemas.microsoft.com/office/drawing/2014/main" id="{9A6D3175-9C66-52F2-9469-CAFC580222AD}"/>
              </a:ext>
            </a:extLst>
          </p:cNvPr>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16</a:t>
            </a:r>
            <a:endParaRPr sz="1100" b="0" i="0" u="none" strike="noStrike" cap="none">
              <a:solidFill>
                <a:schemeClr val="dk1"/>
              </a:solidFill>
              <a:latin typeface="Times New Roman"/>
              <a:ea typeface="Times New Roman"/>
              <a:cs typeface="Times New Roman"/>
              <a:sym typeface="Times New Roman"/>
            </a:endParaRPr>
          </a:p>
        </p:txBody>
      </p:sp>
      <p:sp>
        <p:nvSpPr>
          <p:cNvPr id="535" name="Google Shape;535;p18">
            <a:extLst>
              <a:ext uri="{FF2B5EF4-FFF2-40B4-BE49-F238E27FC236}">
                <a16:creationId xmlns:a16="http://schemas.microsoft.com/office/drawing/2014/main" id="{6B89020D-8E67-CAE7-B3DF-82E65062D95B}"/>
              </a:ext>
            </a:extLst>
          </p:cNvPr>
          <p:cNvSpPr/>
          <p:nvPr/>
        </p:nvSpPr>
        <p:spPr>
          <a:xfrm>
            <a:off x="457200" y="1371600"/>
            <a:ext cx="502920" cy="502920"/>
          </a:xfrm>
          <a:prstGeom prst="ellipse">
            <a:avLst/>
          </a:prstGeom>
          <a:solidFill>
            <a:srgbClr val="4C9F38"/>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dirty="0">
                <a:solidFill>
                  <a:srgbClr val="FFFFFF"/>
                </a:solidFill>
                <a:latin typeface="Times New Roman"/>
                <a:ea typeface="Times New Roman"/>
                <a:cs typeface="Times New Roman"/>
                <a:sym typeface="Times New Roman"/>
              </a:rPr>
              <a:t>1</a:t>
            </a:r>
            <a:endParaRPr sz="1700" b="0" i="0" u="none" strike="noStrike" cap="none" dirty="0">
              <a:solidFill>
                <a:schemeClr val="dk1"/>
              </a:solidFill>
              <a:latin typeface="Times New Roman"/>
              <a:ea typeface="Times New Roman"/>
              <a:cs typeface="Times New Roman"/>
              <a:sym typeface="Times New Roman"/>
            </a:endParaRPr>
          </a:p>
        </p:txBody>
      </p:sp>
      <p:sp>
        <p:nvSpPr>
          <p:cNvPr id="536" name="Google Shape;536;p18">
            <a:extLst>
              <a:ext uri="{FF2B5EF4-FFF2-40B4-BE49-F238E27FC236}">
                <a16:creationId xmlns:a16="http://schemas.microsoft.com/office/drawing/2014/main" id="{3B376963-6095-2769-9151-BDB1B53B8080}"/>
              </a:ext>
            </a:extLst>
          </p:cNvPr>
          <p:cNvSpPr txBox="1"/>
          <p:nvPr/>
        </p:nvSpPr>
        <p:spPr>
          <a:xfrm>
            <a:off x="1188720" y="1188720"/>
            <a:ext cx="6035040" cy="1097280"/>
          </a:xfrm>
          <a:prstGeom prst="rect">
            <a:avLst/>
          </a:prstGeom>
          <a:noFill/>
          <a:ln>
            <a:noFill/>
          </a:ln>
        </p:spPr>
        <p:txBody>
          <a:bodyPr spcFirstLastPara="1" wrap="square" lIns="0" tIns="0" rIns="0" bIns="0" anchor="ctr" anchorCtr="0">
            <a:noAutofit/>
          </a:bodyPr>
          <a:lstStyle/>
          <a:p>
            <a:pPr lvl="0">
              <a:buClr>
                <a:srgbClr val="3F4650"/>
              </a:buClr>
              <a:buSzPts val="1650"/>
            </a:pPr>
            <a:r>
              <a:rPr lang="en-IN" sz="1650" b="1" dirty="0">
                <a:solidFill>
                  <a:srgbClr val="595F67"/>
                </a:solidFill>
                <a:latin typeface="Times New Roman" panose="02020603050405020304" pitchFamily="18" charset="0"/>
                <a:ea typeface="Tahoma" panose="020B0604030504040204" pitchFamily="34" charset="0"/>
                <a:cs typeface="Times New Roman" panose="02020603050405020304" pitchFamily="18" charset="0"/>
              </a:rPr>
              <a:t>SDG 3</a:t>
            </a:r>
            <a:r>
              <a:rPr lang="en-IN" sz="1650" dirty="0">
                <a:solidFill>
                  <a:srgbClr val="595F67"/>
                </a:solidFill>
                <a:latin typeface="Times New Roman" panose="02020603050405020304" pitchFamily="18" charset="0"/>
                <a:ea typeface="Tahoma" panose="020B0604030504040204" pitchFamily="34" charset="0"/>
                <a:cs typeface="Times New Roman" panose="02020603050405020304" pitchFamily="18" charset="0"/>
              </a:rPr>
              <a:t> – Good Health and Well-Being: “Promoting health, safety, and faster emergency response.”</a:t>
            </a:r>
            <a:endParaRPr lang="en-IN" sz="1650" i="0" u="none" strike="noStrike" cap="none" dirty="0">
              <a:solidFill>
                <a:srgbClr val="595F67"/>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p:txBody>
      </p:sp>
      <p:sp>
        <p:nvSpPr>
          <p:cNvPr id="537" name="Google Shape;537;p18">
            <a:extLst>
              <a:ext uri="{FF2B5EF4-FFF2-40B4-BE49-F238E27FC236}">
                <a16:creationId xmlns:a16="http://schemas.microsoft.com/office/drawing/2014/main" id="{CE78F481-ACBD-62BB-C197-C35F33C2703C}"/>
              </a:ext>
            </a:extLst>
          </p:cNvPr>
          <p:cNvSpPr/>
          <p:nvPr/>
        </p:nvSpPr>
        <p:spPr>
          <a:xfrm>
            <a:off x="457200" y="2651760"/>
            <a:ext cx="502920" cy="502920"/>
          </a:xfrm>
          <a:prstGeom prst="ellipse">
            <a:avLst/>
          </a:prstGeom>
          <a:solidFill>
            <a:srgbClr val="8F1838"/>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2</a:t>
            </a:r>
            <a:endParaRPr sz="1700" b="0" i="0" u="none" strike="noStrike" cap="none">
              <a:solidFill>
                <a:schemeClr val="dk1"/>
              </a:solidFill>
              <a:latin typeface="Times New Roman"/>
              <a:ea typeface="Times New Roman"/>
              <a:cs typeface="Times New Roman"/>
              <a:sym typeface="Times New Roman"/>
            </a:endParaRPr>
          </a:p>
        </p:txBody>
      </p:sp>
      <p:sp>
        <p:nvSpPr>
          <p:cNvPr id="538" name="Google Shape;538;p18">
            <a:extLst>
              <a:ext uri="{FF2B5EF4-FFF2-40B4-BE49-F238E27FC236}">
                <a16:creationId xmlns:a16="http://schemas.microsoft.com/office/drawing/2014/main" id="{06EB2871-23B8-90B1-0F5D-26DC78C5C295}"/>
              </a:ext>
            </a:extLst>
          </p:cNvPr>
          <p:cNvSpPr txBox="1"/>
          <p:nvPr/>
        </p:nvSpPr>
        <p:spPr>
          <a:xfrm>
            <a:off x="1188720" y="2468880"/>
            <a:ext cx="6035040" cy="1097280"/>
          </a:xfrm>
          <a:prstGeom prst="rect">
            <a:avLst/>
          </a:prstGeom>
          <a:noFill/>
          <a:ln>
            <a:noFill/>
          </a:ln>
        </p:spPr>
        <p:txBody>
          <a:bodyPr spcFirstLastPara="1" wrap="square" lIns="0" tIns="0" rIns="0" bIns="0" anchor="ctr" anchorCtr="0">
            <a:noAutofit/>
          </a:bodyPr>
          <a:lstStyle/>
          <a:p>
            <a:pPr lvl="0">
              <a:buClr>
                <a:srgbClr val="3F4650"/>
              </a:buClr>
              <a:buSzPts val="1650"/>
            </a:pPr>
            <a:r>
              <a:rPr lang="en-IN" sz="1650" b="1" dirty="0">
                <a:solidFill>
                  <a:srgbClr val="3F4650"/>
                </a:solidFill>
                <a:latin typeface="Times New Roman"/>
                <a:ea typeface="Times New Roman"/>
                <a:cs typeface="Times New Roman"/>
                <a:sym typeface="Times New Roman"/>
              </a:rPr>
              <a:t>SDG 8</a:t>
            </a:r>
            <a:r>
              <a:rPr lang="en-IN" sz="1650" dirty="0">
                <a:solidFill>
                  <a:srgbClr val="3F4650"/>
                </a:solidFill>
                <a:latin typeface="Times New Roman"/>
                <a:ea typeface="Times New Roman"/>
                <a:cs typeface="Times New Roman"/>
                <a:sym typeface="Times New Roman"/>
              </a:rPr>
              <a:t> – Decent Work and Economic Growth: “Supporting safer workplaces through portable wearable screening.”</a:t>
            </a:r>
            <a:endParaRPr lang="en-IN" sz="1650" dirty="0">
              <a:solidFill>
                <a:schemeClr val="dk1"/>
              </a:solidFill>
              <a:latin typeface="Times New Roman"/>
              <a:ea typeface="Times New Roman"/>
              <a:cs typeface="Times New Roman"/>
              <a:sym typeface="Times New Roman"/>
            </a:endParaRPr>
          </a:p>
        </p:txBody>
      </p:sp>
      <p:sp>
        <p:nvSpPr>
          <p:cNvPr id="539" name="Google Shape;539;p18">
            <a:extLst>
              <a:ext uri="{FF2B5EF4-FFF2-40B4-BE49-F238E27FC236}">
                <a16:creationId xmlns:a16="http://schemas.microsoft.com/office/drawing/2014/main" id="{DF72ACE1-6F04-A33F-86C7-61435A6E8F07}"/>
              </a:ext>
            </a:extLst>
          </p:cNvPr>
          <p:cNvSpPr/>
          <p:nvPr/>
        </p:nvSpPr>
        <p:spPr>
          <a:xfrm>
            <a:off x="457200" y="3931920"/>
            <a:ext cx="502920" cy="502920"/>
          </a:xfrm>
          <a:prstGeom prst="ellipse">
            <a:avLst/>
          </a:prstGeom>
          <a:solidFill>
            <a:srgbClr val="F36D25"/>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3</a:t>
            </a:r>
            <a:endParaRPr sz="1700" b="0" i="0" u="none" strike="noStrike" cap="none">
              <a:solidFill>
                <a:schemeClr val="dk1"/>
              </a:solidFill>
              <a:latin typeface="Times New Roman"/>
              <a:ea typeface="Times New Roman"/>
              <a:cs typeface="Times New Roman"/>
              <a:sym typeface="Times New Roman"/>
            </a:endParaRPr>
          </a:p>
        </p:txBody>
      </p:sp>
      <p:sp>
        <p:nvSpPr>
          <p:cNvPr id="540" name="Google Shape;540;p18">
            <a:extLst>
              <a:ext uri="{FF2B5EF4-FFF2-40B4-BE49-F238E27FC236}">
                <a16:creationId xmlns:a16="http://schemas.microsoft.com/office/drawing/2014/main" id="{C74C78EF-83DF-CF3E-FAD8-C00CCC5182D5}"/>
              </a:ext>
            </a:extLst>
          </p:cNvPr>
          <p:cNvSpPr txBox="1"/>
          <p:nvPr/>
        </p:nvSpPr>
        <p:spPr>
          <a:xfrm>
            <a:off x="1188720" y="3749040"/>
            <a:ext cx="6035040" cy="1097280"/>
          </a:xfrm>
          <a:prstGeom prst="rect">
            <a:avLst/>
          </a:prstGeom>
          <a:noFill/>
          <a:ln>
            <a:noFill/>
          </a:ln>
        </p:spPr>
        <p:txBody>
          <a:bodyPr spcFirstLastPara="1" wrap="square" lIns="0" tIns="0" rIns="0" bIns="0" anchor="ctr" anchorCtr="0">
            <a:noAutofit/>
          </a:bodyPr>
          <a:lstStyle/>
          <a:p>
            <a:pPr lvl="0">
              <a:buClr>
                <a:srgbClr val="3F4650"/>
              </a:buClr>
              <a:buSzPts val="1650"/>
            </a:pPr>
            <a:r>
              <a:rPr lang="en-IN" sz="1650" b="1" dirty="0">
                <a:solidFill>
                  <a:srgbClr val="3F4650"/>
                </a:solidFill>
                <a:latin typeface="Times New Roman"/>
                <a:ea typeface="Times New Roman"/>
                <a:cs typeface="Times New Roman"/>
                <a:sym typeface="Times New Roman"/>
              </a:rPr>
              <a:t>SDG 9</a:t>
            </a:r>
            <a:r>
              <a:rPr lang="en-IN" sz="1650" dirty="0">
                <a:solidFill>
                  <a:srgbClr val="3F4650"/>
                </a:solidFill>
                <a:latin typeface="Times New Roman"/>
                <a:ea typeface="Times New Roman"/>
                <a:cs typeface="Times New Roman"/>
                <a:sym typeface="Times New Roman"/>
              </a:rPr>
              <a:t> – Industry, Innovation and Infrastructure: “Driving innovation through smart IoT and LoRa technology.”</a:t>
            </a:r>
            <a:endParaRPr lang="en-IN" sz="1650" dirty="0">
              <a:solidFill>
                <a:schemeClr val="dk1"/>
              </a:solidFill>
              <a:latin typeface="Times New Roman"/>
              <a:ea typeface="Times New Roman"/>
              <a:cs typeface="Times New Roman"/>
              <a:sym typeface="Times New Roman"/>
            </a:endParaRPr>
          </a:p>
        </p:txBody>
      </p:sp>
      <p:sp>
        <p:nvSpPr>
          <p:cNvPr id="541" name="Google Shape;541;p18">
            <a:extLst>
              <a:ext uri="{FF2B5EF4-FFF2-40B4-BE49-F238E27FC236}">
                <a16:creationId xmlns:a16="http://schemas.microsoft.com/office/drawing/2014/main" id="{A2CBC36E-A568-491B-D42A-B5A726AD3C43}"/>
              </a:ext>
            </a:extLst>
          </p:cNvPr>
          <p:cNvSpPr/>
          <p:nvPr/>
        </p:nvSpPr>
        <p:spPr>
          <a:xfrm>
            <a:off x="457200" y="5212080"/>
            <a:ext cx="502920" cy="502920"/>
          </a:xfrm>
          <a:prstGeom prst="ellipse">
            <a:avLst/>
          </a:prstGeom>
          <a:solidFill>
            <a:srgbClr val="F99D26"/>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dirty="0">
                <a:solidFill>
                  <a:srgbClr val="FFFFFF"/>
                </a:solidFill>
                <a:latin typeface="Times New Roman"/>
                <a:ea typeface="Times New Roman"/>
                <a:cs typeface="Times New Roman"/>
                <a:sym typeface="Times New Roman"/>
              </a:rPr>
              <a:t>4</a:t>
            </a:r>
            <a:endParaRPr sz="1700" b="0" i="0" u="none" strike="noStrike" cap="none" dirty="0">
              <a:solidFill>
                <a:schemeClr val="dk1"/>
              </a:solidFill>
              <a:latin typeface="Times New Roman"/>
              <a:ea typeface="Times New Roman"/>
              <a:cs typeface="Times New Roman"/>
              <a:sym typeface="Times New Roman"/>
            </a:endParaRPr>
          </a:p>
        </p:txBody>
      </p:sp>
      <p:sp>
        <p:nvSpPr>
          <p:cNvPr id="542" name="Google Shape;542;p18">
            <a:extLst>
              <a:ext uri="{FF2B5EF4-FFF2-40B4-BE49-F238E27FC236}">
                <a16:creationId xmlns:a16="http://schemas.microsoft.com/office/drawing/2014/main" id="{0D1A4DB6-AF66-ED2F-B393-9BD1C282DB0D}"/>
              </a:ext>
            </a:extLst>
          </p:cNvPr>
          <p:cNvSpPr txBox="1"/>
          <p:nvPr/>
        </p:nvSpPr>
        <p:spPr>
          <a:xfrm>
            <a:off x="1188720" y="5029200"/>
            <a:ext cx="6035040" cy="1097280"/>
          </a:xfrm>
          <a:prstGeom prst="rect">
            <a:avLst/>
          </a:prstGeom>
          <a:noFill/>
          <a:ln>
            <a:noFill/>
          </a:ln>
        </p:spPr>
        <p:txBody>
          <a:bodyPr spcFirstLastPara="1" wrap="square" lIns="0" tIns="0" rIns="0" bIns="0" anchor="ctr" anchorCtr="0">
            <a:noAutofit/>
          </a:bodyPr>
          <a:lstStyle/>
          <a:p>
            <a:pPr lvl="0">
              <a:buClr>
                <a:srgbClr val="3F4650"/>
              </a:buClr>
              <a:buSzPts val="1650"/>
            </a:pPr>
            <a:r>
              <a:rPr lang="en-IN" sz="1650" b="1" dirty="0">
                <a:solidFill>
                  <a:srgbClr val="3F4650"/>
                </a:solidFill>
                <a:latin typeface="Times New Roman"/>
                <a:ea typeface="Times New Roman"/>
                <a:cs typeface="Times New Roman"/>
                <a:sym typeface="Times New Roman"/>
              </a:rPr>
              <a:t>SDG 11</a:t>
            </a:r>
            <a:r>
              <a:rPr lang="en-IN" sz="1650" dirty="0">
                <a:solidFill>
                  <a:srgbClr val="3F4650"/>
                </a:solidFill>
                <a:latin typeface="Times New Roman"/>
                <a:ea typeface="Times New Roman"/>
                <a:cs typeface="Times New Roman"/>
                <a:sym typeface="Times New Roman"/>
              </a:rPr>
              <a:t> – Sustainable Cities and Communities: “Building safer communities through intelligent accident alerts.”</a:t>
            </a:r>
            <a:endParaRPr lang="en-IN" sz="1650" dirty="0">
              <a:solidFill>
                <a:schemeClr val="dk1"/>
              </a:solidFill>
              <a:latin typeface="Times New Roman"/>
              <a:ea typeface="Times New Roman"/>
              <a:cs typeface="Times New Roman"/>
              <a:sym typeface="Times New Roman"/>
            </a:endParaRPr>
          </a:p>
        </p:txBody>
      </p:sp>
      <p:sp>
        <p:nvSpPr>
          <p:cNvPr id="543" name="Google Shape;543;p18">
            <a:extLst>
              <a:ext uri="{FF2B5EF4-FFF2-40B4-BE49-F238E27FC236}">
                <a16:creationId xmlns:a16="http://schemas.microsoft.com/office/drawing/2014/main" id="{7838FEE2-9D61-8A7A-6578-4F19252C62D0}"/>
              </a:ext>
            </a:extLst>
          </p:cNvPr>
          <p:cNvSpPr/>
          <p:nvPr/>
        </p:nvSpPr>
        <p:spPr>
          <a:xfrm>
            <a:off x="7589520" y="1188720"/>
            <a:ext cx="4142232" cy="4937760"/>
          </a:xfrm>
          <a:prstGeom prst="roundRect">
            <a:avLst>
              <a:gd name="adj" fmla="val 1766"/>
            </a:avLst>
          </a:prstGeom>
          <a:solidFill>
            <a:srgbClr val="F1F5F9"/>
          </a:solidFill>
          <a:ln>
            <a:solidFill>
              <a:schemeClr val="accent5">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6972CBBD-FA70-21A3-7BA0-3B311F7AEEE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770695" y="1602456"/>
            <a:ext cx="1800000" cy="1800000"/>
          </a:xfrm>
          <a:prstGeom prst="rect">
            <a:avLst/>
          </a:prstGeom>
          <a:ln>
            <a:noFill/>
          </a:ln>
        </p:spPr>
      </p:pic>
      <p:pic>
        <p:nvPicPr>
          <p:cNvPr id="6" name="Picture 5">
            <a:extLst>
              <a:ext uri="{FF2B5EF4-FFF2-40B4-BE49-F238E27FC236}">
                <a16:creationId xmlns:a16="http://schemas.microsoft.com/office/drawing/2014/main" id="{9AC14A25-BBCB-AA01-0741-3A98A617EAB4}"/>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7770695" y="3869280"/>
            <a:ext cx="1800000" cy="1800000"/>
          </a:xfrm>
          <a:prstGeom prst="rect">
            <a:avLst/>
          </a:prstGeom>
          <a:ln>
            <a:noFill/>
          </a:ln>
        </p:spPr>
      </p:pic>
      <p:pic>
        <p:nvPicPr>
          <p:cNvPr id="9" name="Picture 8">
            <a:extLst>
              <a:ext uri="{FF2B5EF4-FFF2-40B4-BE49-F238E27FC236}">
                <a16:creationId xmlns:a16="http://schemas.microsoft.com/office/drawing/2014/main" id="{A4FB8DE1-C8C3-A9D7-2320-57FAEF6528B0}"/>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9706253" y="1602456"/>
            <a:ext cx="1800000" cy="1800000"/>
          </a:xfrm>
          <a:prstGeom prst="rect">
            <a:avLst/>
          </a:prstGeom>
          <a:ln>
            <a:noFill/>
          </a:ln>
        </p:spPr>
      </p:pic>
      <p:pic>
        <p:nvPicPr>
          <p:cNvPr id="11" name="Picture 10">
            <a:extLst>
              <a:ext uri="{FF2B5EF4-FFF2-40B4-BE49-F238E27FC236}">
                <a16:creationId xmlns:a16="http://schemas.microsoft.com/office/drawing/2014/main" id="{E22FC9EC-F370-4A5E-9AE2-9C8B846E334B}"/>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9796194" y="3869280"/>
            <a:ext cx="1800000" cy="1800000"/>
          </a:xfrm>
          <a:prstGeom prst="rect">
            <a:avLst/>
          </a:prstGeom>
          <a:ln>
            <a:noFill/>
          </a:ln>
        </p:spPr>
      </p:pic>
    </p:spTree>
    <p:extLst>
      <p:ext uri="{BB962C8B-B14F-4D97-AF65-F5344CB8AC3E}">
        <p14:creationId xmlns:p14="http://schemas.microsoft.com/office/powerpoint/2010/main" val="590965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1">
          <a:extLst>
            <a:ext uri="{FF2B5EF4-FFF2-40B4-BE49-F238E27FC236}">
              <a16:creationId xmlns:a16="http://schemas.microsoft.com/office/drawing/2014/main" id="{5023751F-94F5-C1E0-076E-E37688D80AA8}"/>
            </a:ext>
          </a:extLst>
        </p:cNvPr>
        <p:cNvGrpSpPr/>
        <p:nvPr/>
      </p:nvGrpSpPr>
      <p:grpSpPr>
        <a:xfrm>
          <a:off x="0" y="0"/>
          <a:ext cx="0" cy="0"/>
          <a:chOff x="0" y="0"/>
          <a:chExt cx="0" cy="0"/>
        </a:xfrm>
      </p:grpSpPr>
      <p:sp>
        <p:nvSpPr>
          <p:cNvPr id="502" name="Google Shape;502;p17">
            <a:extLst>
              <a:ext uri="{FF2B5EF4-FFF2-40B4-BE49-F238E27FC236}">
                <a16:creationId xmlns:a16="http://schemas.microsoft.com/office/drawing/2014/main" id="{D74D39A0-912A-9820-CC2E-048B9EC45C96}"/>
              </a:ext>
            </a:extLst>
          </p:cNvPr>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dirty="0">
                <a:solidFill>
                  <a:srgbClr val="17365D"/>
                </a:solidFill>
                <a:latin typeface="Times New Roman"/>
                <a:ea typeface="Times New Roman"/>
                <a:cs typeface="Times New Roman"/>
                <a:sym typeface="Times New Roman"/>
              </a:rPr>
              <a:t>Future scope</a:t>
            </a:r>
            <a:endParaRPr sz="3000" b="0" i="0" u="none" strike="noStrike" cap="none" dirty="0">
              <a:solidFill>
                <a:schemeClr val="dk1"/>
              </a:solidFill>
              <a:latin typeface="Times New Roman"/>
              <a:ea typeface="Times New Roman"/>
              <a:cs typeface="Times New Roman"/>
              <a:sym typeface="Times New Roman"/>
            </a:endParaRPr>
          </a:p>
        </p:txBody>
      </p:sp>
      <p:sp>
        <p:nvSpPr>
          <p:cNvPr id="503" name="Google Shape;503;p17">
            <a:extLst>
              <a:ext uri="{FF2B5EF4-FFF2-40B4-BE49-F238E27FC236}">
                <a16:creationId xmlns:a16="http://schemas.microsoft.com/office/drawing/2014/main" id="{FF786BC8-9971-63F9-3C60-3C4D5F293833}"/>
              </a:ext>
            </a:extLst>
          </p:cNvPr>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504" name="Google Shape;504;p17">
            <a:extLst>
              <a:ext uri="{FF2B5EF4-FFF2-40B4-BE49-F238E27FC236}">
                <a16:creationId xmlns:a16="http://schemas.microsoft.com/office/drawing/2014/main" id="{4831006F-49BC-C2B2-6821-DE0668080D47}"/>
              </a:ext>
            </a:extLst>
          </p:cNvPr>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15</a:t>
            </a:r>
            <a:endParaRPr sz="1100" b="0" i="0" u="none" strike="noStrike" cap="none">
              <a:solidFill>
                <a:schemeClr val="dk1"/>
              </a:solidFill>
              <a:latin typeface="Times New Roman"/>
              <a:ea typeface="Times New Roman"/>
              <a:cs typeface="Times New Roman"/>
              <a:sym typeface="Times New Roman"/>
            </a:endParaRPr>
          </a:p>
        </p:txBody>
      </p:sp>
      <p:sp>
        <p:nvSpPr>
          <p:cNvPr id="505" name="Google Shape;505;p17">
            <a:extLst>
              <a:ext uri="{FF2B5EF4-FFF2-40B4-BE49-F238E27FC236}">
                <a16:creationId xmlns:a16="http://schemas.microsoft.com/office/drawing/2014/main" id="{3CC06E9A-E89C-BF32-14F9-A95EBA7D8136}"/>
              </a:ext>
            </a:extLst>
          </p:cNvPr>
          <p:cNvSpPr/>
          <p:nvPr/>
        </p:nvSpPr>
        <p:spPr>
          <a:xfrm>
            <a:off x="457200" y="1188720"/>
            <a:ext cx="3566160" cy="4937760"/>
          </a:xfrm>
          <a:prstGeom prst="roundRect">
            <a:avLst>
              <a:gd name="adj" fmla="val 2051"/>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7">
            <a:extLst>
              <a:ext uri="{FF2B5EF4-FFF2-40B4-BE49-F238E27FC236}">
                <a16:creationId xmlns:a16="http://schemas.microsoft.com/office/drawing/2014/main" id="{751C3E05-2668-47ED-ECBD-94754DC0B2BE}"/>
              </a:ext>
            </a:extLst>
          </p:cNvPr>
          <p:cNvSpPr txBox="1"/>
          <p:nvPr/>
        </p:nvSpPr>
        <p:spPr>
          <a:xfrm>
            <a:off x="640080" y="128016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2200"/>
              <a:buFont typeface="Times New Roman"/>
              <a:buNone/>
            </a:pPr>
            <a:r>
              <a:rPr lang="en-US" sz="2200" b="1" i="0" u="none" strike="noStrike" cap="none">
                <a:solidFill>
                  <a:srgbClr val="17365D"/>
                </a:solidFill>
                <a:latin typeface="Times New Roman"/>
                <a:ea typeface="Times New Roman"/>
                <a:cs typeface="Times New Roman"/>
                <a:sym typeface="Times New Roman"/>
              </a:rPr>
              <a:t>Near term</a:t>
            </a:r>
            <a:endParaRPr sz="2200" b="0" i="0" u="none" strike="noStrike" cap="none">
              <a:solidFill>
                <a:schemeClr val="dk1"/>
              </a:solidFill>
              <a:latin typeface="Times New Roman"/>
              <a:ea typeface="Times New Roman"/>
              <a:cs typeface="Times New Roman"/>
              <a:sym typeface="Times New Roman"/>
            </a:endParaRPr>
          </a:p>
        </p:txBody>
      </p:sp>
      <p:sp>
        <p:nvSpPr>
          <p:cNvPr id="507" name="Google Shape;507;p17">
            <a:extLst>
              <a:ext uri="{FF2B5EF4-FFF2-40B4-BE49-F238E27FC236}">
                <a16:creationId xmlns:a16="http://schemas.microsoft.com/office/drawing/2014/main" id="{132D91A7-7863-CD99-9C0D-50803E2564C1}"/>
              </a:ext>
            </a:extLst>
          </p:cNvPr>
          <p:cNvSpPr/>
          <p:nvPr/>
        </p:nvSpPr>
        <p:spPr>
          <a:xfrm>
            <a:off x="640080" y="2286000"/>
            <a:ext cx="457200" cy="45720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Times New Roman"/>
              <a:buNone/>
            </a:pPr>
            <a:r>
              <a:rPr lang="en-US" sz="1600" b="1" i="0" u="none" strike="noStrike" cap="none">
                <a:solidFill>
                  <a:srgbClr val="FFFFFF"/>
                </a:solidFill>
                <a:latin typeface="Times New Roman"/>
                <a:ea typeface="Times New Roman"/>
                <a:cs typeface="Times New Roman"/>
                <a:sym typeface="Times New Roman"/>
              </a:rPr>
              <a:t>1</a:t>
            </a:r>
            <a:endParaRPr sz="1600" b="0" i="0" u="none" strike="noStrike" cap="none">
              <a:solidFill>
                <a:schemeClr val="dk1"/>
              </a:solidFill>
              <a:latin typeface="Times New Roman"/>
              <a:ea typeface="Times New Roman"/>
              <a:cs typeface="Times New Roman"/>
              <a:sym typeface="Times New Roman"/>
            </a:endParaRPr>
          </a:p>
        </p:txBody>
      </p:sp>
      <p:sp>
        <p:nvSpPr>
          <p:cNvPr id="508" name="Google Shape;508;p17">
            <a:extLst>
              <a:ext uri="{FF2B5EF4-FFF2-40B4-BE49-F238E27FC236}">
                <a16:creationId xmlns:a16="http://schemas.microsoft.com/office/drawing/2014/main" id="{8636FEAF-39F3-01DC-D998-6A00835A4CA4}"/>
              </a:ext>
            </a:extLst>
          </p:cNvPr>
          <p:cNvSpPr txBox="1"/>
          <p:nvPr/>
        </p:nvSpPr>
        <p:spPr>
          <a:xfrm>
            <a:off x="1234440" y="1965960"/>
            <a:ext cx="265176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Multiple LoRa gateways and coverage planning</a:t>
            </a:r>
            <a:endParaRPr sz="1600" b="0" i="0" u="none" strike="noStrike" cap="none">
              <a:solidFill>
                <a:schemeClr val="dk1"/>
              </a:solidFill>
              <a:latin typeface="Times New Roman"/>
              <a:ea typeface="Times New Roman"/>
              <a:cs typeface="Times New Roman"/>
              <a:sym typeface="Times New Roman"/>
            </a:endParaRPr>
          </a:p>
        </p:txBody>
      </p:sp>
      <p:sp>
        <p:nvSpPr>
          <p:cNvPr id="509" name="Google Shape;509;p17">
            <a:extLst>
              <a:ext uri="{FF2B5EF4-FFF2-40B4-BE49-F238E27FC236}">
                <a16:creationId xmlns:a16="http://schemas.microsoft.com/office/drawing/2014/main" id="{5B7C6EB3-94BE-2DFF-64DA-62798719FD8D}"/>
              </a:ext>
            </a:extLst>
          </p:cNvPr>
          <p:cNvSpPr/>
          <p:nvPr/>
        </p:nvSpPr>
        <p:spPr>
          <a:xfrm>
            <a:off x="640080" y="3657600"/>
            <a:ext cx="457200" cy="45720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Times New Roman"/>
              <a:buNone/>
            </a:pPr>
            <a:r>
              <a:rPr lang="en-US" sz="1600" b="1" i="0" u="none" strike="noStrike" cap="none">
                <a:solidFill>
                  <a:srgbClr val="FFFFFF"/>
                </a:solidFill>
                <a:latin typeface="Times New Roman"/>
                <a:ea typeface="Times New Roman"/>
                <a:cs typeface="Times New Roman"/>
                <a:sym typeface="Times New Roman"/>
              </a:rPr>
              <a:t>2</a:t>
            </a:r>
            <a:endParaRPr sz="1600" b="0" i="0" u="none" strike="noStrike" cap="none">
              <a:solidFill>
                <a:schemeClr val="dk1"/>
              </a:solidFill>
              <a:latin typeface="Times New Roman"/>
              <a:ea typeface="Times New Roman"/>
              <a:cs typeface="Times New Roman"/>
              <a:sym typeface="Times New Roman"/>
            </a:endParaRPr>
          </a:p>
        </p:txBody>
      </p:sp>
      <p:sp>
        <p:nvSpPr>
          <p:cNvPr id="510" name="Google Shape;510;p17">
            <a:extLst>
              <a:ext uri="{FF2B5EF4-FFF2-40B4-BE49-F238E27FC236}">
                <a16:creationId xmlns:a16="http://schemas.microsoft.com/office/drawing/2014/main" id="{567D4B84-8C4E-E6FC-A55F-123AD8A46F65}"/>
              </a:ext>
            </a:extLst>
          </p:cNvPr>
          <p:cNvSpPr txBox="1"/>
          <p:nvPr/>
        </p:nvSpPr>
        <p:spPr>
          <a:xfrm>
            <a:off x="1234440" y="3337560"/>
            <a:ext cx="265176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Secure device authentication and payload protection</a:t>
            </a:r>
            <a:endParaRPr sz="1600" b="0" i="0" u="none" strike="noStrike" cap="none">
              <a:solidFill>
                <a:schemeClr val="dk1"/>
              </a:solidFill>
              <a:latin typeface="Times New Roman"/>
              <a:ea typeface="Times New Roman"/>
              <a:cs typeface="Times New Roman"/>
              <a:sym typeface="Times New Roman"/>
            </a:endParaRPr>
          </a:p>
        </p:txBody>
      </p:sp>
      <p:sp>
        <p:nvSpPr>
          <p:cNvPr id="511" name="Google Shape;511;p17">
            <a:extLst>
              <a:ext uri="{FF2B5EF4-FFF2-40B4-BE49-F238E27FC236}">
                <a16:creationId xmlns:a16="http://schemas.microsoft.com/office/drawing/2014/main" id="{4AAADA43-FB39-AC31-3358-0D370B668B8C}"/>
              </a:ext>
            </a:extLst>
          </p:cNvPr>
          <p:cNvSpPr/>
          <p:nvPr/>
        </p:nvSpPr>
        <p:spPr>
          <a:xfrm>
            <a:off x="640080" y="5029200"/>
            <a:ext cx="457200" cy="45720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Times New Roman"/>
              <a:buNone/>
            </a:pPr>
            <a:r>
              <a:rPr lang="en-US" sz="1600" b="1" i="0" u="none" strike="noStrike" cap="none">
                <a:solidFill>
                  <a:srgbClr val="FFFFFF"/>
                </a:solidFill>
                <a:latin typeface="Times New Roman"/>
                <a:ea typeface="Times New Roman"/>
                <a:cs typeface="Times New Roman"/>
                <a:sym typeface="Times New Roman"/>
              </a:rPr>
              <a:t>3</a:t>
            </a:r>
            <a:endParaRPr sz="1600" b="0" i="0" u="none" strike="noStrike" cap="none">
              <a:solidFill>
                <a:schemeClr val="dk1"/>
              </a:solidFill>
              <a:latin typeface="Times New Roman"/>
              <a:ea typeface="Times New Roman"/>
              <a:cs typeface="Times New Roman"/>
              <a:sym typeface="Times New Roman"/>
            </a:endParaRPr>
          </a:p>
        </p:txBody>
      </p:sp>
      <p:sp>
        <p:nvSpPr>
          <p:cNvPr id="512" name="Google Shape;512;p17">
            <a:extLst>
              <a:ext uri="{FF2B5EF4-FFF2-40B4-BE49-F238E27FC236}">
                <a16:creationId xmlns:a16="http://schemas.microsoft.com/office/drawing/2014/main" id="{CC32B430-9CB7-BD7C-AE9D-349930C6E77C}"/>
              </a:ext>
            </a:extLst>
          </p:cNvPr>
          <p:cNvSpPr txBox="1"/>
          <p:nvPr/>
        </p:nvSpPr>
        <p:spPr>
          <a:xfrm>
            <a:off x="1234440" y="4709160"/>
            <a:ext cx="265176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Improved wearable sensor validation</a:t>
            </a:r>
            <a:endParaRPr sz="1600" b="0" i="0" u="none" strike="noStrike" cap="none">
              <a:solidFill>
                <a:schemeClr val="dk1"/>
              </a:solidFill>
              <a:latin typeface="Times New Roman"/>
              <a:ea typeface="Times New Roman"/>
              <a:cs typeface="Times New Roman"/>
              <a:sym typeface="Times New Roman"/>
            </a:endParaRPr>
          </a:p>
        </p:txBody>
      </p:sp>
      <p:sp>
        <p:nvSpPr>
          <p:cNvPr id="513" name="Google Shape;513;p17">
            <a:extLst>
              <a:ext uri="{FF2B5EF4-FFF2-40B4-BE49-F238E27FC236}">
                <a16:creationId xmlns:a16="http://schemas.microsoft.com/office/drawing/2014/main" id="{F34F0E35-1F97-1227-3DB8-04DB17CA75AD}"/>
              </a:ext>
            </a:extLst>
          </p:cNvPr>
          <p:cNvSpPr/>
          <p:nvPr/>
        </p:nvSpPr>
        <p:spPr>
          <a:xfrm>
            <a:off x="4311396" y="1188720"/>
            <a:ext cx="3566160" cy="4937760"/>
          </a:xfrm>
          <a:prstGeom prst="roundRect">
            <a:avLst>
              <a:gd name="adj" fmla="val 2051"/>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7">
            <a:extLst>
              <a:ext uri="{FF2B5EF4-FFF2-40B4-BE49-F238E27FC236}">
                <a16:creationId xmlns:a16="http://schemas.microsoft.com/office/drawing/2014/main" id="{E7BD41EF-C033-8DBB-34B8-14645A4AFEE1}"/>
              </a:ext>
            </a:extLst>
          </p:cNvPr>
          <p:cNvSpPr txBox="1"/>
          <p:nvPr/>
        </p:nvSpPr>
        <p:spPr>
          <a:xfrm>
            <a:off x="4494276" y="128016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8C8C"/>
              </a:buClr>
              <a:buSzPts val="2200"/>
              <a:buFont typeface="Times New Roman"/>
              <a:buNone/>
            </a:pPr>
            <a:r>
              <a:rPr lang="en-US" sz="2200" b="1" i="0" u="none" strike="noStrike" cap="none">
                <a:solidFill>
                  <a:srgbClr val="168C8C"/>
                </a:solidFill>
                <a:latin typeface="Times New Roman"/>
                <a:ea typeface="Times New Roman"/>
                <a:cs typeface="Times New Roman"/>
                <a:sym typeface="Times New Roman"/>
              </a:rPr>
              <a:t>Mid term</a:t>
            </a:r>
            <a:endParaRPr sz="2200" b="0" i="0" u="none" strike="noStrike" cap="none">
              <a:solidFill>
                <a:schemeClr val="dk1"/>
              </a:solidFill>
              <a:latin typeface="Times New Roman"/>
              <a:ea typeface="Times New Roman"/>
              <a:cs typeface="Times New Roman"/>
              <a:sym typeface="Times New Roman"/>
            </a:endParaRPr>
          </a:p>
        </p:txBody>
      </p:sp>
      <p:sp>
        <p:nvSpPr>
          <p:cNvPr id="515" name="Google Shape;515;p17">
            <a:extLst>
              <a:ext uri="{FF2B5EF4-FFF2-40B4-BE49-F238E27FC236}">
                <a16:creationId xmlns:a16="http://schemas.microsoft.com/office/drawing/2014/main" id="{2DE5BC47-C0A4-0D0B-6420-7BA3E7D02CED}"/>
              </a:ext>
            </a:extLst>
          </p:cNvPr>
          <p:cNvSpPr/>
          <p:nvPr/>
        </p:nvSpPr>
        <p:spPr>
          <a:xfrm>
            <a:off x="4494276" y="2286000"/>
            <a:ext cx="457200" cy="45720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Times New Roman"/>
              <a:buNone/>
            </a:pPr>
            <a:r>
              <a:rPr lang="en-US" sz="1600" b="1" i="0" u="none" strike="noStrike" cap="none">
                <a:solidFill>
                  <a:srgbClr val="FFFFFF"/>
                </a:solidFill>
                <a:latin typeface="Times New Roman"/>
                <a:ea typeface="Times New Roman"/>
                <a:cs typeface="Times New Roman"/>
                <a:sym typeface="Times New Roman"/>
              </a:rPr>
              <a:t>4</a:t>
            </a:r>
            <a:endParaRPr sz="1600" b="0" i="0" u="none" strike="noStrike" cap="none">
              <a:solidFill>
                <a:schemeClr val="dk1"/>
              </a:solidFill>
              <a:latin typeface="Times New Roman"/>
              <a:ea typeface="Times New Roman"/>
              <a:cs typeface="Times New Roman"/>
              <a:sym typeface="Times New Roman"/>
            </a:endParaRPr>
          </a:p>
        </p:txBody>
      </p:sp>
      <p:sp>
        <p:nvSpPr>
          <p:cNvPr id="516" name="Google Shape;516;p17">
            <a:extLst>
              <a:ext uri="{FF2B5EF4-FFF2-40B4-BE49-F238E27FC236}">
                <a16:creationId xmlns:a16="http://schemas.microsoft.com/office/drawing/2014/main" id="{C42826D1-7807-D0D0-1FB2-D31D79B6B92B}"/>
              </a:ext>
            </a:extLst>
          </p:cNvPr>
          <p:cNvSpPr txBox="1"/>
          <p:nvPr/>
        </p:nvSpPr>
        <p:spPr>
          <a:xfrm>
            <a:off x="5088636" y="1965960"/>
            <a:ext cx="265176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More reliable emergency-service integration</a:t>
            </a:r>
            <a:endParaRPr sz="1600" b="0" i="0" u="none" strike="noStrike" cap="none">
              <a:solidFill>
                <a:schemeClr val="dk1"/>
              </a:solidFill>
              <a:latin typeface="Times New Roman"/>
              <a:ea typeface="Times New Roman"/>
              <a:cs typeface="Times New Roman"/>
              <a:sym typeface="Times New Roman"/>
            </a:endParaRPr>
          </a:p>
        </p:txBody>
      </p:sp>
      <p:sp>
        <p:nvSpPr>
          <p:cNvPr id="517" name="Google Shape;517;p17">
            <a:extLst>
              <a:ext uri="{FF2B5EF4-FFF2-40B4-BE49-F238E27FC236}">
                <a16:creationId xmlns:a16="http://schemas.microsoft.com/office/drawing/2014/main" id="{3A716748-D623-C68F-2A3C-F643B45563C5}"/>
              </a:ext>
            </a:extLst>
          </p:cNvPr>
          <p:cNvSpPr/>
          <p:nvPr/>
        </p:nvSpPr>
        <p:spPr>
          <a:xfrm>
            <a:off x="4494276" y="3657600"/>
            <a:ext cx="457200" cy="45720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Times New Roman"/>
              <a:buNone/>
            </a:pPr>
            <a:r>
              <a:rPr lang="en-US" sz="1600" b="1" i="0" u="none" strike="noStrike" cap="none">
                <a:solidFill>
                  <a:srgbClr val="FFFFFF"/>
                </a:solidFill>
                <a:latin typeface="Times New Roman"/>
                <a:ea typeface="Times New Roman"/>
                <a:cs typeface="Times New Roman"/>
                <a:sym typeface="Times New Roman"/>
              </a:rPr>
              <a:t>5</a:t>
            </a:r>
            <a:endParaRPr sz="1600" b="0" i="0" u="none" strike="noStrike" cap="none">
              <a:solidFill>
                <a:schemeClr val="dk1"/>
              </a:solidFill>
              <a:latin typeface="Times New Roman"/>
              <a:ea typeface="Times New Roman"/>
              <a:cs typeface="Times New Roman"/>
              <a:sym typeface="Times New Roman"/>
            </a:endParaRPr>
          </a:p>
        </p:txBody>
      </p:sp>
      <p:sp>
        <p:nvSpPr>
          <p:cNvPr id="518" name="Google Shape;518;p17">
            <a:extLst>
              <a:ext uri="{FF2B5EF4-FFF2-40B4-BE49-F238E27FC236}">
                <a16:creationId xmlns:a16="http://schemas.microsoft.com/office/drawing/2014/main" id="{B86166D7-9843-999D-D452-73D8B28B8EA5}"/>
              </a:ext>
            </a:extLst>
          </p:cNvPr>
          <p:cNvSpPr txBox="1"/>
          <p:nvPr/>
        </p:nvSpPr>
        <p:spPr>
          <a:xfrm>
            <a:off x="5088636" y="3337560"/>
            <a:ext cx="265176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Mobile application and unified dashboard</a:t>
            </a:r>
            <a:endParaRPr sz="1600" b="0" i="0" u="none" strike="noStrike" cap="none">
              <a:solidFill>
                <a:schemeClr val="dk1"/>
              </a:solidFill>
              <a:latin typeface="Times New Roman"/>
              <a:ea typeface="Times New Roman"/>
              <a:cs typeface="Times New Roman"/>
              <a:sym typeface="Times New Roman"/>
            </a:endParaRPr>
          </a:p>
        </p:txBody>
      </p:sp>
      <p:sp>
        <p:nvSpPr>
          <p:cNvPr id="519" name="Google Shape;519;p17">
            <a:extLst>
              <a:ext uri="{FF2B5EF4-FFF2-40B4-BE49-F238E27FC236}">
                <a16:creationId xmlns:a16="http://schemas.microsoft.com/office/drawing/2014/main" id="{18025F8E-8436-600D-75A8-BBA3EC169FD3}"/>
              </a:ext>
            </a:extLst>
          </p:cNvPr>
          <p:cNvSpPr/>
          <p:nvPr/>
        </p:nvSpPr>
        <p:spPr>
          <a:xfrm>
            <a:off x="4494276" y="5029200"/>
            <a:ext cx="457200" cy="45720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Times New Roman"/>
              <a:buNone/>
            </a:pPr>
            <a:r>
              <a:rPr lang="en-US" sz="1600" b="1" i="0" u="none" strike="noStrike" cap="none">
                <a:solidFill>
                  <a:srgbClr val="FFFFFF"/>
                </a:solidFill>
                <a:latin typeface="Times New Roman"/>
                <a:ea typeface="Times New Roman"/>
                <a:cs typeface="Times New Roman"/>
                <a:sym typeface="Times New Roman"/>
              </a:rPr>
              <a:t>6</a:t>
            </a:r>
            <a:endParaRPr sz="1600" b="0" i="0" u="none" strike="noStrike" cap="none">
              <a:solidFill>
                <a:schemeClr val="dk1"/>
              </a:solidFill>
              <a:latin typeface="Times New Roman"/>
              <a:ea typeface="Times New Roman"/>
              <a:cs typeface="Times New Roman"/>
              <a:sym typeface="Times New Roman"/>
            </a:endParaRPr>
          </a:p>
        </p:txBody>
      </p:sp>
      <p:sp>
        <p:nvSpPr>
          <p:cNvPr id="520" name="Google Shape;520;p17">
            <a:extLst>
              <a:ext uri="{FF2B5EF4-FFF2-40B4-BE49-F238E27FC236}">
                <a16:creationId xmlns:a16="http://schemas.microsoft.com/office/drawing/2014/main" id="{84BAAB45-ED0C-EFC4-FE69-83D9FB406A8E}"/>
              </a:ext>
            </a:extLst>
          </p:cNvPr>
          <p:cNvSpPr txBox="1"/>
          <p:nvPr/>
        </p:nvSpPr>
        <p:spPr>
          <a:xfrm>
            <a:off x="5088636" y="4709160"/>
            <a:ext cx="265176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Privacy-preserving event storage and access auditing</a:t>
            </a:r>
            <a:endParaRPr sz="1600" b="0" i="0" u="none" strike="noStrike" cap="none">
              <a:solidFill>
                <a:schemeClr val="dk1"/>
              </a:solidFill>
              <a:latin typeface="Times New Roman"/>
              <a:ea typeface="Times New Roman"/>
              <a:cs typeface="Times New Roman"/>
              <a:sym typeface="Times New Roman"/>
            </a:endParaRPr>
          </a:p>
        </p:txBody>
      </p:sp>
      <p:sp>
        <p:nvSpPr>
          <p:cNvPr id="521" name="Google Shape;521;p17">
            <a:extLst>
              <a:ext uri="{FF2B5EF4-FFF2-40B4-BE49-F238E27FC236}">
                <a16:creationId xmlns:a16="http://schemas.microsoft.com/office/drawing/2014/main" id="{BF91BE68-A0CB-CB7C-CF4E-D88EF88D8542}"/>
              </a:ext>
            </a:extLst>
          </p:cNvPr>
          <p:cNvSpPr/>
          <p:nvPr/>
        </p:nvSpPr>
        <p:spPr>
          <a:xfrm>
            <a:off x="8165592" y="1188720"/>
            <a:ext cx="3566160" cy="4937760"/>
          </a:xfrm>
          <a:prstGeom prst="roundRect">
            <a:avLst>
              <a:gd name="adj" fmla="val 2051"/>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7">
            <a:extLst>
              <a:ext uri="{FF2B5EF4-FFF2-40B4-BE49-F238E27FC236}">
                <a16:creationId xmlns:a16="http://schemas.microsoft.com/office/drawing/2014/main" id="{370120D4-BEE6-0965-6911-A6CE935C5063}"/>
              </a:ext>
            </a:extLst>
          </p:cNvPr>
          <p:cNvSpPr txBox="1"/>
          <p:nvPr/>
        </p:nvSpPr>
        <p:spPr>
          <a:xfrm>
            <a:off x="8348472" y="128016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2200"/>
              <a:buFont typeface="Times New Roman"/>
              <a:buNone/>
            </a:pPr>
            <a:r>
              <a:rPr lang="en-US" sz="2200" b="1" i="0" u="none" strike="noStrike" cap="none">
                <a:solidFill>
                  <a:srgbClr val="3F4650"/>
                </a:solidFill>
                <a:latin typeface="Times New Roman"/>
                <a:ea typeface="Times New Roman"/>
                <a:cs typeface="Times New Roman"/>
                <a:sym typeface="Times New Roman"/>
              </a:rPr>
              <a:t>Longer term</a:t>
            </a:r>
            <a:endParaRPr sz="2200" b="0" i="0" u="none" strike="noStrike" cap="none">
              <a:solidFill>
                <a:schemeClr val="dk1"/>
              </a:solidFill>
              <a:latin typeface="Times New Roman"/>
              <a:ea typeface="Times New Roman"/>
              <a:cs typeface="Times New Roman"/>
              <a:sym typeface="Times New Roman"/>
            </a:endParaRPr>
          </a:p>
        </p:txBody>
      </p:sp>
      <p:sp>
        <p:nvSpPr>
          <p:cNvPr id="523" name="Google Shape;523;p17">
            <a:extLst>
              <a:ext uri="{FF2B5EF4-FFF2-40B4-BE49-F238E27FC236}">
                <a16:creationId xmlns:a16="http://schemas.microsoft.com/office/drawing/2014/main" id="{7DDE1057-4632-4BE0-48CF-B71571953167}"/>
              </a:ext>
            </a:extLst>
          </p:cNvPr>
          <p:cNvSpPr/>
          <p:nvPr/>
        </p:nvSpPr>
        <p:spPr>
          <a:xfrm>
            <a:off x="8348472" y="2286000"/>
            <a:ext cx="457200" cy="457200"/>
          </a:xfrm>
          <a:prstGeom prst="ellipse">
            <a:avLst/>
          </a:prstGeom>
          <a:solidFill>
            <a:srgbClr val="3F4650"/>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Times New Roman"/>
              <a:buNone/>
            </a:pPr>
            <a:r>
              <a:rPr lang="en-US" sz="1600" b="1" i="0" u="none" strike="noStrike" cap="none">
                <a:solidFill>
                  <a:srgbClr val="FFFFFF"/>
                </a:solidFill>
                <a:latin typeface="Times New Roman"/>
                <a:ea typeface="Times New Roman"/>
                <a:cs typeface="Times New Roman"/>
                <a:sym typeface="Times New Roman"/>
              </a:rPr>
              <a:t>7</a:t>
            </a:r>
            <a:endParaRPr sz="1600" b="0" i="0" u="none" strike="noStrike" cap="none">
              <a:solidFill>
                <a:schemeClr val="dk1"/>
              </a:solidFill>
              <a:latin typeface="Times New Roman"/>
              <a:ea typeface="Times New Roman"/>
              <a:cs typeface="Times New Roman"/>
              <a:sym typeface="Times New Roman"/>
            </a:endParaRPr>
          </a:p>
        </p:txBody>
      </p:sp>
      <p:sp>
        <p:nvSpPr>
          <p:cNvPr id="524" name="Google Shape;524;p17">
            <a:extLst>
              <a:ext uri="{FF2B5EF4-FFF2-40B4-BE49-F238E27FC236}">
                <a16:creationId xmlns:a16="http://schemas.microsoft.com/office/drawing/2014/main" id="{5AAA5BEF-630D-D260-8F9E-C6E353B91BE4}"/>
              </a:ext>
            </a:extLst>
          </p:cNvPr>
          <p:cNvSpPr txBox="1"/>
          <p:nvPr/>
        </p:nvSpPr>
        <p:spPr>
          <a:xfrm>
            <a:off x="8942832" y="1965960"/>
            <a:ext cx="265176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Expanded field trials and performance evaluation</a:t>
            </a:r>
            <a:endParaRPr sz="1600" b="0" i="0" u="none" strike="noStrike" cap="none">
              <a:solidFill>
                <a:schemeClr val="dk1"/>
              </a:solidFill>
              <a:latin typeface="Times New Roman"/>
              <a:ea typeface="Times New Roman"/>
              <a:cs typeface="Times New Roman"/>
              <a:sym typeface="Times New Roman"/>
            </a:endParaRPr>
          </a:p>
        </p:txBody>
      </p:sp>
      <p:sp>
        <p:nvSpPr>
          <p:cNvPr id="525" name="Google Shape;525;p17">
            <a:extLst>
              <a:ext uri="{FF2B5EF4-FFF2-40B4-BE49-F238E27FC236}">
                <a16:creationId xmlns:a16="http://schemas.microsoft.com/office/drawing/2014/main" id="{2FF15CFD-6DE3-2613-8DF0-E79D5C36DDE4}"/>
              </a:ext>
            </a:extLst>
          </p:cNvPr>
          <p:cNvSpPr/>
          <p:nvPr/>
        </p:nvSpPr>
        <p:spPr>
          <a:xfrm>
            <a:off x="8348472" y="3657600"/>
            <a:ext cx="457200" cy="457200"/>
          </a:xfrm>
          <a:prstGeom prst="ellipse">
            <a:avLst/>
          </a:prstGeom>
          <a:solidFill>
            <a:srgbClr val="3F4650"/>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Times New Roman"/>
              <a:buNone/>
            </a:pPr>
            <a:r>
              <a:rPr lang="en-US" sz="1600" b="1" i="0" u="none" strike="noStrike" cap="none">
                <a:solidFill>
                  <a:srgbClr val="FFFFFF"/>
                </a:solidFill>
                <a:latin typeface="Times New Roman"/>
                <a:ea typeface="Times New Roman"/>
                <a:cs typeface="Times New Roman"/>
                <a:sym typeface="Times New Roman"/>
              </a:rPr>
              <a:t>8</a:t>
            </a:r>
            <a:endParaRPr sz="1600" b="0" i="0" u="none" strike="noStrike" cap="none">
              <a:solidFill>
                <a:schemeClr val="dk1"/>
              </a:solidFill>
              <a:latin typeface="Times New Roman"/>
              <a:ea typeface="Times New Roman"/>
              <a:cs typeface="Times New Roman"/>
              <a:sym typeface="Times New Roman"/>
            </a:endParaRPr>
          </a:p>
        </p:txBody>
      </p:sp>
      <p:sp>
        <p:nvSpPr>
          <p:cNvPr id="526" name="Google Shape;526;p17">
            <a:extLst>
              <a:ext uri="{FF2B5EF4-FFF2-40B4-BE49-F238E27FC236}">
                <a16:creationId xmlns:a16="http://schemas.microsoft.com/office/drawing/2014/main" id="{AFBAFC74-7426-1FFD-6C88-18547F45AD37}"/>
              </a:ext>
            </a:extLst>
          </p:cNvPr>
          <p:cNvSpPr txBox="1"/>
          <p:nvPr/>
        </p:nvSpPr>
        <p:spPr>
          <a:xfrm>
            <a:off x="8942832" y="3337560"/>
            <a:ext cx="265176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00"/>
              <a:buFont typeface="Times New Roman"/>
              <a:buNone/>
            </a:pPr>
            <a:r>
              <a:rPr lang="en-US" sz="1600" b="0" i="0" u="none" strike="noStrike" cap="none">
                <a:solidFill>
                  <a:srgbClr val="3F4650"/>
                </a:solidFill>
                <a:latin typeface="Times New Roman"/>
                <a:ea typeface="Times New Roman"/>
                <a:cs typeface="Times New Roman"/>
                <a:sym typeface="Times New Roman"/>
              </a:rPr>
              <a:t>Additional substance-specific screening, only if independently validated</a:t>
            </a:r>
            <a:endParaRPr sz="16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82346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1"/>
        <p:cNvGrpSpPr/>
        <p:nvPr/>
      </p:nvGrpSpPr>
      <p:grpSpPr>
        <a:xfrm>
          <a:off x="0" y="0"/>
          <a:ext cx="0" cy="0"/>
          <a:chOff x="0" y="0"/>
          <a:chExt cx="0" cy="0"/>
        </a:xfrm>
      </p:grpSpPr>
      <p:sp>
        <p:nvSpPr>
          <p:cNvPr id="532" name="Google Shape;532;p18"/>
          <p:cNvSpPr txBox="1"/>
          <p:nvPr/>
        </p:nvSpPr>
        <p:spPr>
          <a:xfrm>
            <a:off x="457200" y="256032"/>
            <a:ext cx="112745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7365D"/>
              </a:buClr>
              <a:buSzPts val="3000"/>
              <a:buFont typeface="Times New Roman"/>
              <a:buNone/>
            </a:pPr>
            <a:r>
              <a:rPr lang="en-US" sz="3000" b="1" i="0" u="none" strike="noStrike" cap="none">
                <a:solidFill>
                  <a:srgbClr val="17365D"/>
                </a:solidFill>
                <a:latin typeface="Times New Roman"/>
                <a:ea typeface="Times New Roman"/>
                <a:cs typeface="Times New Roman"/>
                <a:sym typeface="Times New Roman"/>
              </a:rPr>
              <a:t>Conclusion</a:t>
            </a:r>
            <a:endParaRPr sz="3000" b="0" i="0" u="none" strike="noStrike" cap="none">
              <a:solidFill>
                <a:schemeClr val="dk1"/>
              </a:solidFill>
              <a:latin typeface="Times New Roman"/>
              <a:ea typeface="Times New Roman"/>
              <a:cs typeface="Times New Roman"/>
              <a:sym typeface="Times New Roman"/>
            </a:endParaRPr>
          </a:p>
        </p:txBody>
      </p:sp>
      <p:sp>
        <p:nvSpPr>
          <p:cNvPr id="533" name="Google Shape;533;p18"/>
          <p:cNvSpPr txBox="1"/>
          <p:nvPr/>
        </p:nvSpPr>
        <p:spPr>
          <a:xfrm>
            <a:off x="457200" y="6492240"/>
            <a:ext cx="9601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B636E"/>
              </a:buClr>
              <a:buSzPts val="1000"/>
              <a:buFont typeface="Times New Roman"/>
              <a:buNone/>
            </a:pPr>
            <a:r>
              <a:rPr lang="en-US" sz="1000" b="0" i="0" u="none" strike="noStrike" cap="none">
                <a:solidFill>
                  <a:srgbClr val="5B636E"/>
                </a:solidFill>
                <a:latin typeface="Times New Roman"/>
                <a:ea typeface="Times New Roman"/>
                <a:cs typeface="Times New Roman"/>
                <a:sym typeface="Times New Roman"/>
              </a:rPr>
              <a:t>Smart Safety Ecosystem: LoRa-Based Accident Alert and Portable Wearable Risk Screening</a:t>
            </a:r>
            <a:endParaRPr sz="1000" b="0" i="0" u="none" strike="noStrike" cap="none">
              <a:solidFill>
                <a:schemeClr val="dk1"/>
              </a:solidFill>
              <a:latin typeface="Times New Roman"/>
              <a:ea typeface="Times New Roman"/>
              <a:cs typeface="Times New Roman"/>
              <a:sym typeface="Times New Roman"/>
            </a:endParaRPr>
          </a:p>
        </p:txBody>
      </p:sp>
      <p:sp>
        <p:nvSpPr>
          <p:cNvPr id="534" name="Google Shape;534;p18"/>
          <p:cNvSpPr txBox="1"/>
          <p:nvPr/>
        </p:nvSpPr>
        <p:spPr>
          <a:xfrm>
            <a:off x="10972800" y="6492240"/>
            <a:ext cx="758952"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B636E"/>
              </a:buClr>
              <a:buSzPts val="1100"/>
              <a:buFont typeface="Times New Roman"/>
              <a:buNone/>
            </a:pPr>
            <a:r>
              <a:rPr lang="en-US" sz="1100" b="0" i="0" u="none" strike="noStrike" cap="none">
                <a:solidFill>
                  <a:srgbClr val="5B636E"/>
                </a:solidFill>
                <a:latin typeface="Times New Roman"/>
                <a:ea typeface="Times New Roman"/>
                <a:cs typeface="Times New Roman"/>
                <a:sym typeface="Times New Roman"/>
              </a:rPr>
              <a:t>16</a:t>
            </a:r>
            <a:endParaRPr sz="1100" b="0" i="0" u="none" strike="noStrike" cap="none">
              <a:solidFill>
                <a:schemeClr val="dk1"/>
              </a:solidFill>
              <a:latin typeface="Times New Roman"/>
              <a:ea typeface="Times New Roman"/>
              <a:cs typeface="Times New Roman"/>
              <a:sym typeface="Times New Roman"/>
            </a:endParaRPr>
          </a:p>
        </p:txBody>
      </p:sp>
      <p:sp>
        <p:nvSpPr>
          <p:cNvPr id="535" name="Google Shape;535;p18"/>
          <p:cNvSpPr/>
          <p:nvPr/>
        </p:nvSpPr>
        <p:spPr>
          <a:xfrm>
            <a:off x="457200" y="1371600"/>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1</a:t>
            </a:r>
            <a:endParaRPr sz="1700" b="0" i="0" u="none" strike="noStrike" cap="none">
              <a:solidFill>
                <a:schemeClr val="dk1"/>
              </a:solidFill>
              <a:latin typeface="Times New Roman"/>
              <a:ea typeface="Times New Roman"/>
              <a:cs typeface="Times New Roman"/>
              <a:sym typeface="Times New Roman"/>
            </a:endParaRPr>
          </a:p>
        </p:txBody>
      </p:sp>
      <p:sp>
        <p:nvSpPr>
          <p:cNvPr id="536" name="Google Shape;536;p18"/>
          <p:cNvSpPr txBox="1"/>
          <p:nvPr/>
        </p:nvSpPr>
        <p:spPr>
          <a:xfrm>
            <a:off x="1188720" y="1188720"/>
            <a:ext cx="603504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50"/>
              <a:buFont typeface="Times New Roman"/>
              <a:buNone/>
            </a:pPr>
            <a:r>
              <a:rPr lang="en-US" sz="1650" b="0" i="0" u="none" strike="noStrike" cap="none">
                <a:solidFill>
                  <a:srgbClr val="3F4650"/>
                </a:solidFill>
                <a:latin typeface="Times New Roman"/>
                <a:ea typeface="Times New Roman"/>
                <a:cs typeface="Times New Roman"/>
                <a:sym typeface="Times New Roman"/>
              </a:rPr>
              <a:t>Two complementary safety functions in one modular approach: location-based accident alerting and portable preliminary screening</a:t>
            </a:r>
            <a:endParaRPr sz="1650" b="0" i="0" u="none" strike="noStrike" cap="none">
              <a:solidFill>
                <a:schemeClr val="dk1"/>
              </a:solidFill>
              <a:latin typeface="Times New Roman"/>
              <a:ea typeface="Times New Roman"/>
              <a:cs typeface="Times New Roman"/>
              <a:sym typeface="Times New Roman"/>
            </a:endParaRPr>
          </a:p>
        </p:txBody>
      </p:sp>
      <p:sp>
        <p:nvSpPr>
          <p:cNvPr id="537" name="Google Shape;537;p18"/>
          <p:cNvSpPr/>
          <p:nvPr/>
        </p:nvSpPr>
        <p:spPr>
          <a:xfrm>
            <a:off x="457200" y="2651760"/>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2</a:t>
            </a:r>
            <a:endParaRPr sz="1700" b="0" i="0" u="none" strike="noStrike" cap="none">
              <a:solidFill>
                <a:schemeClr val="dk1"/>
              </a:solidFill>
              <a:latin typeface="Times New Roman"/>
              <a:ea typeface="Times New Roman"/>
              <a:cs typeface="Times New Roman"/>
              <a:sym typeface="Times New Roman"/>
            </a:endParaRPr>
          </a:p>
        </p:txBody>
      </p:sp>
      <p:sp>
        <p:nvSpPr>
          <p:cNvPr id="538" name="Google Shape;538;p18"/>
          <p:cNvSpPr txBox="1"/>
          <p:nvPr/>
        </p:nvSpPr>
        <p:spPr>
          <a:xfrm>
            <a:off x="1188720" y="2468880"/>
            <a:ext cx="603504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50"/>
              <a:buFont typeface="Times New Roman"/>
              <a:buNone/>
            </a:pPr>
            <a:r>
              <a:rPr lang="en-US" sz="1650" b="0" i="0" u="none" strike="noStrike" cap="none" dirty="0">
                <a:solidFill>
                  <a:srgbClr val="3F4650"/>
                </a:solidFill>
                <a:latin typeface="Times New Roman"/>
                <a:ea typeface="Times New Roman"/>
                <a:cs typeface="Times New Roman"/>
                <a:sym typeface="Times New Roman"/>
              </a:rPr>
              <a:t>Gateway and backend enable emergency routing; LoRa alone does not contact a hospital</a:t>
            </a:r>
            <a:endParaRPr sz="1650" b="0" i="0" u="none" strike="noStrike" cap="none" dirty="0">
              <a:solidFill>
                <a:schemeClr val="dk1"/>
              </a:solidFill>
              <a:latin typeface="Times New Roman"/>
              <a:ea typeface="Times New Roman"/>
              <a:cs typeface="Times New Roman"/>
              <a:sym typeface="Times New Roman"/>
            </a:endParaRPr>
          </a:p>
        </p:txBody>
      </p:sp>
      <p:sp>
        <p:nvSpPr>
          <p:cNvPr id="539" name="Google Shape;539;p18"/>
          <p:cNvSpPr/>
          <p:nvPr/>
        </p:nvSpPr>
        <p:spPr>
          <a:xfrm>
            <a:off x="457200" y="3931920"/>
            <a:ext cx="502920" cy="502920"/>
          </a:xfrm>
          <a:prstGeom prst="ellipse">
            <a:avLst/>
          </a:prstGeom>
          <a:solidFill>
            <a:srgbClr val="17365D"/>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3</a:t>
            </a:r>
            <a:endParaRPr sz="1700" b="0" i="0" u="none" strike="noStrike" cap="none">
              <a:solidFill>
                <a:schemeClr val="dk1"/>
              </a:solidFill>
              <a:latin typeface="Times New Roman"/>
              <a:ea typeface="Times New Roman"/>
              <a:cs typeface="Times New Roman"/>
              <a:sym typeface="Times New Roman"/>
            </a:endParaRPr>
          </a:p>
        </p:txBody>
      </p:sp>
      <p:sp>
        <p:nvSpPr>
          <p:cNvPr id="540" name="Google Shape;540;p18"/>
          <p:cNvSpPr txBox="1"/>
          <p:nvPr/>
        </p:nvSpPr>
        <p:spPr>
          <a:xfrm>
            <a:off x="1188720" y="3749040"/>
            <a:ext cx="603504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50"/>
              <a:buFont typeface="Times New Roman"/>
              <a:buNone/>
            </a:pPr>
            <a:r>
              <a:rPr lang="en-US" sz="1650" b="0" i="0" u="none" strike="noStrike" cap="none">
                <a:solidFill>
                  <a:srgbClr val="3F4650"/>
                </a:solidFill>
                <a:latin typeface="Times New Roman"/>
                <a:ea typeface="Times New Roman"/>
                <a:cs typeface="Times New Roman"/>
                <a:sym typeface="Times New Roman"/>
              </a:rPr>
              <a:t>The wristband classifies locally with the rule-based AWTRA, separately from the vehicle module</a:t>
            </a:r>
            <a:endParaRPr sz="1650" b="0" i="0" u="none" strike="noStrike" cap="none">
              <a:solidFill>
                <a:schemeClr val="dk1"/>
              </a:solidFill>
              <a:latin typeface="Times New Roman"/>
              <a:ea typeface="Times New Roman"/>
              <a:cs typeface="Times New Roman"/>
              <a:sym typeface="Times New Roman"/>
            </a:endParaRPr>
          </a:p>
        </p:txBody>
      </p:sp>
      <p:sp>
        <p:nvSpPr>
          <p:cNvPr id="541" name="Google Shape;541;p18"/>
          <p:cNvSpPr/>
          <p:nvPr/>
        </p:nvSpPr>
        <p:spPr>
          <a:xfrm>
            <a:off x="457200" y="5212080"/>
            <a:ext cx="502920" cy="502920"/>
          </a:xfrm>
          <a:prstGeom prst="ellipse">
            <a:avLst/>
          </a:prstGeom>
          <a:solidFill>
            <a:srgbClr val="168C8C"/>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Times New Roman"/>
              <a:buNone/>
            </a:pPr>
            <a:r>
              <a:rPr lang="en-US" sz="1700" b="1" i="0" u="none" strike="noStrike" cap="none">
                <a:solidFill>
                  <a:srgbClr val="FFFFFF"/>
                </a:solidFill>
                <a:latin typeface="Times New Roman"/>
                <a:ea typeface="Times New Roman"/>
                <a:cs typeface="Times New Roman"/>
                <a:sym typeface="Times New Roman"/>
              </a:rPr>
              <a:t>4</a:t>
            </a:r>
            <a:endParaRPr sz="1700" b="0" i="0" u="none" strike="noStrike" cap="none">
              <a:solidFill>
                <a:schemeClr val="dk1"/>
              </a:solidFill>
              <a:latin typeface="Times New Roman"/>
              <a:ea typeface="Times New Roman"/>
              <a:cs typeface="Times New Roman"/>
              <a:sym typeface="Times New Roman"/>
            </a:endParaRPr>
          </a:p>
        </p:txBody>
      </p:sp>
      <p:sp>
        <p:nvSpPr>
          <p:cNvPr id="542" name="Google Shape;542;p18"/>
          <p:cNvSpPr txBox="1"/>
          <p:nvPr/>
        </p:nvSpPr>
        <p:spPr>
          <a:xfrm>
            <a:off x="1188720" y="5029200"/>
            <a:ext cx="603504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4650"/>
              </a:buClr>
              <a:buSzPts val="1650"/>
              <a:buFont typeface="Times New Roman"/>
              <a:buNone/>
            </a:pPr>
            <a:r>
              <a:rPr lang="en-US" sz="1650" b="0" i="0" u="none" strike="noStrike" cap="none">
                <a:solidFill>
                  <a:srgbClr val="3F4650"/>
                </a:solidFill>
                <a:latin typeface="Times New Roman"/>
                <a:ea typeface="Times New Roman"/>
                <a:cs typeface="Times New Roman"/>
                <a:sym typeface="Times New Roman"/>
              </a:rPr>
              <a:t>Deployment depends on validation, reliable communication, appropriate screening technology, security, and regulatory compliance</a:t>
            </a:r>
            <a:endParaRPr sz="1650" b="0" i="0" u="none" strike="noStrike" cap="none">
              <a:solidFill>
                <a:schemeClr val="dk1"/>
              </a:solidFill>
              <a:latin typeface="Times New Roman"/>
              <a:ea typeface="Times New Roman"/>
              <a:cs typeface="Times New Roman"/>
              <a:sym typeface="Times New Roman"/>
            </a:endParaRPr>
          </a:p>
        </p:txBody>
      </p:sp>
      <p:sp>
        <p:nvSpPr>
          <p:cNvPr id="543" name="Google Shape;543;p18"/>
          <p:cNvSpPr/>
          <p:nvPr/>
        </p:nvSpPr>
        <p:spPr>
          <a:xfrm>
            <a:off x="7589520" y="1188720"/>
            <a:ext cx="4142232" cy="4937760"/>
          </a:xfrm>
          <a:prstGeom prst="roundRect">
            <a:avLst>
              <a:gd name="adj" fmla="val 1766"/>
            </a:avLst>
          </a:prstGeom>
          <a:solidFill>
            <a:srgbClr val="F1F5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8"/>
          <p:cNvSpPr txBox="1"/>
          <p:nvPr/>
        </p:nvSpPr>
        <p:spPr>
          <a:xfrm>
            <a:off x="7772400" y="2492714"/>
            <a:ext cx="3776472"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7365D"/>
              </a:buClr>
              <a:buSzPts val="4400"/>
              <a:buFont typeface="Times New Roman"/>
              <a:buNone/>
            </a:pPr>
            <a:r>
              <a:rPr lang="en-US" sz="4400" b="1" i="0" u="none" strike="noStrike" cap="none" dirty="0">
                <a:solidFill>
                  <a:srgbClr val="17365D"/>
                </a:solidFill>
                <a:latin typeface="Times New Roman"/>
                <a:ea typeface="Times New Roman"/>
                <a:cs typeface="Times New Roman"/>
                <a:sym typeface="Times New Roman"/>
              </a:rPr>
              <a:t>Thank You</a:t>
            </a:r>
            <a:endParaRPr sz="4400" b="0" i="0" u="none" strike="noStrike" cap="none" dirty="0">
              <a:solidFill>
                <a:schemeClr val="dk1"/>
              </a:solidFill>
              <a:latin typeface="Times New Roman"/>
              <a:ea typeface="Times New Roman"/>
              <a:cs typeface="Times New Roman"/>
              <a:sym typeface="Times New Roman"/>
            </a:endParaRPr>
          </a:p>
        </p:txBody>
      </p:sp>
      <p:sp>
        <p:nvSpPr>
          <p:cNvPr id="545" name="Google Shape;545;p18"/>
          <p:cNvSpPr txBox="1"/>
          <p:nvPr/>
        </p:nvSpPr>
        <p:spPr>
          <a:xfrm>
            <a:off x="7772400" y="3703320"/>
            <a:ext cx="3776472"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8C8C"/>
              </a:buClr>
              <a:buSzPts val="2000"/>
              <a:buFont typeface="Times New Roman"/>
              <a:buNone/>
            </a:pPr>
            <a:r>
              <a:rPr lang="en-US" sz="2000" b="0" i="1" u="none" strike="noStrike" cap="none" dirty="0">
                <a:solidFill>
                  <a:srgbClr val="168C8C"/>
                </a:solidFill>
                <a:latin typeface="Times New Roman"/>
                <a:ea typeface="Times New Roman"/>
                <a:cs typeface="Times New Roman"/>
                <a:sym typeface="Times New Roman"/>
              </a:rPr>
              <a:t>Questions and discussion are welcome</a:t>
            </a:r>
            <a:endParaRPr sz="20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5139</Words>
  <Application>Microsoft Office PowerPoint</Application>
  <PresentationFormat>Widescreen</PresentationFormat>
  <Paragraphs>547</Paragraphs>
  <Slides>19</Slides>
  <Notes>19</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DSEPY04519</cp:lastModifiedBy>
  <cp:revision>3</cp:revision>
  <dcterms:modified xsi:type="dcterms:W3CDTF">2026-10-09T09:15:06Z</dcterms:modified>
</cp:coreProperties>
</file>